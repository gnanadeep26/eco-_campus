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2FCBDB7-DB81-75DA-8F77-2699A5E1811C}">
          <p14:sldIdLst>
            <p14:sldId id="256"/>
          </p14:sldIdLst>
        </p14:section>
        <p14:section name="Problem" id="{831000CF-DDF3-548B-B890-A37F697B9201}">
          <p14:sldIdLst>
            <p14:sldId id="257"/>
            <p14:sldId id="258"/>
          </p14:sldIdLst>
        </p14:section>
        <p14:section name="Solution" id="{F7E39BF5-AE31-2075-FC98-A91BE2B32049}">
          <p14:sldIdLst>
            <p14:sldId id="259"/>
            <p14:sldId id="260"/>
            <p14:sldId id="261"/>
          </p14:sldIdLst>
        </p14:section>
        <p14:section name="Build &amp; Demo" id="{847CBB51-3813-A438-4628-378DB6851529}">
          <p14:sldIdLst>
            <p14:sldId id="262"/>
            <p14:sldId id="263"/>
          </p14:sldIdLst>
        </p14:section>
        <p14:section name="Close" id="{D8E12A48-6C82-BBC2-986E-0D456A5CD214}">
          <p14:sldIdLst>
            <p14:sldId id="264"/>
          </p14:sldIdLst>
        </p14:section>
        <p14:section name="Appendix" id="{A27302D3-DB3E-CA6E-658B-3EFBE9A7F21E}">
          <p14:sldIdLst>
            <p14:sldId id="266"/>
            <p14:sldId id="267"/>
            <p14:sldId id="268"/>
            <p14:sldId id="269"/>
            <p14:sldId id="270"/>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46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673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we're Team Luna, and this is EcoCampus AI: smart insights today, a zero-emission campus tomorrow. In the next few minutes we'll show how a university can stop wasting energy before the waste even happens. We'll cover the problem, why today's tools fall short, our AI-driven solution, how it works under the hood, and the impact it can have. Think of EcoCampus AI as a smarter nervous system for the entire campus.
[Visual cue: leaf at the center of a glowing ring, surrounded by energy, waste and mobile icons.]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A campus is a mini-city: heating, ventilation, air conditioning and lighting run around the clock, whether classrooms are full or empty. According to the U.S. EPA, commercial and institutional buildings, universities included, waste about thirty percent of the energy they consume. That's three out of every ten units, gone. And it affects administrators, facility managers and students alike, because nobody has automated, real-time data to see and stop this waste as it happens.
[Visual cue: giant 30% stat with a 10-square strip where three squares are highlighted.]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exists today? Static building management systems run on fixed schedules, so they can't tell when a room is actually empty. Manual monitoring, with staff checking rooms and bins by hand, is slow and reactive. And energy, waste and student engagement usually live in separate tools, so nobody gets one predictive view of the campus. The common thread is that waste gets discovered after it has already happened. That is exactly the gap EcoCampus AI is built to close.
[Visual cue: three gap cards with icons (calendar, clipboard, puzzle piece) and amber 'Gap' tags.]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an AI-driven IoT platform that retrofits the infrastructure a university already has, so there's no rebuild. It takes in three things: real-time student foot traffic, class schedules, and environmental data. Our predictive engine blends them to automate energy use across the campus, to flag maintenance problems before they become failures, and to optimize waste collection. Instead of reacting to waste, EcoCampus AI prevents it.
[Visual cue: inputs on the left, AI brain in the center, outputs on the right.]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features carry the product. First, Predictive HVAC and Lighting: it adjusts room temperature and dimming automatically, using live calendar schedules and camera-based crowd density. Second, the Smart Waste Router: computer vision on trash cans alerts janitorial staff only when a bin is eighty percent full, so collection routes get shorter. Third, the Sustainability Gamification Dashboard: a public mobile app that tracks dorm-by-dorm energy savings and rewards the lowest-consumption halls.
[Visual cue: three cards, each with a blue icon circle (bolt, trash can, phone) and an audience tag.]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flows. One: cameras and sensors in each room, with TensorFlow Lite counting occupancy right at the edge. Two: AWS IoT Core streams that telemetry securely to the cloud. Three: our FastAPI prediction models blend live sensor data with university timetables to forecast what each room will need. Four: the platform acts, adjusting HVAC and lighting and sending bin alerts. Five: results flow into the mobile dashboard, so students see their dorm's savings.
[Visual cue: five-step left-to-right flow with a timetable feed dropping into the Predict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is built from proven, scalable pieces. Python with FastAPI powers the backend and machine learning services. React Native gives us one codebase for the student mobile app. PostgreSQL stores sensor readings, schedules and usage history. AWS IoT Core connects devices securely at campus scale. And TensorFlow Lite runs occupancy detection directly on edge devices, which cuts bandwidth and limits how much raw camera data has to leave the room.
[Visual cue: five technology tiles with logos or icons in a row.]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look at the experience. On the left, the facility director's live view: each room's occupancy, with the system switching cooling off in an empty lecture hall. In the middle, the waste router: bins turn amber at eighty percent, so staff only go where a pickup is needed. On the right, the student leaderboard ranking dorms by energy savings. If we're running a live demo, this is where we switch to it; otherwise these screens show the user flow.
[Visual cue: three phone mockups. Replace with real screenshots or a short screen recording if you have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simple: less wasted energy, lower operating costs, and a greener campus culture. Because EcoCampus AI matches energy to real occupancy, it goes after the roughly thirty percent that campuses waste today. Predictive maintenance and smarter bin collection cut avoidable work, and gamification gets students involved. Looking ahead, we want to scale from one campus to multi-campus networks and smart-city districts, and extend the same approach to water and renewable-energy optimization.
[Visual cue: three impact rows on the left, a dark roadmap card with a rocket icon on the right.]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who this is for, we have three audiences. Facility Directors want lower energy bills and fewer surprise breakdowns, and they get automated control and early fault alerts. Sustainability Officers need proof of progress toward emission goals, and they get campus-wide usage data in one place. Students want a visible way to make a difference, and they get dorm rankings and rewards for saving energy. One platform serves all three, which is what keeps it adopted.
[Visual cue: three persona cards, each with an icon, a 'needs' line and a 'gets' 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it concrete with a walk through one day. At 9:50 a lecture is cancelled in the timetable. At 10:00 the edge camera confirms the room really is empty. A minute later the AI switches heating, cooling and lights to saving mode, with no one lifting a finger. At lunchtime a bin crosses eighty percent and janitorial staff are alerted, so they only go where needed. By night the dorm leaderboard has updated with the day's savings. That's prediction plus action, end to end.
[Visual cue: five-step timeline with time stamps. This is an illustrative scenario, not measured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judges, here's the architecture in three layers. At the edge, cameras and environmental sensors feed TensorFlow Lite models that detect occupancy on the device itself. In the cloud, AWS IoT Core ingests telemetry, FastAPI services run the prediction logic, and PostgreSQL stores readings, schedules and history. At the top, the app layer delivers the student mobile app, staff alerts and a facility console. Data flows up, and control commands flow back down to the building systems.
[Visual cue: three stacked layers with up and down arrows between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we're asked how this becomes a real business: our proposed model is a software subscription per building or campus, plus retrofit sensor kits and installation, with sustainability reporting that helps institutions document their goals. The rollout is staged. Phase one is a pilot in a single building, measuring savings against a baseline. Phase two takes it campus-wide, covering HVAC, waste and the dashboard. Phase three expands across universities and districts. Starting small lowers risk and gives us proof before we scale.
[Visual cue: model card on the left, three numbered rollout phases on the right.]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will ask about risks, so here are four, with our answers. Privacy: occupancy is counted on the device at the edge, so we don't need to stream raw video to the cloud. Cost and complexity: the platform works with existing infrastructure, and we start with one building. Accuracy: we pilot against a baseline and the models improve as they see more data. Adoption: gamified rewards keep students engaged. We'd rather name these openly than have them surprise us later.
[Visual cue: four risk cards, each with an arrow pointing to a blue mitigation card.]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EcoCampus AI from Team Luna: an AI and IoT platform that predicts campus waste before it happens, from heating and lighting to trash routes, and turns students into part of the solution. We've shown the problem, the gap in today's tools, our solution and stack, and the impact we're aiming for. Smart insights today, a zero-emission campus tomorrow. Thank you, we'd love to take your questions.
[Visual cue: large Q&amp;A circle with the same ring motif as the title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640080" y="6400800"/>
            <a:ext cx="2743200" cy="274320"/>
          </a:xfrm>
          <a:prstGeom prst="rect">
            <a:avLst/>
          </a:prstGeom>
          <a:noFill/>
          <a:ln/>
        </p:spPr>
        <p:txBody>
          <a:bodyPr wrap="square" lIns="0" tIns="0" rIns="0" bIns="0" rtlCol="0" anchor="ctr"/>
          <a:lstStyle/>
          <a:p>
            <a:pPr marL="0" indent="0">
              <a:buNone/>
            </a:pPr>
            <a:r>
              <a:rPr lang="en-US" sz="1100" dirty="0">
                <a:solidFill>
                  <a:schemeClr val="accent5"/>
                </a:solidFill>
              </a:rPr>
              <a:t>EcoCampus AI</a:t>
            </a:r>
            <a:endParaRPr lang="en-US" sz="1100" dirty="0"/>
          </a:p>
        </p:txBody>
      </p:sp>
      <p:sp>
        <p:nvSpPr>
          <p:cNvPr id="2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640080" y="6400800"/>
            <a:ext cx="2743200" cy="274320"/>
          </a:xfrm>
          <a:prstGeom prst="rect">
            <a:avLst/>
          </a:prstGeom>
          <a:noFill/>
          <a:ln/>
        </p:spPr>
        <p:txBody>
          <a:bodyPr wrap="square" lIns="0" tIns="0" rIns="0" bIns="0" rtlCol="0" anchor="ctr"/>
          <a:lstStyle/>
          <a:p>
            <a:pPr marL="0" indent="0">
              <a:buNone/>
            </a:pPr>
            <a:r>
              <a:rPr lang="en-US" sz="1100" dirty="0">
                <a:solidFill>
                  <a:schemeClr val="accent6"/>
                </a:solidFill>
              </a:rPr>
              <a:t>EcoCampus AI</a:t>
            </a:r>
            <a:endParaRPr lang="en-US" sz="1100" dirty="0"/>
          </a:p>
        </p:txBody>
      </p:sp>
      <p:sp>
        <p:nvSpPr>
          <p:cNvPr id="2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011680"/>
            <a:ext cx="6035040" cy="118872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640080" y="3291840"/>
            <a:ext cx="5669280" cy="1097280"/>
          </a:xfrm>
          <a:prstGeom prst="rect">
            <a:avLst/>
          </a:prstGeom>
          <a:noFill/>
          <a:ln/>
        </p:spPr>
        <p:txBody>
          <a:bodyPr wrap="square" rtlCol="0"/>
          <a:lstStyle>
            <a:lvl1pPr marL="0" indent="0">
              <a:buNone/>
              <a:defRPr lang="en-US" sz="2400" dirty="0">
                <a:solidFill>
                  <a:schemeClr val="accent5"/>
                </a:solidFill>
              </a:defRPr>
            </a:lvl1pPr>
          </a:lstStyle>
          <a:p>
            <a:pPr marL="0" indent="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BG" Type="http://schemas.openxmlformats.org/officeDocument/2006/relationships/image" Target="../media/hero_a.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BG" Type="http://schemas.openxmlformats.org/officeDocument/2006/relationships/image" Target="../media/grid_a.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 Id="rIdBG" Type="http://schemas.openxmlformats.org/officeDocument/2006/relationships/image" Target="../media/grid_b.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BG" Type="http://schemas.openxmlformats.org/officeDocument/2006/relationships/image" Target="../media/grid_a.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5.png"/><Relationship Id="rIdBG" Type="http://schemas.openxmlformats.org/officeDocument/2006/relationships/image" Target="../media/grid_b.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 Id="rIdBG" Type="http://schemas.openxmlformats.org/officeDocument/2006/relationships/image" Target="../media/grid_c.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 Id="rIdBG" Type="http://schemas.openxmlformats.org/officeDocument/2006/relationships/image" Target="../media/hero_b.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900" name="Background art" descr="Decorative illustration"/>
          <p:cNvPicPr>
            <a:picLocks noChangeAspect="1"/>
          </p:cNvPicPr>
          <p:nvPr/>
        </p:nvPicPr>
        <p:blipFill>
          <a:blip r:embed="rId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40080" y="2011680"/>
            <a:ext cx="6035040" cy="1188720"/>
          </a:xfrm>
          <a:prstGeom prst="rect">
            <a:avLst/>
          </a:prstGeom>
          <a:noFill/>
          <a:ln/>
        </p:spPr>
        <p:txBody>
          <a:bodyPr wrap="square" lIns="0" tIns="0" rIns="0" bIns="0" rtlCol="0" anchor="ctr"/>
          <a:lstStyle/>
          <a:p>
            <a:pPr marL="0" indent="0" algn="l">
              <a:buNone/>
            </a:pPr>
            <a:r>
              <a:rPr lang="en-US" sz="6000" b="1" dirty="0">
                <a:solidFill>
                  <a:schemeClr val="bg1"/>
                </a:solidFill>
              </a:rPr>
              <a:t>EcoCampus AI</a:t>
            </a:r>
            <a:endParaRPr lang="en-US" sz="6000" dirty="0"/>
          </a:p>
        </p:txBody>
      </p:sp>
      <p:sp>
        <p:nvSpPr>
          <p:cNvPr id="3" name="Text 0"/>
          <p:cNvSpPr>
            <a:spLocks noGrp="1"/>
          </p:cNvSpPr>
          <p:nvPr>
            <p:ph type="body" idx="101" hasCustomPrompt="1"/>
          </p:nvPr>
        </p:nvSpPr>
        <p:spPr>
          <a:xfrm>
            <a:off x="640080" y="3291840"/>
            <a:ext cx="5669280" cy="1097280"/>
          </a:xfrm>
          <a:prstGeom prst="rect">
            <a:avLst/>
          </a:prstGeom>
          <a:noFill/>
          <a:ln/>
        </p:spPr>
        <p:txBody>
          <a:bodyPr wrap="square" lIns="0" tIns="0" rIns="0" bIns="0" rtlCol="0" anchor="t"/>
          <a:lstStyle/>
          <a:p>
            <a:pPr marL="0" indent="0">
              <a:buNone/>
            </a:pPr>
            <a:r>
              <a:rPr lang="en-US" sz="2400" dirty="0">
                <a:solidFill>
                  <a:schemeClr val="accent5"/>
                </a:solidFill>
              </a:rPr>
              <a:t>Smart insights today. A zero-emission campus tomorrow.</a:t>
            </a:r>
            <a:endParaRPr lang="en-US" sz="2400" dirty="0"/>
          </a:p>
        </p:txBody>
      </p:sp>
      <p:sp>
        <p:nvSpPr>
          <p:cNvPr id="4" name="Text 2"/>
          <p:cNvSpPr txBox="1"/>
          <p:nvPr/>
        </p:nvSpPr>
        <p:spPr>
          <a:xfrm>
            <a:off x="640080" y="4754880"/>
            <a:ext cx="5486400" cy="365760"/>
          </a:xfrm>
          <a:prstGeom prst="rect">
            <a:avLst/>
          </a:prstGeom>
          <a:noFill/>
          <a:ln/>
        </p:spPr>
        <p:txBody>
          <a:bodyPr wrap="square" lIns="0" tIns="0" rIns="0" bIns="0" rtlCol="0" anchor="ctr"/>
          <a:lstStyle/>
          <a:p>
            <a:pPr marL="0" indent="0">
              <a:buNone/>
            </a:pPr>
            <a:r>
              <a:rPr lang="en-US" sz="1800" b="1" dirty="0">
                <a:solidFill>
                  <a:schemeClr val="accent2"/>
                </a:solidFill>
              </a:rPr>
              <a:t>Hackathon pitch  |  Team Luna</a:t>
            </a:r>
            <a:endParaRPr lang="en-US" sz="1800" dirty="0"/>
          </a:p>
        </p:txBody>
      </p:sp>
      <p:sp>
        <p:nvSpPr>
          <p:cNvPr id="5" name="Outer ring"/>
          <p:cNvSpPr/>
          <p:nvPr/>
        </p:nvSpPr>
        <p:spPr>
          <a:xfrm>
            <a:off x="6858000" y="1143000"/>
            <a:ext cx="4572000" cy="4572000"/>
          </a:xfrm>
          <a:prstGeom prst="ellipse">
            <a:avLst/>
          </a:prstGeom>
          <a:solidFill>
            <a:schemeClr val="accent1">
              <a:alpha val="15000"/>
            </a:schemeClr>
          </a:solidFill>
          <a:ln/>
        </p:spPr>
      </p:sp>
      <p:sp>
        <p:nvSpPr>
          <p:cNvPr id="6" name="Middle ring"/>
          <p:cNvSpPr/>
          <p:nvPr/>
        </p:nvSpPr>
        <p:spPr>
          <a:xfrm>
            <a:off x="7543800" y="1828800"/>
            <a:ext cx="3200400" cy="3200400"/>
          </a:xfrm>
          <a:prstGeom prst="ellipse">
            <a:avLst/>
          </a:prstGeom>
          <a:solidFill>
            <a:schemeClr val="accent1">
              <a:alpha val="40000"/>
            </a:schemeClr>
          </a:solidFill>
          <a:ln/>
        </p:spPr>
      </p:sp>
      <p:sp>
        <p:nvSpPr>
          <p:cNvPr id="7" name="Leaf icon circle"/>
          <p:cNvSpPr/>
          <p:nvPr/>
        </p:nvSpPr>
        <p:spPr>
          <a:xfrm>
            <a:off x="8229600" y="2514600"/>
            <a:ext cx="1828800" cy="1828800"/>
          </a:xfrm>
          <a:prstGeom prst="ellipse">
            <a:avLst/>
          </a:prstGeom>
          <a:solidFill>
            <a:schemeClr val="accent1"/>
          </a:solidFill>
          <a:ln/>
        </p:spPr>
      </p:sp>
      <p:pic>
        <p:nvPicPr>
          <p:cNvPr id="8" name="Image 0" descr="Leaf icon"/>
          <p:cNvPicPr>
            <a:picLocks noChangeAspect="1"/>
          </p:cNvPicPr>
          <p:nvPr/>
        </p:nvPicPr>
        <p:blipFill>
          <a:blip r:embed="rId3"/>
          <a:stretch>
            <a:fillRect/>
          </a:stretch>
        </p:blipFill>
        <p:spPr>
          <a:xfrm>
            <a:off x="8686800" y="2971800"/>
            <a:ext cx="914400" cy="914400"/>
          </a:xfrm>
          <a:prstGeom prst="rect">
            <a:avLst/>
          </a:prstGeom>
        </p:spPr>
      </p:pic>
      <p:sp>
        <p:nvSpPr>
          <p:cNvPr id="9" name="Energy icon circle"/>
          <p:cNvSpPr/>
          <p:nvPr/>
        </p:nvSpPr>
        <p:spPr>
          <a:xfrm>
            <a:off x="6995160" y="1280160"/>
            <a:ext cx="822960" cy="822960"/>
          </a:xfrm>
          <a:prstGeom prst="ellipse">
            <a:avLst/>
          </a:prstGeom>
          <a:solidFill>
            <a:schemeClr val="accent1"/>
          </a:solidFill>
          <a:ln/>
        </p:spPr>
      </p:sp>
      <p:pic>
        <p:nvPicPr>
          <p:cNvPr id="10" name="Image 1" descr="Energy icon"/>
          <p:cNvPicPr>
            <a:picLocks noChangeAspect="1"/>
          </p:cNvPicPr>
          <p:nvPr/>
        </p:nvPicPr>
        <p:blipFill>
          <a:blip r:embed="rId4"/>
          <a:stretch>
            <a:fillRect/>
          </a:stretch>
        </p:blipFill>
        <p:spPr>
          <a:xfrm>
            <a:off x="7200900" y="1485900"/>
            <a:ext cx="411480" cy="411480"/>
          </a:xfrm>
          <a:prstGeom prst="rect">
            <a:avLst/>
          </a:prstGeom>
        </p:spPr>
      </p:pic>
      <p:sp>
        <p:nvSpPr>
          <p:cNvPr id="11" name="Waste icon circle"/>
          <p:cNvSpPr/>
          <p:nvPr/>
        </p:nvSpPr>
        <p:spPr>
          <a:xfrm>
            <a:off x="10744200" y="3566160"/>
            <a:ext cx="822960" cy="822960"/>
          </a:xfrm>
          <a:prstGeom prst="ellipse">
            <a:avLst/>
          </a:prstGeom>
          <a:solidFill>
            <a:schemeClr val="accent1"/>
          </a:solidFill>
          <a:ln/>
        </p:spPr>
      </p:sp>
      <p:pic>
        <p:nvPicPr>
          <p:cNvPr id="12" name="Image 2" descr="Waste icon"/>
          <p:cNvPicPr>
            <a:picLocks noChangeAspect="1"/>
          </p:cNvPicPr>
          <p:nvPr/>
        </p:nvPicPr>
        <p:blipFill>
          <a:blip r:embed="rId5"/>
          <a:stretch>
            <a:fillRect/>
          </a:stretch>
        </p:blipFill>
        <p:spPr>
          <a:xfrm>
            <a:off x="10949940" y="3771900"/>
            <a:ext cx="411480" cy="411480"/>
          </a:xfrm>
          <a:prstGeom prst="rect">
            <a:avLst/>
          </a:prstGeom>
        </p:spPr>
      </p:pic>
      <p:sp>
        <p:nvSpPr>
          <p:cNvPr id="13" name="Mobile icon circle"/>
          <p:cNvSpPr/>
          <p:nvPr/>
        </p:nvSpPr>
        <p:spPr>
          <a:xfrm>
            <a:off x="7635240" y="5029200"/>
            <a:ext cx="822960" cy="822960"/>
          </a:xfrm>
          <a:prstGeom prst="ellipse">
            <a:avLst/>
          </a:prstGeom>
          <a:solidFill>
            <a:schemeClr val="accent1"/>
          </a:solidFill>
          <a:ln/>
        </p:spPr>
      </p:sp>
      <p:pic>
        <p:nvPicPr>
          <p:cNvPr id="14" name="Image 3" descr="Mobile icon"/>
          <p:cNvPicPr>
            <a:picLocks noChangeAspect="1"/>
          </p:cNvPicPr>
          <p:nvPr/>
        </p:nvPicPr>
        <p:blipFill>
          <a:blip r:embed="rId6"/>
          <a:stretch>
            <a:fillRect/>
          </a:stretch>
        </p:blipFill>
        <p:spPr>
          <a:xfrm>
            <a:off x="7840980" y="5234940"/>
            <a:ext cx="411480"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ripple dir="cent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6" fill="hold">
                            <p:stCondLst>
                              <p:cond delay="0"/>
                            </p:stCondLst>
                            <p:childTnLst>
                              <p:par>
                                <p:cTn id="7" presetID="2" presetClass="entr" presetSubtype="4"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 calcmode="lin" valueType="num">
                                      <p:cBhvr additive="base">
                                        <p:cTn id="5" dur="550" fill="hold"/>
                                        <p:tgtEl>
                                          <p:spTgt spid="2"/>
                                        </p:tgtEl>
                                        <p:attrNameLst>
                                          <p:attrName>ppt_y</p:attrName>
                                        </p:attrNameLst>
                                      </p:cBhvr>
                                      <p:tavLst>
                                        <p:tav tm="0">
                                          <p:val>
                                            <p:strVal val="#ppt_y+0.07"/>
                                          </p:val>
                                        </p:tav>
                                        <p:tav tm="100000">
                                          <p:val>
                                            <p:strVal val="#ppt_y"/>
                                          </p:val>
                                        </p:tav>
                                      </p:tavLst>
                                    </p:anim>
                                    <p:animEffect transition="in" filter="fade">
                                      <p:cBhvr>
                                        <p:cTn id="6" dur="550"/>
                                        <p:tgtEl>
                                          <p:spTgt spid="2"/>
                                        </p:tgtEl>
                                      </p:cBhvr>
                                    </p:animEffect>
                                  </p:childTnLst>
                                </p:cTn>
                              </p:par>
                              <p:par>
                                <p:cTn id="11" presetID="2" presetClass="entr" presetSubtype="4" fill="hold" grpId="0" nodeType="withEffect">
                                  <p:stCondLst>
                                    <p:cond delay="15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50" fill="hold"/>
                                        <p:tgtEl>
                                          <p:spTgt spid="3"/>
                                        </p:tgtEl>
                                        <p:attrNameLst>
                                          <p:attrName>ppt_y</p:attrName>
                                        </p:attrNameLst>
                                      </p:cBhvr>
                                      <p:tavLst>
                                        <p:tav tm="0">
                                          <p:val>
                                            <p:strVal val="#ppt_y+0.07"/>
                                          </p:val>
                                        </p:tav>
                                        <p:tav tm="100000">
                                          <p:val>
                                            <p:strVal val="#ppt_y"/>
                                          </p:val>
                                        </p:tav>
                                      </p:tavLst>
                                    </p:anim>
                                    <p:animEffect transition="in" filter="fade">
                                      <p:cBhvr>
                                        <p:cTn id="10" dur="550"/>
                                        <p:tgtEl>
                                          <p:spTgt spid="3"/>
                                        </p:tgtEl>
                                      </p:cBhvr>
                                    </p:animEffect>
                                  </p:childTnLst>
                                </p:cTn>
                              </p:par>
                              <p:par>
                                <p:cTn id="15" presetID="2" presetClass="entr" presetSubtype="4" fill="hold" grpId="0" nodeType="withEffect">
                                  <p:stCondLst>
                                    <p:cond delay="30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50" fill="hold"/>
                                        <p:tgtEl>
                                          <p:spTgt spid="4"/>
                                        </p:tgtEl>
                                        <p:attrNameLst>
                                          <p:attrName>ppt_y</p:attrName>
                                        </p:attrNameLst>
                                      </p:cBhvr>
                                      <p:tavLst>
                                        <p:tav tm="0">
                                          <p:val>
                                            <p:strVal val="#ppt_y+0.07"/>
                                          </p:val>
                                        </p:tav>
                                        <p:tav tm="100000">
                                          <p:val>
                                            <p:strVal val="#ppt_y"/>
                                          </p:val>
                                        </p:tav>
                                      </p:tavLst>
                                    </p:anim>
                                    <p:animEffect transition="in" filter="fade">
                                      <p:cBhvr>
                                        <p:cTn id="14" dur="550"/>
                                        <p:tgtEl>
                                          <p:spTgt spid="4"/>
                                        </p:tgtEl>
                                      </p:cBhvr>
                                    </p:animEffect>
                                  </p:childTnLst>
                                </p:cTn>
                              </p:par>
                              <p:par>
                                <p:cTn id="20" presetID="53" presetClass="entr" presetSubtype="16" fill="hold" grpId="0" nodeType="withEffect">
                                  <p:stCondLst>
                                    <p:cond delay="45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5" presetID="53" presetClass="entr" presetSubtype="16" fill="hold" grpId="0" nodeType="withEffect">
                                  <p:stCondLst>
                                    <p:cond delay="51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50" fill="hold"/>
                                        <p:tgtEl>
                                          <p:spTgt spid="6"/>
                                        </p:tgtEl>
                                        <p:attrNameLst>
                                          <p:attrName>ppt_w</p:attrName>
                                        </p:attrNameLst>
                                      </p:cBhvr>
                                      <p:tavLst>
                                        <p:tav tm="0">
                                          <p:val>
                                            <p:fltVal val="0"/>
                                          </p:val>
                                        </p:tav>
                                        <p:tav tm="100000">
                                          <p:val>
                                            <p:strVal val="#ppt_w"/>
                                          </p:val>
                                        </p:tav>
                                      </p:tavLst>
                                    </p:anim>
                                    <p:anim calcmode="lin" valueType="num">
                                      <p:cBhvr additive="base">
                                        <p:cTn id="23" dur="550" fill="hold"/>
                                        <p:tgtEl>
                                          <p:spTgt spid="6"/>
                                        </p:tgtEl>
                                        <p:attrNameLst>
                                          <p:attrName>ppt_h</p:attrName>
                                        </p:attrNameLst>
                                      </p:cBhvr>
                                      <p:tavLst>
                                        <p:tav tm="0">
                                          <p:val>
                                            <p:fltVal val="0"/>
                                          </p:val>
                                        </p:tav>
                                        <p:tav tm="100000">
                                          <p:val>
                                            <p:strVal val="#ppt_h"/>
                                          </p:val>
                                        </p:tav>
                                      </p:tavLst>
                                    </p:anim>
                                    <p:animEffect transition="in" filter="fade">
                                      <p:cBhvr>
                                        <p:cTn id="24" dur="550"/>
                                        <p:tgtEl>
                                          <p:spTgt spid="6"/>
                                        </p:tgtEl>
                                      </p:cBhvr>
                                    </p:animEffect>
                                  </p:childTnLst>
                                </p:cTn>
                              </p:par>
                              <p:par>
                                <p:cTn id="30" presetID="53" presetClass="entr" presetSubtype="16" fill="hold" grpId="0" nodeType="withEffect">
                                  <p:stCondLst>
                                    <p:cond delay="51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50" fill="hold"/>
                                        <p:tgtEl>
                                          <p:spTgt spid="7"/>
                                        </p:tgtEl>
                                        <p:attrNameLst>
                                          <p:attrName>ppt_w</p:attrName>
                                        </p:attrNameLst>
                                      </p:cBhvr>
                                      <p:tavLst>
                                        <p:tav tm="0">
                                          <p:val>
                                            <p:fltVal val="0"/>
                                          </p:val>
                                        </p:tav>
                                        <p:tav tm="100000">
                                          <p:val>
                                            <p:strVal val="#ppt_w"/>
                                          </p:val>
                                        </p:tav>
                                      </p:tavLst>
                                    </p:anim>
                                    <p:anim calcmode="lin" valueType="num">
                                      <p:cBhvr additive="base">
                                        <p:cTn id="28" dur="550" fill="hold"/>
                                        <p:tgtEl>
                                          <p:spTgt spid="7"/>
                                        </p:tgtEl>
                                        <p:attrNameLst>
                                          <p:attrName>ppt_h</p:attrName>
                                        </p:attrNameLst>
                                      </p:cBhvr>
                                      <p:tavLst>
                                        <p:tav tm="0">
                                          <p:val>
                                            <p:fltVal val="0"/>
                                          </p:val>
                                        </p:tav>
                                        <p:tav tm="100000">
                                          <p:val>
                                            <p:strVal val="#ppt_h"/>
                                          </p:val>
                                        </p:tav>
                                      </p:tavLst>
                                    </p:anim>
                                    <p:animEffect transition="in" filter="fade">
                                      <p:cBhvr>
                                        <p:cTn id="29" dur="550"/>
                                        <p:tgtEl>
                                          <p:spTgt spid="7"/>
                                        </p:tgtEl>
                                      </p:cBhvr>
                                    </p:animEffect>
                                  </p:childTnLst>
                                </p:cTn>
                              </p:par>
                              <p:par>
                                <p:cTn id="35" presetID="53" presetClass="entr" presetSubtype="16" fill="hold" grpId="0" nodeType="withEffect">
                                  <p:stCondLst>
                                    <p:cond delay="51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50" fill="hold"/>
                                        <p:tgtEl>
                                          <p:spTgt spid="8"/>
                                        </p:tgtEl>
                                        <p:attrNameLst>
                                          <p:attrName>ppt_w</p:attrName>
                                        </p:attrNameLst>
                                      </p:cBhvr>
                                      <p:tavLst>
                                        <p:tav tm="0">
                                          <p:val>
                                            <p:fltVal val="0"/>
                                          </p:val>
                                        </p:tav>
                                        <p:tav tm="100000">
                                          <p:val>
                                            <p:strVal val="#ppt_w"/>
                                          </p:val>
                                        </p:tav>
                                      </p:tavLst>
                                    </p:anim>
                                    <p:anim calcmode="lin" valueType="num">
                                      <p:cBhvr additive="base">
                                        <p:cTn id="33" dur="550" fill="hold"/>
                                        <p:tgtEl>
                                          <p:spTgt spid="8"/>
                                        </p:tgtEl>
                                        <p:attrNameLst>
                                          <p:attrName>ppt_h</p:attrName>
                                        </p:attrNameLst>
                                      </p:cBhvr>
                                      <p:tavLst>
                                        <p:tav tm="0">
                                          <p:val>
                                            <p:fltVal val="0"/>
                                          </p:val>
                                        </p:tav>
                                        <p:tav tm="100000">
                                          <p:val>
                                            <p:strVal val="#ppt_h"/>
                                          </p:val>
                                        </p:tav>
                                      </p:tavLst>
                                    </p:anim>
                                    <p:animEffect transition="in" filter="fade">
                                      <p:cBhvr>
                                        <p:cTn id="34" dur="550"/>
                                        <p:tgtEl>
                                          <p:spTgt spid="8"/>
                                        </p:tgtEl>
                                      </p:cBhvr>
                                    </p:animEffect>
                                  </p:childTnLst>
                                </p:cTn>
                              </p:par>
                              <p:par>
                                <p:cTn id="40" presetID="53" presetClass="entr" presetSubtype="16" fill="hold" grpId="0" nodeType="withEffect">
                                  <p:stCondLst>
                                    <p:cond delay="51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50" fill="hold"/>
                                        <p:tgtEl>
                                          <p:spTgt spid="9"/>
                                        </p:tgtEl>
                                        <p:attrNameLst>
                                          <p:attrName>ppt_w</p:attrName>
                                        </p:attrNameLst>
                                      </p:cBhvr>
                                      <p:tavLst>
                                        <p:tav tm="0">
                                          <p:val>
                                            <p:fltVal val="0"/>
                                          </p:val>
                                        </p:tav>
                                        <p:tav tm="100000">
                                          <p:val>
                                            <p:strVal val="#ppt_w"/>
                                          </p:val>
                                        </p:tav>
                                      </p:tavLst>
                                    </p:anim>
                                    <p:anim calcmode="lin" valueType="num">
                                      <p:cBhvr additive="base">
                                        <p:cTn id="38" dur="550" fill="hold"/>
                                        <p:tgtEl>
                                          <p:spTgt spid="9"/>
                                        </p:tgtEl>
                                        <p:attrNameLst>
                                          <p:attrName>ppt_h</p:attrName>
                                        </p:attrNameLst>
                                      </p:cBhvr>
                                      <p:tavLst>
                                        <p:tav tm="0">
                                          <p:val>
                                            <p:fltVal val="0"/>
                                          </p:val>
                                        </p:tav>
                                        <p:tav tm="100000">
                                          <p:val>
                                            <p:strVal val="#ppt_h"/>
                                          </p:val>
                                        </p:tav>
                                      </p:tavLst>
                                    </p:anim>
                                    <p:animEffect transition="in" filter="fade">
                                      <p:cBhvr>
                                        <p:cTn id="39" dur="550"/>
                                        <p:tgtEl>
                                          <p:spTgt spid="9"/>
                                        </p:tgtEl>
                                      </p:cBhvr>
                                    </p:animEffect>
                                  </p:childTnLst>
                                </p:cTn>
                              </p:par>
                              <p:par>
                                <p:cTn id="45" presetID="53" presetClass="entr" presetSubtype="16" fill="hold" grpId="0" nodeType="withEffect">
                                  <p:stCondLst>
                                    <p:cond delay="51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50" fill="hold"/>
                                        <p:tgtEl>
                                          <p:spTgt spid="10"/>
                                        </p:tgtEl>
                                        <p:attrNameLst>
                                          <p:attrName>ppt_w</p:attrName>
                                        </p:attrNameLst>
                                      </p:cBhvr>
                                      <p:tavLst>
                                        <p:tav tm="0">
                                          <p:val>
                                            <p:fltVal val="0"/>
                                          </p:val>
                                        </p:tav>
                                        <p:tav tm="100000">
                                          <p:val>
                                            <p:strVal val="#ppt_w"/>
                                          </p:val>
                                        </p:tav>
                                      </p:tavLst>
                                    </p:anim>
                                    <p:anim calcmode="lin" valueType="num">
                                      <p:cBhvr additive="base">
                                        <p:cTn id="43" dur="550" fill="hold"/>
                                        <p:tgtEl>
                                          <p:spTgt spid="10"/>
                                        </p:tgtEl>
                                        <p:attrNameLst>
                                          <p:attrName>ppt_h</p:attrName>
                                        </p:attrNameLst>
                                      </p:cBhvr>
                                      <p:tavLst>
                                        <p:tav tm="0">
                                          <p:val>
                                            <p:fltVal val="0"/>
                                          </p:val>
                                        </p:tav>
                                        <p:tav tm="100000">
                                          <p:val>
                                            <p:strVal val="#ppt_h"/>
                                          </p:val>
                                        </p:tav>
                                      </p:tavLst>
                                    </p:anim>
                                    <p:animEffect transition="in" filter="fade">
                                      <p:cBhvr>
                                        <p:cTn id="44" dur="550"/>
                                        <p:tgtEl>
                                          <p:spTgt spid="10"/>
                                        </p:tgtEl>
                                      </p:cBhvr>
                                    </p:animEffect>
                                  </p:childTnLst>
                                </p:cTn>
                              </p:par>
                              <p:par>
                                <p:cTn id="50" presetID="53" presetClass="entr" presetSubtype="16" fill="hold" grpId="0" nodeType="withEffect">
                                  <p:stCondLst>
                                    <p:cond delay="60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50" fill="hold"/>
                                        <p:tgtEl>
                                          <p:spTgt spid="11"/>
                                        </p:tgtEl>
                                        <p:attrNameLst>
                                          <p:attrName>ppt_w</p:attrName>
                                        </p:attrNameLst>
                                      </p:cBhvr>
                                      <p:tavLst>
                                        <p:tav tm="0">
                                          <p:val>
                                            <p:fltVal val="0"/>
                                          </p:val>
                                        </p:tav>
                                        <p:tav tm="100000">
                                          <p:val>
                                            <p:strVal val="#ppt_w"/>
                                          </p:val>
                                        </p:tav>
                                      </p:tavLst>
                                    </p:anim>
                                    <p:anim calcmode="lin" valueType="num">
                                      <p:cBhvr additive="base">
                                        <p:cTn id="48" dur="550" fill="hold"/>
                                        <p:tgtEl>
                                          <p:spTgt spid="11"/>
                                        </p:tgtEl>
                                        <p:attrNameLst>
                                          <p:attrName>ppt_h</p:attrName>
                                        </p:attrNameLst>
                                      </p:cBhvr>
                                      <p:tavLst>
                                        <p:tav tm="0">
                                          <p:val>
                                            <p:fltVal val="0"/>
                                          </p:val>
                                        </p:tav>
                                        <p:tav tm="100000">
                                          <p:val>
                                            <p:strVal val="#ppt_h"/>
                                          </p:val>
                                        </p:tav>
                                      </p:tavLst>
                                    </p:anim>
                                    <p:animEffect transition="in" filter="fade">
                                      <p:cBhvr>
                                        <p:cTn id="49" dur="550"/>
                                        <p:tgtEl>
                                          <p:spTgt spid="11"/>
                                        </p:tgtEl>
                                      </p:cBhvr>
                                    </p:animEffect>
                                  </p:childTnLst>
                                </p:cTn>
                              </p:par>
                              <p:par>
                                <p:cTn id="55" presetID="53" presetClass="entr" presetSubtype="16" fill="hold" grpId="0" nodeType="withEffect">
                                  <p:stCondLst>
                                    <p:cond delay="66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550" fill="hold"/>
                                        <p:tgtEl>
                                          <p:spTgt spid="12"/>
                                        </p:tgtEl>
                                        <p:attrNameLst>
                                          <p:attrName>ppt_w</p:attrName>
                                        </p:attrNameLst>
                                      </p:cBhvr>
                                      <p:tavLst>
                                        <p:tav tm="0">
                                          <p:val>
                                            <p:fltVal val="0"/>
                                          </p:val>
                                        </p:tav>
                                        <p:tav tm="100000">
                                          <p:val>
                                            <p:strVal val="#ppt_w"/>
                                          </p:val>
                                        </p:tav>
                                      </p:tavLst>
                                    </p:anim>
                                    <p:anim calcmode="lin" valueType="num">
                                      <p:cBhvr additive="base">
                                        <p:cTn id="53" dur="550" fill="hold"/>
                                        <p:tgtEl>
                                          <p:spTgt spid="12"/>
                                        </p:tgtEl>
                                        <p:attrNameLst>
                                          <p:attrName>ppt_h</p:attrName>
                                        </p:attrNameLst>
                                      </p:cBhvr>
                                      <p:tavLst>
                                        <p:tav tm="0">
                                          <p:val>
                                            <p:fltVal val="0"/>
                                          </p:val>
                                        </p:tav>
                                        <p:tav tm="100000">
                                          <p:val>
                                            <p:strVal val="#ppt_h"/>
                                          </p:val>
                                        </p:tav>
                                      </p:tavLst>
                                    </p:anim>
                                    <p:animEffect transition="in" filter="fade">
                                      <p:cBhvr>
                                        <p:cTn id="54" dur="550"/>
                                        <p:tgtEl>
                                          <p:spTgt spid="12"/>
                                        </p:tgtEl>
                                      </p:cBhvr>
                                    </p:animEffect>
                                  </p:childTnLst>
                                </p:cTn>
                              </p:par>
                              <p:par>
                                <p:cTn id="60" presetID="53" presetClass="entr" presetSubtype="16" fill="hold" grpId="0" nodeType="withEffect">
                                  <p:stCondLst>
                                    <p:cond delay="75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50" fill="hold"/>
                                        <p:tgtEl>
                                          <p:spTgt spid="13"/>
                                        </p:tgtEl>
                                        <p:attrNameLst>
                                          <p:attrName>ppt_w</p:attrName>
                                        </p:attrNameLst>
                                      </p:cBhvr>
                                      <p:tavLst>
                                        <p:tav tm="0">
                                          <p:val>
                                            <p:fltVal val="0"/>
                                          </p:val>
                                        </p:tav>
                                        <p:tav tm="100000">
                                          <p:val>
                                            <p:strVal val="#ppt_w"/>
                                          </p:val>
                                        </p:tav>
                                      </p:tavLst>
                                    </p:anim>
                                    <p:anim calcmode="lin" valueType="num">
                                      <p:cBhvr additive="base">
                                        <p:cTn id="58" dur="550" fill="hold"/>
                                        <p:tgtEl>
                                          <p:spTgt spid="13"/>
                                        </p:tgtEl>
                                        <p:attrNameLst>
                                          <p:attrName>ppt_h</p:attrName>
                                        </p:attrNameLst>
                                      </p:cBhvr>
                                      <p:tavLst>
                                        <p:tav tm="0">
                                          <p:val>
                                            <p:fltVal val="0"/>
                                          </p:val>
                                        </p:tav>
                                        <p:tav tm="100000">
                                          <p:val>
                                            <p:strVal val="#ppt_h"/>
                                          </p:val>
                                        </p:tav>
                                      </p:tavLst>
                                    </p:anim>
                                    <p:animEffect transition="in" filter="fade">
                                      <p:cBhvr>
                                        <p:cTn id="59" dur="550"/>
                                        <p:tgtEl>
                                          <p:spTgt spid="13"/>
                                        </p:tgtEl>
                                      </p:cBhvr>
                                    </p:animEffect>
                                  </p:childTnLst>
                                </p:cTn>
                              </p:par>
                              <p:par>
                                <p:cTn id="65" presetID="53" presetClass="entr" presetSubtype="16" fill="hold" grpId="0" nodeType="withEffect">
                                  <p:stCondLst>
                                    <p:cond delay="81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50" fill="hold"/>
                                        <p:tgtEl>
                                          <p:spTgt spid="14"/>
                                        </p:tgtEl>
                                        <p:attrNameLst>
                                          <p:attrName>ppt_w</p:attrName>
                                        </p:attrNameLst>
                                      </p:cBhvr>
                                      <p:tavLst>
                                        <p:tav tm="0">
                                          <p:val>
                                            <p:fltVal val="0"/>
                                          </p:val>
                                        </p:tav>
                                        <p:tav tm="100000">
                                          <p:val>
                                            <p:strVal val="#ppt_w"/>
                                          </p:val>
                                        </p:tav>
                                      </p:tavLst>
                                    </p:anim>
                                    <p:anim calcmode="lin" valueType="num">
                                      <p:cBhvr additive="base">
                                        <p:cTn id="63" dur="550" fill="hold"/>
                                        <p:tgtEl>
                                          <p:spTgt spid="14"/>
                                        </p:tgtEl>
                                        <p:attrNameLst>
                                          <p:attrName>ppt_h</p:attrName>
                                        </p:attrNameLst>
                                      </p:cBhvr>
                                      <p:tavLst>
                                        <p:tav tm="0">
                                          <p:val>
                                            <p:fltVal val="0"/>
                                          </p:val>
                                        </p:tav>
                                        <p:tav tm="100000">
                                          <p:val>
                                            <p:strVal val="#ppt_h"/>
                                          </p:val>
                                        </p:tav>
                                      </p:tavLst>
                                    </p:anim>
                                    <p:animEffect transition="in" filter="fade">
                                      <p:cBhvr>
                                        <p:cTn id="64" dur="5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9" grpId="0" animBg="1"/>
      <p:bldP spid="11"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900" name="Background art" descr="Decorative illustration"/>
          <p:cNvPicPr>
            <a:picLocks noChangeAspect="1"/>
          </p:cNvPicPr>
          <p:nvPr/>
        </p:nvPicPr>
        <p:blipFill>
          <a:blip r:embed="rId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bg1"/>
                </a:solidFill>
              </a:rPr>
              <a:t>The problem: campuses waste energy</a:t>
            </a:r>
            <a:endParaRPr lang="en-US" sz="3600" dirty="0"/>
          </a:p>
        </p:txBody>
      </p:sp>
      <p:sp>
        <p:nvSpPr>
          <p:cNvPr id="3" name="Stat card"/>
          <p:cNvSpPr/>
          <p:nvPr/>
        </p:nvSpPr>
        <p:spPr>
          <a:xfrm>
            <a:off x="640080" y="1554480"/>
            <a:ext cx="5120640" cy="4480560"/>
          </a:xfrm>
          <a:prstGeom prst="roundRect">
            <a:avLst>
              <a:gd name="adj" fmla="val 3061"/>
            </a:avLst>
          </a:prstGeom>
          <a:solidFill>
            <a:schemeClr val="tx2"/>
          </a:solidFill>
          <a:ln/>
        </p:spPr>
      </p:sp>
      <p:sp>
        <p:nvSpPr>
          <p:cNvPr id="4" name="Text 2"/>
          <p:cNvSpPr txBox="1"/>
          <p:nvPr/>
        </p:nvSpPr>
        <p:spPr>
          <a:xfrm>
            <a:off x="914400" y="1691640"/>
            <a:ext cx="4572000" cy="1828800"/>
          </a:xfrm>
          <a:prstGeom prst="rect">
            <a:avLst/>
          </a:prstGeom>
          <a:noFill/>
          <a:ln/>
        </p:spPr>
        <p:txBody>
          <a:bodyPr wrap="square" lIns="0" tIns="0" rIns="0" bIns="0" rtlCol="0" anchor="ctr"/>
          <a:lstStyle/>
          <a:p>
            <a:pPr marL="0" indent="0">
              <a:buNone/>
            </a:pPr>
            <a:r>
              <a:rPr lang="en-US" sz="11000" b="1" dirty="0">
                <a:solidFill>
                  <a:schemeClr val="accent2"/>
                </a:solidFill>
                <a:latin typeface="Arial" pitchFamily="34" charset="0"/>
                <a:ea typeface="Arial" pitchFamily="34" charset="-122"/>
                <a:cs typeface="Arial" pitchFamily="34" charset="-120"/>
              </a:rPr>
              <a:t>~30%</a:t>
            </a:r>
            <a:endParaRPr lang="en-US" sz="11000" dirty="0"/>
          </a:p>
        </p:txBody>
      </p:sp>
      <p:sp>
        <p:nvSpPr>
          <p:cNvPr id="5" name="Text 3"/>
          <p:cNvSpPr txBox="1"/>
          <p:nvPr/>
        </p:nvSpPr>
        <p:spPr>
          <a:xfrm>
            <a:off x="914400" y="3566160"/>
            <a:ext cx="4572000" cy="822960"/>
          </a:xfrm>
          <a:prstGeom prst="rect">
            <a:avLst/>
          </a:prstGeom>
          <a:noFill/>
          <a:ln/>
        </p:spPr>
        <p:txBody>
          <a:bodyPr wrap="square" lIns="0" tIns="0" rIns="0" bIns="0" rtlCol="0" anchor="t"/>
          <a:lstStyle/>
          <a:p>
            <a:pPr marL="0" indent="0">
              <a:buNone/>
            </a:pPr>
            <a:r>
              <a:rPr lang="en-US" sz="1800" dirty="0">
                <a:solidFill>
                  <a:schemeClr val="bg1"/>
                </a:solidFill>
              </a:rPr>
              <a:t>of energy used by commercial and institutional buildings is wasted</a:t>
            </a:r>
            <a:endParaRPr lang="en-US" sz="1800" dirty="0"/>
          </a:p>
        </p:txBody>
      </p:sp>
      <p:sp>
        <p:nvSpPr>
          <p:cNvPr id="6" name="Waffle 1"/>
          <p:cNvSpPr/>
          <p:nvPr/>
        </p:nvSpPr>
        <p:spPr>
          <a:xfrm>
            <a:off x="914400" y="4572000"/>
            <a:ext cx="365760" cy="365760"/>
          </a:xfrm>
          <a:prstGeom prst="roundRect">
            <a:avLst>
              <a:gd name="adj" fmla="val 12500"/>
            </a:avLst>
          </a:prstGeom>
          <a:solidFill>
            <a:schemeClr val="accent4"/>
          </a:solidFill>
          <a:ln/>
        </p:spPr>
      </p:sp>
      <p:sp>
        <p:nvSpPr>
          <p:cNvPr id="7" name="Waffle 2"/>
          <p:cNvSpPr/>
          <p:nvPr/>
        </p:nvSpPr>
        <p:spPr>
          <a:xfrm>
            <a:off x="1371600" y="4572000"/>
            <a:ext cx="365760" cy="365760"/>
          </a:xfrm>
          <a:prstGeom prst="roundRect">
            <a:avLst>
              <a:gd name="adj" fmla="val 12500"/>
            </a:avLst>
          </a:prstGeom>
          <a:solidFill>
            <a:schemeClr val="accent4"/>
          </a:solidFill>
          <a:ln/>
        </p:spPr>
      </p:sp>
      <p:sp>
        <p:nvSpPr>
          <p:cNvPr id="8" name="Waffle 3"/>
          <p:cNvSpPr/>
          <p:nvPr/>
        </p:nvSpPr>
        <p:spPr>
          <a:xfrm>
            <a:off x="1828800" y="4572000"/>
            <a:ext cx="365760" cy="365760"/>
          </a:xfrm>
          <a:prstGeom prst="roundRect">
            <a:avLst>
              <a:gd name="adj" fmla="val 12500"/>
            </a:avLst>
          </a:prstGeom>
          <a:solidFill>
            <a:schemeClr val="accent4"/>
          </a:solidFill>
          <a:ln/>
        </p:spPr>
      </p:sp>
      <p:sp>
        <p:nvSpPr>
          <p:cNvPr id="9" name="Waffle 4"/>
          <p:cNvSpPr/>
          <p:nvPr/>
        </p:nvSpPr>
        <p:spPr>
          <a:xfrm>
            <a:off x="2286000" y="4572000"/>
            <a:ext cx="365760" cy="365760"/>
          </a:xfrm>
          <a:prstGeom prst="roundRect">
            <a:avLst>
              <a:gd name="adj" fmla="val 12500"/>
            </a:avLst>
          </a:prstGeom>
          <a:solidFill>
            <a:schemeClr val="accent1"/>
          </a:solidFill>
          <a:ln/>
        </p:spPr>
      </p:sp>
      <p:sp>
        <p:nvSpPr>
          <p:cNvPr id="10" name="Waffle 5"/>
          <p:cNvSpPr/>
          <p:nvPr/>
        </p:nvSpPr>
        <p:spPr>
          <a:xfrm>
            <a:off x="2743200" y="4572000"/>
            <a:ext cx="365760" cy="365760"/>
          </a:xfrm>
          <a:prstGeom prst="roundRect">
            <a:avLst>
              <a:gd name="adj" fmla="val 12500"/>
            </a:avLst>
          </a:prstGeom>
          <a:solidFill>
            <a:schemeClr val="accent1"/>
          </a:solidFill>
          <a:ln/>
        </p:spPr>
      </p:sp>
      <p:sp>
        <p:nvSpPr>
          <p:cNvPr id="11" name="Waffle 6"/>
          <p:cNvSpPr/>
          <p:nvPr/>
        </p:nvSpPr>
        <p:spPr>
          <a:xfrm>
            <a:off x="3200400" y="4572000"/>
            <a:ext cx="365760" cy="365760"/>
          </a:xfrm>
          <a:prstGeom prst="roundRect">
            <a:avLst>
              <a:gd name="adj" fmla="val 12500"/>
            </a:avLst>
          </a:prstGeom>
          <a:solidFill>
            <a:schemeClr val="accent1"/>
          </a:solidFill>
          <a:ln/>
        </p:spPr>
      </p:sp>
      <p:sp>
        <p:nvSpPr>
          <p:cNvPr id="12" name="Waffle 7"/>
          <p:cNvSpPr/>
          <p:nvPr/>
        </p:nvSpPr>
        <p:spPr>
          <a:xfrm>
            <a:off x="3657600" y="4572000"/>
            <a:ext cx="365760" cy="365760"/>
          </a:xfrm>
          <a:prstGeom prst="roundRect">
            <a:avLst>
              <a:gd name="adj" fmla="val 12500"/>
            </a:avLst>
          </a:prstGeom>
          <a:solidFill>
            <a:schemeClr val="accent1"/>
          </a:solidFill>
          <a:ln/>
        </p:spPr>
      </p:sp>
      <p:sp>
        <p:nvSpPr>
          <p:cNvPr id="13" name="Waffle 8"/>
          <p:cNvSpPr/>
          <p:nvPr/>
        </p:nvSpPr>
        <p:spPr>
          <a:xfrm>
            <a:off x="4114800" y="4572000"/>
            <a:ext cx="365760" cy="365760"/>
          </a:xfrm>
          <a:prstGeom prst="roundRect">
            <a:avLst>
              <a:gd name="adj" fmla="val 12500"/>
            </a:avLst>
          </a:prstGeom>
          <a:solidFill>
            <a:schemeClr val="accent1"/>
          </a:solidFill>
          <a:ln/>
        </p:spPr>
      </p:sp>
      <p:sp>
        <p:nvSpPr>
          <p:cNvPr id="14" name="Waffle 9"/>
          <p:cNvSpPr/>
          <p:nvPr/>
        </p:nvSpPr>
        <p:spPr>
          <a:xfrm>
            <a:off x="4572000" y="4572000"/>
            <a:ext cx="365760" cy="365760"/>
          </a:xfrm>
          <a:prstGeom prst="roundRect">
            <a:avLst>
              <a:gd name="adj" fmla="val 12500"/>
            </a:avLst>
          </a:prstGeom>
          <a:solidFill>
            <a:schemeClr val="accent1"/>
          </a:solidFill>
          <a:ln/>
        </p:spPr>
      </p:sp>
      <p:sp>
        <p:nvSpPr>
          <p:cNvPr id="15" name="Waffle 10"/>
          <p:cNvSpPr/>
          <p:nvPr/>
        </p:nvSpPr>
        <p:spPr>
          <a:xfrm>
            <a:off x="5029200" y="4572000"/>
            <a:ext cx="365760" cy="365760"/>
          </a:xfrm>
          <a:prstGeom prst="roundRect">
            <a:avLst>
              <a:gd name="adj" fmla="val 12500"/>
            </a:avLst>
          </a:prstGeom>
          <a:solidFill>
            <a:schemeClr val="accent1"/>
          </a:solidFill>
          <a:ln/>
        </p:spPr>
      </p:sp>
      <p:sp>
        <p:nvSpPr>
          <p:cNvPr id="16" name="Text 14"/>
          <p:cNvSpPr txBox="1"/>
          <p:nvPr/>
        </p:nvSpPr>
        <p:spPr>
          <a:xfrm>
            <a:off x="914400" y="5257800"/>
            <a:ext cx="4572000" cy="365760"/>
          </a:xfrm>
          <a:prstGeom prst="rect">
            <a:avLst/>
          </a:prstGeom>
          <a:noFill/>
          <a:ln/>
        </p:spPr>
        <p:txBody>
          <a:bodyPr wrap="square" lIns="0" tIns="0" rIns="0" bIns="0" rtlCol="0" anchor="ctr"/>
          <a:lstStyle/>
          <a:p>
            <a:pPr marL="0" indent="0">
              <a:buNone/>
            </a:pPr>
            <a:r>
              <a:rPr lang="en-US" sz="1300" dirty="0">
                <a:solidFill>
                  <a:schemeClr val="accent5"/>
                </a:solidFill>
              </a:rPr>
              <a:t>3 of every 10 units wasted  |  Source: U.S. EPA</a:t>
            </a:r>
            <a:endParaRPr lang="en-US" sz="1300" dirty="0"/>
          </a:p>
        </p:txBody>
      </p:sp>
      <p:sp>
        <p:nvSpPr>
          <p:cNvPr id="17" name="Text 15"/>
          <p:cNvSpPr txBox="1"/>
          <p:nvPr/>
        </p:nvSpPr>
        <p:spPr>
          <a:xfrm>
            <a:off x="6400800" y="1737360"/>
            <a:ext cx="5120640" cy="4114800"/>
          </a:xfrm>
          <a:prstGeom prst="rect">
            <a:avLst/>
          </a:prstGeom>
          <a:noFill/>
          <a:ln/>
        </p:spPr>
        <p:txBody>
          <a:bodyPr wrap="square" lIns="0" tIns="0" rIns="0" bIns="0" rtlCol="0" anchor="t"/>
          <a:lstStyle/>
          <a:p>
            <a:pPr marL="342900" indent="-342900">
              <a:spcAft>
                <a:spcPts val="1800"/>
              </a:spcAft>
              <a:buSzPct val="100000"/>
              <a:buChar char="•"/>
            </a:pPr>
            <a:r>
              <a:rPr lang="en-US" sz="2400" dirty="0">
                <a:solidFill>
                  <a:schemeClr val="bg1"/>
                </a:solidFill>
              </a:rPr>
              <a:t>Campuses run like mini-cities, 24/7</a:t>
            </a:r>
            <a:endParaRPr lang="en-US" sz="2400" dirty="0"/>
          </a:p>
          <a:p>
            <a:pPr marL="342900" indent="-342900">
              <a:spcAft>
                <a:spcPts val="1800"/>
              </a:spcAft>
              <a:buSzPct val="100000"/>
              <a:buChar char="•"/>
            </a:pPr>
            <a:r>
              <a:rPr lang="en-US" sz="2400" dirty="0">
                <a:solidFill>
                  <a:schemeClr val="bg1"/>
                </a:solidFill>
              </a:rPr>
              <a:t>HVAC and lighting stay on in empty rooms</a:t>
            </a:r>
            <a:endParaRPr lang="en-US" sz="2400" dirty="0"/>
          </a:p>
          <a:p>
            <a:pPr marL="342900" indent="-342900">
              <a:spcAft>
                <a:spcPts val="1800"/>
              </a:spcAft>
              <a:buSzPct val="100000"/>
              <a:buChar char="•"/>
            </a:pPr>
            <a:r>
              <a:rPr lang="en-US" sz="2400" dirty="0">
                <a:solidFill>
                  <a:schemeClr val="bg1"/>
                </a:solidFill>
              </a:rPr>
              <a:t>Waste is decentralized and hard to monitor</a:t>
            </a:r>
            <a:endParaRPr lang="en-US" sz="2400" dirty="0"/>
          </a:p>
          <a:p>
            <a:pPr marL="342900" indent="-342900">
              <a:spcAft>
                <a:spcPts val="1800"/>
              </a:spcAft>
              <a:buSzPct val="100000"/>
              <a:buChar char="•"/>
            </a:pPr>
            <a:r>
              <a:rPr lang="en-US" sz="2400" dirty="0">
                <a:solidFill>
                  <a:schemeClr val="bg1"/>
                </a:solidFill>
              </a:rPr>
              <a:t>Hits administrators, facility managers, and students</a:t>
            </a:r>
            <a:endParaRPr lang="en-US" sz="2400" dirty="0"/>
          </a:p>
        </p:txBody>
      </p:sp>
      <p:sp>
        <p:nvSpPr>
          <p:cNvPr id="2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3" presetID="10" presetClass="entr" presetSubtype="0" fill="hold" grpId="0" nodeType="withEffect">
                                  <p:stCondLst>
                                    <p:cond delay="21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childTnLst>
                                </p:cTn>
                              </p:par>
                              <p:par>
                                <p:cTn id="16" presetID="10" presetClass="entr" presetSubtype="0" fill="hold" grpId="0" nodeType="withEffect">
                                  <p:stCondLst>
                                    <p:cond delay="21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50"/>
                                        <p:tgtEl>
                                          <p:spTgt spid="5"/>
                                        </p:tgtEl>
                                      </p:cBhvr>
                                    </p:animEffect>
                                  </p:childTnLst>
                                </p:cTn>
                              </p:par>
                              <p:par>
                                <p:cTn id="20" presetID="2" presetClass="entr" presetSubtype="4" fill="hold" grpId="0" nodeType="withEffect">
                                  <p:stCondLst>
                                    <p:cond delay="21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50" fill="hold"/>
                                        <p:tgtEl>
                                          <p:spTgt spid="6"/>
                                        </p:tgtEl>
                                        <p:attrNameLst>
                                          <p:attrName>ppt_y</p:attrName>
                                        </p:attrNameLst>
                                      </p:cBhvr>
                                      <p:tavLst>
                                        <p:tav tm="0">
                                          <p:val>
                                            <p:strVal val="#ppt_y+0.07"/>
                                          </p:val>
                                        </p:tav>
                                        <p:tav tm="100000">
                                          <p:val>
                                            <p:strVal val="#ppt_y"/>
                                          </p:val>
                                        </p:tav>
                                      </p:tavLst>
                                    </p:anim>
                                    <p:animEffect transition="in" filter="fade">
                                      <p:cBhvr>
                                        <p:cTn id="19" dur="550"/>
                                        <p:tgtEl>
                                          <p:spTgt spid="6"/>
                                        </p:tgtEl>
                                      </p:cBhvr>
                                    </p:animEffect>
                                  </p:childTnLst>
                                </p:cTn>
                              </p:par>
                              <p:par>
                                <p:cTn id="24" presetID="2" presetClass="entr" presetSubtype="4" fill="hold" grpId="0" nodeType="withEffect">
                                  <p:stCondLst>
                                    <p:cond delay="21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50" fill="hold"/>
                                        <p:tgtEl>
                                          <p:spTgt spid="7"/>
                                        </p:tgtEl>
                                        <p:attrNameLst>
                                          <p:attrName>ppt_y</p:attrName>
                                        </p:attrNameLst>
                                      </p:cBhvr>
                                      <p:tavLst>
                                        <p:tav tm="0">
                                          <p:val>
                                            <p:strVal val="#ppt_y+0.07"/>
                                          </p:val>
                                        </p:tav>
                                        <p:tav tm="100000">
                                          <p:val>
                                            <p:strVal val="#ppt_y"/>
                                          </p:val>
                                        </p:tav>
                                      </p:tavLst>
                                    </p:anim>
                                    <p:animEffect transition="in" filter="fade">
                                      <p:cBhvr>
                                        <p:cTn id="23" dur="550"/>
                                        <p:tgtEl>
                                          <p:spTgt spid="7"/>
                                        </p:tgtEl>
                                      </p:cBhvr>
                                    </p:animEffect>
                                  </p:childTnLst>
                                </p:cTn>
                              </p:par>
                              <p:par>
                                <p:cTn id="28" presetID="2" presetClass="entr" presetSubtype="4" fill="hold" grpId="0" nodeType="withEffect">
                                  <p:stCondLst>
                                    <p:cond delay="21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50" fill="hold"/>
                                        <p:tgtEl>
                                          <p:spTgt spid="8"/>
                                        </p:tgtEl>
                                        <p:attrNameLst>
                                          <p:attrName>ppt_y</p:attrName>
                                        </p:attrNameLst>
                                      </p:cBhvr>
                                      <p:tavLst>
                                        <p:tav tm="0">
                                          <p:val>
                                            <p:strVal val="#ppt_y+0.07"/>
                                          </p:val>
                                        </p:tav>
                                        <p:tav tm="100000">
                                          <p:val>
                                            <p:strVal val="#ppt_y"/>
                                          </p:val>
                                        </p:tav>
                                      </p:tavLst>
                                    </p:anim>
                                    <p:animEffect transition="in" filter="fade">
                                      <p:cBhvr>
                                        <p:cTn id="27" dur="550"/>
                                        <p:tgtEl>
                                          <p:spTgt spid="8"/>
                                        </p:tgtEl>
                                      </p:cBhvr>
                                    </p:animEffect>
                                  </p:childTnLst>
                                </p:cTn>
                              </p:par>
                              <p:par>
                                <p:cTn id="32" presetID="2" presetClass="entr" presetSubtype="4" fill="hold" grpId="0" nodeType="withEffect">
                                  <p:stCondLst>
                                    <p:cond delay="21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50" fill="hold"/>
                                        <p:tgtEl>
                                          <p:spTgt spid="9"/>
                                        </p:tgtEl>
                                        <p:attrNameLst>
                                          <p:attrName>ppt_y</p:attrName>
                                        </p:attrNameLst>
                                      </p:cBhvr>
                                      <p:tavLst>
                                        <p:tav tm="0">
                                          <p:val>
                                            <p:strVal val="#ppt_y+0.07"/>
                                          </p:val>
                                        </p:tav>
                                        <p:tav tm="100000">
                                          <p:val>
                                            <p:strVal val="#ppt_y"/>
                                          </p:val>
                                        </p:tav>
                                      </p:tavLst>
                                    </p:anim>
                                    <p:animEffect transition="in" filter="fade">
                                      <p:cBhvr>
                                        <p:cTn id="31" dur="550"/>
                                        <p:tgtEl>
                                          <p:spTgt spid="9"/>
                                        </p:tgtEl>
                                      </p:cBhvr>
                                    </p:animEffect>
                                  </p:childTnLst>
                                </p:cTn>
                              </p:par>
                              <p:par>
                                <p:cTn id="36" presetID="2" presetClass="entr" presetSubtype="4" fill="hold" grpId="0" nodeType="withEffect">
                                  <p:stCondLst>
                                    <p:cond delay="21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50" fill="hold"/>
                                        <p:tgtEl>
                                          <p:spTgt spid="10"/>
                                        </p:tgtEl>
                                        <p:attrNameLst>
                                          <p:attrName>ppt_y</p:attrName>
                                        </p:attrNameLst>
                                      </p:cBhvr>
                                      <p:tavLst>
                                        <p:tav tm="0">
                                          <p:val>
                                            <p:strVal val="#ppt_y+0.07"/>
                                          </p:val>
                                        </p:tav>
                                        <p:tav tm="100000">
                                          <p:val>
                                            <p:strVal val="#ppt_y"/>
                                          </p:val>
                                        </p:tav>
                                      </p:tavLst>
                                    </p:anim>
                                    <p:animEffect transition="in" filter="fade">
                                      <p:cBhvr>
                                        <p:cTn id="35" dur="550"/>
                                        <p:tgtEl>
                                          <p:spTgt spid="10"/>
                                        </p:tgtEl>
                                      </p:cBhvr>
                                    </p:animEffect>
                                  </p:childTnLst>
                                </p:cTn>
                              </p:par>
                              <p:par>
                                <p:cTn id="40" presetID="2" presetClass="entr" presetSubtype="4" fill="hold" grpId="0" nodeType="withEffect">
                                  <p:stCondLst>
                                    <p:cond delay="21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50" fill="hold"/>
                                        <p:tgtEl>
                                          <p:spTgt spid="11"/>
                                        </p:tgtEl>
                                        <p:attrNameLst>
                                          <p:attrName>ppt_y</p:attrName>
                                        </p:attrNameLst>
                                      </p:cBhvr>
                                      <p:tavLst>
                                        <p:tav tm="0">
                                          <p:val>
                                            <p:strVal val="#ppt_y+0.07"/>
                                          </p:val>
                                        </p:tav>
                                        <p:tav tm="100000">
                                          <p:val>
                                            <p:strVal val="#ppt_y"/>
                                          </p:val>
                                        </p:tav>
                                      </p:tavLst>
                                    </p:anim>
                                    <p:animEffect transition="in" filter="fade">
                                      <p:cBhvr>
                                        <p:cTn id="39" dur="550"/>
                                        <p:tgtEl>
                                          <p:spTgt spid="11"/>
                                        </p:tgtEl>
                                      </p:cBhvr>
                                    </p:animEffect>
                                  </p:childTnLst>
                                </p:cTn>
                              </p:par>
                              <p:par>
                                <p:cTn id="44" presetID="2" presetClass="entr" presetSubtype="4" fill="hold" grpId="0" nodeType="withEffect">
                                  <p:stCondLst>
                                    <p:cond delay="21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50" fill="hold"/>
                                        <p:tgtEl>
                                          <p:spTgt spid="12"/>
                                        </p:tgtEl>
                                        <p:attrNameLst>
                                          <p:attrName>ppt_y</p:attrName>
                                        </p:attrNameLst>
                                      </p:cBhvr>
                                      <p:tavLst>
                                        <p:tav tm="0">
                                          <p:val>
                                            <p:strVal val="#ppt_y+0.07"/>
                                          </p:val>
                                        </p:tav>
                                        <p:tav tm="100000">
                                          <p:val>
                                            <p:strVal val="#ppt_y"/>
                                          </p:val>
                                        </p:tav>
                                      </p:tavLst>
                                    </p:anim>
                                    <p:animEffect transition="in" filter="fade">
                                      <p:cBhvr>
                                        <p:cTn id="43" dur="550"/>
                                        <p:tgtEl>
                                          <p:spTgt spid="12"/>
                                        </p:tgtEl>
                                      </p:cBhvr>
                                    </p:animEffect>
                                  </p:childTnLst>
                                </p:cTn>
                              </p:par>
                              <p:par>
                                <p:cTn id="48" presetID="2" presetClass="entr" presetSubtype="4" fill="hold" grpId="0" nodeType="withEffect">
                                  <p:stCondLst>
                                    <p:cond delay="21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50" fill="hold"/>
                                        <p:tgtEl>
                                          <p:spTgt spid="13"/>
                                        </p:tgtEl>
                                        <p:attrNameLst>
                                          <p:attrName>ppt_y</p:attrName>
                                        </p:attrNameLst>
                                      </p:cBhvr>
                                      <p:tavLst>
                                        <p:tav tm="0">
                                          <p:val>
                                            <p:strVal val="#ppt_y+0.07"/>
                                          </p:val>
                                        </p:tav>
                                        <p:tav tm="100000">
                                          <p:val>
                                            <p:strVal val="#ppt_y"/>
                                          </p:val>
                                        </p:tav>
                                      </p:tavLst>
                                    </p:anim>
                                    <p:animEffect transition="in" filter="fade">
                                      <p:cBhvr>
                                        <p:cTn id="47" dur="550"/>
                                        <p:tgtEl>
                                          <p:spTgt spid="13"/>
                                        </p:tgtEl>
                                      </p:cBhvr>
                                    </p:animEffect>
                                  </p:childTnLst>
                                </p:cTn>
                              </p:par>
                              <p:par>
                                <p:cTn id="52" presetID="2" presetClass="entr" presetSubtype="4" fill="hold" grpId="0" nodeType="withEffect">
                                  <p:stCondLst>
                                    <p:cond delay="21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50" fill="hold"/>
                                        <p:tgtEl>
                                          <p:spTgt spid="14"/>
                                        </p:tgtEl>
                                        <p:attrNameLst>
                                          <p:attrName>ppt_y</p:attrName>
                                        </p:attrNameLst>
                                      </p:cBhvr>
                                      <p:tavLst>
                                        <p:tav tm="0">
                                          <p:val>
                                            <p:strVal val="#ppt_y+0.07"/>
                                          </p:val>
                                        </p:tav>
                                        <p:tav tm="100000">
                                          <p:val>
                                            <p:strVal val="#ppt_y"/>
                                          </p:val>
                                        </p:tav>
                                      </p:tavLst>
                                    </p:anim>
                                    <p:animEffect transition="in" filter="fade">
                                      <p:cBhvr>
                                        <p:cTn id="51" dur="550"/>
                                        <p:tgtEl>
                                          <p:spTgt spid="14"/>
                                        </p:tgtEl>
                                      </p:cBhvr>
                                    </p:animEffect>
                                  </p:childTnLst>
                                </p:cTn>
                              </p:par>
                              <p:par>
                                <p:cTn id="56" presetID="2" presetClass="entr" presetSubtype="4" fill="hold" grpId="0" nodeType="withEffect">
                                  <p:stCondLst>
                                    <p:cond delay="21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50" fill="hold"/>
                                        <p:tgtEl>
                                          <p:spTgt spid="15"/>
                                        </p:tgtEl>
                                        <p:attrNameLst>
                                          <p:attrName>ppt_y</p:attrName>
                                        </p:attrNameLst>
                                      </p:cBhvr>
                                      <p:tavLst>
                                        <p:tav tm="0">
                                          <p:val>
                                            <p:strVal val="#ppt_y+0.07"/>
                                          </p:val>
                                        </p:tav>
                                        <p:tav tm="100000">
                                          <p:val>
                                            <p:strVal val="#ppt_y"/>
                                          </p:val>
                                        </p:tav>
                                      </p:tavLst>
                                    </p:anim>
                                    <p:animEffect transition="in" filter="fade">
                                      <p:cBhvr>
                                        <p:cTn id="55" dur="550"/>
                                        <p:tgtEl>
                                          <p:spTgt spid="15"/>
                                        </p:tgtEl>
                                      </p:cBhvr>
                                    </p:animEffect>
                                  </p:childTnLst>
                                </p:cTn>
                              </p:par>
                              <p:par>
                                <p:cTn id="59" presetID="10" presetClass="entr" presetSubtype="0" fill="hold" grpId="0" nodeType="withEffect">
                                  <p:stCondLst>
                                    <p:cond delay="21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par>
                                <p:cTn id="63" presetID="2" presetClass="entr" presetSubtype="4" fill="hold" grpId="0" nodeType="withEffect">
                                  <p:stCondLst>
                                    <p:cond delay="30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50" fill="hold"/>
                                        <p:tgtEl>
                                          <p:spTgt spid="17"/>
                                        </p:tgtEl>
                                        <p:attrNameLst>
                                          <p:attrName>ppt_y</p:attrName>
                                        </p:attrNameLst>
                                      </p:cBhvr>
                                      <p:tavLst>
                                        <p:tav tm="0">
                                          <p:val>
                                            <p:strVal val="#ppt_y+0.07"/>
                                          </p:val>
                                        </p:tav>
                                        <p:tav tm="100000">
                                          <p:val>
                                            <p:strVal val="#ppt_y"/>
                                          </p:val>
                                        </p:tav>
                                      </p:tavLst>
                                    </p:anim>
                                    <p:animEffect transition="in" filter="fade">
                                      <p:cBhvr>
                                        <p:cTn id="62" dur="5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tx1"/>
                </a:solidFill>
              </a:rPr>
              <a:t>Existing solutions leave gaps</a:t>
            </a:r>
            <a:endParaRPr lang="en-US" sz="3600" dirty="0"/>
          </a:p>
        </p:txBody>
      </p:sp>
      <p:sp>
        <p:nvSpPr>
          <p:cNvPr id="3" name="Static BMS card"/>
          <p:cNvSpPr/>
          <p:nvPr/>
        </p:nvSpPr>
        <p:spPr>
          <a:xfrm>
            <a:off x="640080" y="1600200"/>
            <a:ext cx="3429000" cy="3474720"/>
          </a:xfrm>
          <a:prstGeom prst="roundRect">
            <a:avLst>
              <a:gd name="adj" fmla="val 4000"/>
            </a:avLst>
          </a:prstGeom>
          <a:solidFill>
            <a:schemeClr val="bg2"/>
          </a:solidFill>
          <a:ln/>
        </p:spPr>
      </p:sp>
      <p:sp>
        <p:nvSpPr>
          <p:cNvPr id="4" name="Static BMS circle"/>
          <p:cNvSpPr/>
          <p:nvPr/>
        </p:nvSpPr>
        <p:spPr>
          <a:xfrm>
            <a:off x="914400" y="1874520"/>
            <a:ext cx="822960" cy="822960"/>
          </a:xfrm>
          <a:prstGeom prst="ellipse">
            <a:avLst/>
          </a:prstGeom>
          <a:solidFill>
            <a:schemeClr val="accent1"/>
          </a:solidFill>
          <a:ln/>
        </p:spPr>
      </p:sp>
      <p:pic>
        <p:nvPicPr>
          <p:cNvPr id="5" name="Image 0" descr="Static BMS"/>
          <p:cNvPicPr>
            <a:picLocks noChangeAspect="1"/>
          </p:cNvPicPr>
          <p:nvPr/>
        </p:nvPicPr>
        <p:blipFill>
          <a:blip r:embed="rId3"/>
          <a:stretch>
            <a:fillRect/>
          </a:stretch>
        </p:blipFill>
        <p:spPr>
          <a:xfrm>
            <a:off x="1120140" y="2080260"/>
            <a:ext cx="411480" cy="411480"/>
          </a:xfrm>
          <a:prstGeom prst="rect">
            <a:avLst/>
          </a:prstGeom>
        </p:spPr>
      </p:pic>
      <p:sp>
        <p:nvSpPr>
          <p:cNvPr id="6" name="Text 3"/>
          <p:cNvSpPr txBox="1"/>
          <p:nvPr/>
        </p:nvSpPr>
        <p:spPr>
          <a:xfrm>
            <a:off x="960120" y="2926080"/>
            <a:ext cx="2788920" cy="457200"/>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Static BMS</a:t>
            </a:r>
            <a:endParaRPr lang="en-US" sz="2200" dirty="0"/>
          </a:p>
        </p:txBody>
      </p:sp>
      <p:sp>
        <p:nvSpPr>
          <p:cNvPr id="7" name="Text 4"/>
          <p:cNvSpPr txBox="1"/>
          <p:nvPr/>
        </p:nvSpPr>
        <p:spPr>
          <a:xfrm>
            <a:off x="960120" y="3429000"/>
            <a:ext cx="2788920" cy="640080"/>
          </a:xfrm>
          <a:prstGeom prst="rect">
            <a:avLst/>
          </a:prstGeom>
          <a:noFill/>
          <a:ln/>
        </p:spPr>
        <p:txBody>
          <a:bodyPr wrap="square" lIns="0" tIns="0" rIns="0" bIns="0" rtlCol="0" anchor="t"/>
          <a:lstStyle/>
          <a:p>
            <a:pPr marL="0" indent="0">
              <a:buNone/>
            </a:pPr>
            <a:r>
              <a:rPr lang="en-US" sz="1600" dirty="0">
                <a:solidFill>
                  <a:schemeClr val="tx2"/>
                </a:solidFill>
              </a:rPr>
              <a:t>Runs on fixed schedules</a:t>
            </a:r>
            <a:endParaRPr lang="en-US" sz="1600" dirty="0"/>
          </a:p>
        </p:txBody>
      </p:sp>
      <p:sp>
        <p:nvSpPr>
          <p:cNvPr id="8" name="Static BMS gap"/>
          <p:cNvSpPr txBox="1"/>
          <p:nvPr/>
        </p:nvSpPr>
        <p:spPr>
          <a:xfrm>
            <a:off x="960120" y="4297680"/>
            <a:ext cx="2788920" cy="502920"/>
          </a:xfrm>
          <a:prstGeom prst="roundRect">
            <a:avLst>
              <a:gd name="adj" fmla="val 14545"/>
            </a:avLst>
          </a:prstGeom>
          <a:solidFill>
            <a:schemeClr val="accent4"/>
          </a:solidFill>
          <a:ln/>
        </p:spPr>
        <p:txBody>
          <a:bodyPr wrap="square" lIns="635" tIns="635" rIns="635" bIns="635" rtlCol="0" anchor="ctr"/>
          <a:lstStyle/>
          <a:p>
            <a:pPr marL="0" indent="0" algn="ctr">
              <a:buNone/>
            </a:pPr>
            <a:r>
              <a:rPr lang="en-US" sz="1400" b="1" dirty="0">
                <a:solidFill>
                  <a:schemeClr val="tx1"/>
                </a:solidFill>
              </a:rPr>
              <a:t>Gap: ignores real occupancy</a:t>
            </a:r>
            <a:endParaRPr lang="en-US" sz="1400" dirty="0"/>
          </a:p>
        </p:txBody>
      </p:sp>
      <p:sp>
        <p:nvSpPr>
          <p:cNvPr id="9" name="Manual monitoring card"/>
          <p:cNvSpPr/>
          <p:nvPr/>
        </p:nvSpPr>
        <p:spPr>
          <a:xfrm>
            <a:off x="4379976" y="1600200"/>
            <a:ext cx="3429000" cy="3474720"/>
          </a:xfrm>
          <a:prstGeom prst="roundRect">
            <a:avLst>
              <a:gd name="adj" fmla="val 4000"/>
            </a:avLst>
          </a:prstGeom>
          <a:solidFill>
            <a:schemeClr val="bg2"/>
          </a:solidFill>
          <a:ln/>
        </p:spPr>
      </p:sp>
      <p:sp>
        <p:nvSpPr>
          <p:cNvPr id="10" name="Manual monitoring circle"/>
          <p:cNvSpPr/>
          <p:nvPr/>
        </p:nvSpPr>
        <p:spPr>
          <a:xfrm>
            <a:off x="4654296" y="1874520"/>
            <a:ext cx="822960" cy="822960"/>
          </a:xfrm>
          <a:prstGeom prst="ellipse">
            <a:avLst/>
          </a:prstGeom>
          <a:solidFill>
            <a:schemeClr val="accent1"/>
          </a:solidFill>
          <a:ln/>
        </p:spPr>
      </p:sp>
      <p:pic>
        <p:nvPicPr>
          <p:cNvPr id="11" name="Image 1" descr="Manual monitoring"/>
          <p:cNvPicPr>
            <a:picLocks noChangeAspect="1"/>
          </p:cNvPicPr>
          <p:nvPr/>
        </p:nvPicPr>
        <p:blipFill>
          <a:blip r:embed="rId4"/>
          <a:stretch>
            <a:fillRect/>
          </a:stretch>
        </p:blipFill>
        <p:spPr>
          <a:xfrm>
            <a:off x="4860036" y="2080260"/>
            <a:ext cx="411480" cy="411480"/>
          </a:xfrm>
          <a:prstGeom prst="rect">
            <a:avLst/>
          </a:prstGeom>
        </p:spPr>
      </p:pic>
      <p:sp>
        <p:nvSpPr>
          <p:cNvPr id="12" name="Text 8"/>
          <p:cNvSpPr txBox="1"/>
          <p:nvPr/>
        </p:nvSpPr>
        <p:spPr>
          <a:xfrm>
            <a:off x="4700016" y="2926080"/>
            <a:ext cx="2788920" cy="457200"/>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Manual monitoring</a:t>
            </a:r>
            <a:endParaRPr lang="en-US" sz="2200" dirty="0"/>
          </a:p>
        </p:txBody>
      </p:sp>
      <p:sp>
        <p:nvSpPr>
          <p:cNvPr id="13" name="Text 9"/>
          <p:cNvSpPr txBox="1"/>
          <p:nvPr/>
        </p:nvSpPr>
        <p:spPr>
          <a:xfrm>
            <a:off x="4700016" y="3429000"/>
            <a:ext cx="2788920" cy="640080"/>
          </a:xfrm>
          <a:prstGeom prst="rect">
            <a:avLst/>
          </a:prstGeom>
          <a:noFill/>
          <a:ln/>
        </p:spPr>
        <p:txBody>
          <a:bodyPr wrap="square" lIns="0" tIns="0" rIns="0" bIns="0" rtlCol="0" anchor="t"/>
          <a:lstStyle/>
          <a:p>
            <a:pPr marL="0" indent="0">
              <a:buNone/>
            </a:pPr>
            <a:r>
              <a:rPr lang="en-US" sz="1600" dirty="0">
                <a:solidFill>
                  <a:schemeClr val="tx2"/>
                </a:solidFill>
              </a:rPr>
              <a:t>Staff check rooms and bins by hand</a:t>
            </a:r>
            <a:endParaRPr lang="en-US" sz="1600" dirty="0"/>
          </a:p>
        </p:txBody>
      </p:sp>
      <p:sp>
        <p:nvSpPr>
          <p:cNvPr id="14" name="Manual monitoring gap"/>
          <p:cNvSpPr txBox="1"/>
          <p:nvPr/>
        </p:nvSpPr>
        <p:spPr>
          <a:xfrm>
            <a:off x="4700016" y="4297680"/>
            <a:ext cx="2788920" cy="502920"/>
          </a:xfrm>
          <a:prstGeom prst="roundRect">
            <a:avLst>
              <a:gd name="adj" fmla="val 14545"/>
            </a:avLst>
          </a:prstGeom>
          <a:solidFill>
            <a:schemeClr val="accent4"/>
          </a:solidFill>
          <a:ln/>
        </p:spPr>
        <p:txBody>
          <a:bodyPr wrap="square" lIns="635" tIns="635" rIns="635" bIns="635" rtlCol="0" anchor="ctr"/>
          <a:lstStyle/>
          <a:p>
            <a:pPr marL="0" indent="0" algn="ctr">
              <a:buNone/>
            </a:pPr>
            <a:r>
              <a:rPr lang="en-US" sz="1400" b="1" dirty="0">
                <a:solidFill>
                  <a:schemeClr val="tx1"/>
                </a:solidFill>
              </a:rPr>
              <a:t>Gap: reactive and labor-heavy</a:t>
            </a:r>
            <a:endParaRPr lang="en-US" sz="1400" dirty="0"/>
          </a:p>
        </p:txBody>
      </p:sp>
      <p:sp>
        <p:nvSpPr>
          <p:cNvPr id="15" name="Siloed tools card"/>
          <p:cNvSpPr/>
          <p:nvPr/>
        </p:nvSpPr>
        <p:spPr>
          <a:xfrm>
            <a:off x="8119872" y="1600200"/>
            <a:ext cx="3429000" cy="3474720"/>
          </a:xfrm>
          <a:prstGeom prst="roundRect">
            <a:avLst>
              <a:gd name="adj" fmla="val 4000"/>
            </a:avLst>
          </a:prstGeom>
          <a:solidFill>
            <a:schemeClr val="bg2"/>
          </a:solidFill>
          <a:ln/>
        </p:spPr>
      </p:sp>
      <p:sp>
        <p:nvSpPr>
          <p:cNvPr id="16" name="Siloed tools circle"/>
          <p:cNvSpPr/>
          <p:nvPr/>
        </p:nvSpPr>
        <p:spPr>
          <a:xfrm>
            <a:off x="8394192" y="1874520"/>
            <a:ext cx="822960" cy="822960"/>
          </a:xfrm>
          <a:prstGeom prst="ellipse">
            <a:avLst/>
          </a:prstGeom>
          <a:solidFill>
            <a:schemeClr val="accent1"/>
          </a:solidFill>
          <a:ln/>
        </p:spPr>
      </p:sp>
      <p:pic>
        <p:nvPicPr>
          <p:cNvPr id="17" name="Image 2" descr="Siloed tools"/>
          <p:cNvPicPr>
            <a:picLocks noChangeAspect="1"/>
          </p:cNvPicPr>
          <p:nvPr/>
        </p:nvPicPr>
        <p:blipFill>
          <a:blip r:embed="rId5"/>
          <a:stretch>
            <a:fillRect/>
          </a:stretch>
        </p:blipFill>
        <p:spPr>
          <a:xfrm>
            <a:off x="8599932" y="2080260"/>
            <a:ext cx="411480" cy="411480"/>
          </a:xfrm>
          <a:prstGeom prst="rect">
            <a:avLst/>
          </a:prstGeom>
        </p:spPr>
      </p:pic>
      <p:sp>
        <p:nvSpPr>
          <p:cNvPr id="18" name="Text 13"/>
          <p:cNvSpPr txBox="1"/>
          <p:nvPr/>
        </p:nvSpPr>
        <p:spPr>
          <a:xfrm>
            <a:off x="8439912" y="2926080"/>
            <a:ext cx="2788920" cy="457200"/>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Siloed tools</a:t>
            </a:r>
            <a:endParaRPr lang="en-US" sz="2200" dirty="0"/>
          </a:p>
        </p:txBody>
      </p:sp>
      <p:sp>
        <p:nvSpPr>
          <p:cNvPr id="19" name="Text 14"/>
          <p:cNvSpPr txBox="1"/>
          <p:nvPr/>
        </p:nvSpPr>
        <p:spPr>
          <a:xfrm>
            <a:off x="8439912" y="3429000"/>
            <a:ext cx="2788920" cy="640080"/>
          </a:xfrm>
          <a:prstGeom prst="rect">
            <a:avLst/>
          </a:prstGeom>
          <a:noFill/>
          <a:ln/>
        </p:spPr>
        <p:txBody>
          <a:bodyPr wrap="square" lIns="0" tIns="0" rIns="0" bIns="0" rtlCol="0" anchor="t"/>
          <a:lstStyle/>
          <a:p>
            <a:pPr marL="0" indent="0">
              <a:buNone/>
            </a:pPr>
            <a:r>
              <a:rPr lang="en-US" sz="1600" dirty="0">
                <a:solidFill>
                  <a:schemeClr val="tx2"/>
                </a:solidFill>
              </a:rPr>
              <a:t>Energy, waste, engagement kept separate</a:t>
            </a:r>
            <a:endParaRPr lang="en-US" sz="1600" dirty="0"/>
          </a:p>
        </p:txBody>
      </p:sp>
      <p:sp>
        <p:nvSpPr>
          <p:cNvPr id="20" name="Siloed tools gap"/>
          <p:cNvSpPr txBox="1"/>
          <p:nvPr/>
        </p:nvSpPr>
        <p:spPr>
          <a:xfrm>
            <a:off x="8439912" y="4297680"/>
            <a:ext cx="2788920" cy="502920"/>
          </a:xfrm>
          <a:prstGeom prst="roundRect">
            <a:avLst>
              <a:gd name="adj" fmla="val 14545"/>
            </a:avLst>
          </a:prstGeom>
          <a:solidFill>
            <a:schemeClr val="accent4"/>
          </a:solidFill>
          <a:ln/>
        </p:spPr>
        <p:txBody>
          <a:bodyPr wrap="square" lIns="635" tIns="635" rIns="635" bIns="635" rtlCol="0" anchor="ctr"/>
          <a:lstStyle/>
          <a:p>
            <a:pPr marL="0" indent="0" algn="ctr">
              <a:buNone/>
            </a:pPr>
            <a:r>
              <a:rPr lang="en-US" sz="1400" b="1" dirty="0">
                <a:solidFill>
                  <a:schemeClr val="tx1"/>
                </a:solidFill>
              </a:rPr>
              <a:t>Gap: no unified predictive view</a:t>
            </a:r>
            <a:endParaRPr lang="en-US" sz="1400" dirty="0"/>
          </a:p>
        </p:txBody>
      </p:sp>
      <p:sp>
        <p:nvSpPr>
          <p:cNvPr id="21" name="Takeaway banner"/>
          <p:cNvSpPr/>
          <p:nvPr/>
        </p:nvSpPr>
        <p:spPr>
          <a:xfrm>
            <a:off x="640080" y="5349240"/>
            <a:ext cx="10908792" cy="777240"/>
          </a:xfrm>
          <a:prstGeom prst="roundRect">
            <a:avLst>
              <a:gd name="adj" fmla="val 11765"/>
            </a:avLst>
          </a:prstGeom>
          <a:solidFill>
            <a:schemeClr val="tx1"/>
          </a:solidFill>
          <a:ln/>
        </p:spPr>
      </p:sp>
      <p:sp>
        <p:nvSpPr>
          <p:cNvPr id="22" name="Text 17"/>
          <p:cNvSpPr txBox="1"/>
          <p:nvPr/>
        </p:nvSpPr>
        <p:spPr>
          <a:xfrm>
            <a:off x="914400" y="5349240"/>
            <a:ext cx="10332720" cy="777240"/>
          </a:xfrm>
          <a:prstGeom prst="rect">
            <a:avLst/>
          </a:prstGeom>
          <a:noFill/>
          <a:ln/>
        </p:spPr>
        <p:txBody>
          <a:bodyPr wrap="square" lIns="0" tIns="0" rIns="0" bIns="0" rtlCol="0" anchor="ctr"/>
          <a:lstStyle/>
          <a:p>
            <a:pPr marL="0" indent="0">
              <a:buNone/>
            </a:pPr>
            <a:r>
              <a:rPr lang="en-US" sz="2200" b="1" dirty="0">
                <a:solidFill>
                  <a:schemeClr val="bg1"/>
                </a:solidFill>
              </a:rPr>
              <a:t>Result: waste is discovered after it happens, not before</a:t>
            </a:r>
            <a:endParaRPr lang="en-US" sz="2200" dirty="0"/>
          </a:p>
        </p:txBody>
      </p:sp>
      <p:sp>
        <p:nvSpPr>
          <p:cNvPr id="2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8"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5" presetID="53" presetClass="entr" presetSubtype="16" fill="hold" grpId="0" nodeType="withEffect">
                                  <p:stCondLst>
                                    <p:cond delay="21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ppt_w</p:attrName>
                                        </p:attrNameLst>
                                      </p:cBhvr>
                                      <p:tavLst>
                                        <p:tav tm="0">
                                          <p:val>
                                            <p:fltVal val="0"/>
                                          </p:val>
                                        </p:tav>
                                        <p:tav tm="100000">
                                          <p:val>
                                            <p:strVal val="#ppt_w"/>
                                          </p:val>
                                        </p:tav>
                                      </p:tavLst>
                                    </p:anim>
                                    <p:anim calcmode="lin" valueType="num">
                                      <p:cBhvr additive="base">
                                        <p:cTn id="13" dur="550" fill="hold"/>
                                        <p:tgtEl>
                                          <p:spTgt spid="4"/>
                                        </p:tgtEl>
                                        <p:attrNameLst>
                                          <p:attrName>ppt_h</p:attrName>
                                        </p:attrNameLst>
                                      </p:cBhvr>
                                      <p:tavLst>
                                        <p:tav tm="0">
                                          <p:val>
                                            <p:fltVal val="0"/>
                                          </p:val>
                                        </p:tav>
                                        <p:tav tm="100000">
                                          <p:val>
                                            <p:strVal val="#ppt_h"/>
                                          </p:val>
                                        </p:tav>
                                      </p:tavLst>
                                    </p:anim>
                                    <p:animEffect transition="in" filter="fade">
                                      <p:cBhvr>
                                        <p:cTn id="14" dur="550"/>
                                        <p:tgtEl>
                                          <p:spTgt spid="4"/>
                                        </p:tgtEl>
                                      </p:cBhvr>
                                    </p:animEffect>
                                  </p:childTnLst>
                                </p:cTn>
                              </p:par>
                              <p:par>
                                <p:cTn id="20" presetID="53" presetClass="entr" presetSubtype="16" fill="hold" grpId="0" nodeType="withEffect">
                                  <p:stCondLst>
                                    <p:cond delay="21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3" presetID="10" presetClass="entr" presetSubtype="0" fill="hold" grpId="0" nodeType="withEffect">
                                  <p:stCondLst>
                                    <p:cond delay="2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childTnLst>
                                </p:cTn>
                              </p:par>
                              <p:par>
                                <p:cTn id="26" presetID="10" presetClass="entr" presetSubtype="0" fill="hold" grpId="0" nodeType="withEffect">
                                  <p:stCondLst>
                                    <p:cond delay="21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50"/>
                                        <p:tgtEl>
                                          <p:spTgt spid="7"/>
                                        </p:tgtEl>
                                      </p:cBhvr>
                                    </p:animEffect>
                                  </p:childTnLst>
                                </p:cTn>
                              </p:par>
                              <p:par>
                                <p:cTn id="30" presetID="2" presetClass="entr" presetSubtype="4" fill="hold" grpId="0" nodeType="withEffect">
                                  <p:stCondLst>
                                    <p:cond delay="21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50" fill="hold"/>
                                        <p:tgtEl>
                                          <p:spTgt spid="8"/>
                                        </p:tgtEl>
                                        <p:attrNameLst>
                                          <p:attrName>ppt_y</p:attrName>
                                        </p:attrNameLst>
                                      </p:cBhvr>
                                      <p:tavLst>
                                        <p:tav tm="0">
                                          <p:val>
                                            <p:strVal val="#ppt_y+0.07"/>
                                          </p:val>
                                        </p:tav>
                                        <p:tav tm="100000">
                                          <p:val>
                                            <p:strVal val="#ppt_y"/>
                                          </p:val>
                                        </p:tav>
                                      </p:tavLst>
                                    </p:anim>
                                    <p:animEffect transition="in" filter="fade">
                                      <p:cBhvr>
                                        <p:cTn id="29" dur="550"/>
                                        <p:tgtEl>
                                          <p:spTgt spid="8"/>
                                        </p:tgtEl>
                                      </p:cBhvr>
                                    </p:animEffect>
                                  </p:childTnLst>
                                </p:cTn>
                              </p:par>
                              <p:par>
                                <p:cTn id="35" presetID="53" presetClass="entr" presetSubtype="16"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50" fill="hold"/>
                                        <p:tgtEl>
                                          <p:spTgt spid="9"/>
                                        </p:tgtEl>
                                        <p:attrNameLst>
                                          <p:attrName>ppt_w</p:attrName>
                                        </p:attrNameLst>
                                      </p:cBhvr>
                                      <p:tavLst>
                                        <p:tav tm="0">
                                          <p:val>
                                            <p:fltVal val="0"/>
                                          </p:val>
                                        </p:tav>
                                        <p:tav tm="100000">
                                          <p:val>
                                            <p:strVal val="#ppt_w"/>
                                          </p:val>
                                        </p:tav>
                                      </p:tavLst>
                                    </p:anim>
                                    <p:anim calcmode="lin" valueType="num">
                                      <p:cBhvr additive="base">
                                        <p:cTn id="33" dur="550" fill="hold"/>
                                        <p:tgtEl>
                                          <p:spTgt spid="9"/>
                                        </p:tgtEl>
                                        <p:attrNameLst>
                                          <p:attrName>ppt_h</p:attrName>
                                        </p:attrNameLst>
                                      </p:cBhvr>
                                      <p:tavLst>
                                        <p:tav tm="0">
                                          <p:val>
                                            <p:fltVal val="0"/>
                                          </p:val>
                                        </p:tav>
                                        <p:tav tm="100000">
                                          <p:val>
                                            <p:strVal val="#ppt_h"/>
                                          </p:val>
                                        </p:tav>
                                      </p:tavLst>
                                    </p:anim>
                                    <p:animEffect transition="in" filter="fade">
                                      <p:cBhvr>
                                        <p:cTn id="34" dur="550"/>
                                        <p:tgtEl>
                                          <p:spTgt spid="9"/>
                                        </p:tgtEl>
                                      </p:cBhvr>
                                    </p:animEffect>
                                  </p:childTnLst>
                                </p:cTn>
                              </p:par>
                              <p:par>
                                <p:cTn id="40" presetID="53" presetClass="entr" presetSubtype="16" fill="hold" grpId="0" nodeType="withEffect">
                                  <p:stCondLst>
                                    <p:cond delay="36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50" fill="hold"/>
                                        <p:tgtEl>
                                          <p:spTgt spid="10"/>
                                        </p:tgtEl>
                                        <p:attrNameLst>
                                          <p:attrName>ppt_w</p:attrName>
                                        </p:attrNameLst>
                                      </p:cBhvr>
                                      <p:tavLst>
                                        <p:tav tm="0">
                                          <p:val>
                                            <p:fltVal val="0"/>
                                          </p:val>
                                        </p:tav>
                                        <p:tav tm="100000">
                                          <p:val>
                                            <p:strVal val="#ppt_w"/>
                                          </p:val>
                                        </p:tav>
                                      </p:tavLst>
                                    </p:anim>
                                    <p:anim calcmode="lin" valueType="num">
                                      <p:cBhvr additive="base">
                                        <p:cTn id="38" dur="550" fill="hold"/>
                                        <p:tgtEl>
                                          <p:spTgt spid="10"/>
                                        </p:tgtEl>
                                        <p:attrNameLst>
                                          <p:attrName>ppt_h</p:attrName>
                                        </p:attrNameLst>
                                      </p:cBhvr>
                                      <p:tavLst>
                                        <p:tav tm="0">
                                          <p:val>
                                            <p:fltVal val="0"/>
                                          </p:val>
                                        </p:tav>
                                        <p:tav tm="100000">
                                          <p:val>
                                            <p:strVal val="#ppt_h"/>
                                          </p:val>
                                        </p:tav>
                                      </p:tavLst>
                                    </p:anim>
                                    <p:animEffect transition="in" filter="fade">
                                      <p:cBhvr>
                                        <p:cTn id="39" dur="550"/>
                                        <p:tgtEl>
                                          <p:spTgt spid="10"/>
                                        </p:tgtEl>
                                      </p:cBhvr>
                                    </p:animEffect>
                                  </p:childTnLst>
                                </p:cTn>
                              </p:par>
                              <p:par>
                                <p:cTn id="45" presetID="53" presetClass="entr" presetSubtype="16" fill="hold" grpId="0" nodeType="withEffect">
                                  <p:stCondLst>
                                    <p:cond delay="36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50" fill="hold"/>
                                        <p:tgtEl>
                                          <p:spTgt spid="11"/>
                                        </p:tgtEl>
                                        <p:attrNameLst>
                                          <p:attrName>ppt_w</p:attrName>
                                        </p:attrNameLst>
                                      </p:cBhvr>
                                      <p:tavLst>
                                        <p:tav tm="0">
                                          <p:val>
                                            <p:fltVal val="0"/>
                                          </p:val>
                                        </p:tav>
                                        <p:tav tm="100000">
                                          <p:val>
                                            <p:strVal val="#ppt_w"/>
                                          </p:val>
                                        </p:tav>
                                      </p:tavLst>
                                    </p:anim>
                                    <p:anim calcmode="lin" valueType="num">
                                      <p:cBhvr additive="base">
                                        <p:cTn id="43" dur="550" fill="hold"/>
                                        <p:tgtEl>
                                          <p:spTgt spid="11"/>
                                        </p:tgtEl>
                                        <p:attrNameLst>
                                          <p:attrName>ppt_h</p:attrName>
                                        </p:attrNameLst>
                                      </p:cBhvr>
                                      <p:tavLst>
                                        <p:tav tm="0">
                                          <p:val>
                                            <p:fltVal val="0"/>
                                          </p:val>
                                        </p:tav>
                                        <p:tav tm="100000">
                                          <p:val>
                                            <p:strVal val="#ppt_h"/>
                                          </p:val>
                                        </p:tav>
                                      </p:tavLst>
                                    </p:anim>
                                    <p:animEffect transition="in" filter="fade">
                                      <p:cBhvr>
                                        <p:cTn id="44" dur="550"/>
                                        <p:tgtEl>
                                          <p:spTgt spid="11"/>
                                        </p:tgtEl>
                                      </p:cBhvr>
                                    </p:animEffect>
                                  </p:childTnLst>
                                </p:cTn>
                              </p:par>
                              <p:par>
                                <p:cTn id="48" presetID="10" presetClass="entr" presetSubtype="0" fill="hold" grpId="0" nodeType="withEffect">
                                  <p:stCondLst>
                                    <p:cond delay="36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childTnLst>
                                </p:cTn>
                              </p:par>
                              <p:par>
                                <p:cTn id="51" presetID="10" presetClass="entr" presetSubtype="0" fill="hold" grpId="0" nodeType="withEffect">
                                  <p:stCondLst>
                                    <p:cond delay="36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50"/>
                                        <p:tgtEl>
                                          <p:spTgt spid="13"/>
                                        </p:tgtEl>
                                      </p:cBhvr>
                                    </p:animEffect>
                                  </p:childTnLst>
                                </p:cTn>
                              </p:par>
                              <p:par>
                                <p:cTn id="56" presetID="53" presetClass="entr" presetSubtype="16" fill="hold" grpId="0" nodeType="withEffect">
                                  <p:stCondLst>
                                    <p:cond delay="36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50" fill="hold"/>
                                        <p:tgtEl>
                                          <p:spTgt spid="14"/>
                                        </p:tgtEl>
                                        <p:attrNameLst>
                                          <p:attrName>ppt_w</p:attrName>
                                        </p:attrNameLst>
                                      </p:cBhvr>
                                      <p:tavLst>
                                        <p:tav tm="0">
                                          <p:val>
                                            <p:fltVal val="0"/>
                                          </p:val>
                                        </p:tav>
                                        <p:tav tm="100000">
                                          <p:val>
                                            <p:strVal val="#ppt_w"/>
                                          </p:val>
                                        </p:tav>
                                      </p:tavLst>
                                    </p:anim>
                                    <p:anim calcmode="lin" valueType="num">
                                      <p:cBhvr additive="base">
                                        <p:cTn id="54" dur="550" fill="hold"/>
                                        <p:tgtEl>
                                          <p:spTgt spid="14"/>
                                        </p:tgtEl>
                                        <p:attrNameLst>
                                          <p:attrName>ppt_h</p:attrName>
                                        </p:attrNameLst>
                                      </p:cBhvr>
                                      <p:tavLst>
                                        <p:tav tm="0">
                                          <p:val>
                                            <p:fltVal val="0"/>
                                          </p:val>
                                        </p:tav>
                                        <p:tav tm="100000">
                                          <p:val>
                                            <p:strVal val="#ppt_h"/>
                                          </p:val>
                                        </p:tav>
                                      </p:tavLst>
                                    </p:anim>
                                    <p:animEffect transition="in" filter="fade">
                                      <p:cBhvr>
                                        <p:cTn id="55" dur="550"/>
                                        <p:tgtEl>
                                          <p:spTgt spid="14"/>
                                        </p:tgtEl>
                                      </p:cBhvr>
                                    </p:animEffect>
                                  </p:childTnLst>
                                </p:cTn>
                              </p:par>
                              <p:par>
                                <p:cTn id="60" presetID="2" presetClass="entr" presetSubtype="4" fill="hold" grpId="0" nodeType="withEffect">
                                  <p:stCondLst>
                                    <p:cond delay="45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550" fill="hold"/>
                                        <p:tgtEl>
                                          <p:spTgt spid="15"/>
                                        </p:tgtEl>
                                        <p:attrNameLst>
                                          <p:attrName>ppt_y</p:attrName>
                                        </p:attrNameLst>
                                      </p:cBhvr>
                                      <p:tavLst>
                                        <p:tav tm="0">
                                          <p:val>
                                            <p:strVal val="#ppt_y+0.07"/>
                                          </p:val>
                                        </p:tav>
                                        <p:tav tm="100000">
                                          <p:val>
                                            <p:strVal val="#ppt_y"/>
                                          </p:val>
                                        </p:tav>
                                      </p:tavLst>
                                    </p:anim>
                                    <p:animEffect transition="in" filter="fade">
                                      <p:cBhvr>
                                        <p:cTn id="59" dur="550"/>
                                        <p:tgtEl>
                                          <p:spTgt spid="15"/>
                                        </p:tgtEl>
                                      </p:cBhvr>
                                    </p:animEffect>
                                  </p:childTnLst>
                                </p:cTn>
                              </p:par>
                              <p:par>
                                <p:cTn id="65" presetID="53" presetClass="entr" presetSubtype="16" fill="hold" grpId="0" nodeType="withEffect">
                                  <p:stCondLst>
                                    <p:cond delay="51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50" fill="hold"/>
                                        <p:tgtEl>
                                          <p:spTgt spid="16"/>
                                        </p:tgtEl>
                                        <p:attrNameLst>
                                          <p:attrName>ppt_w</p:attrName>
                                        </p:attrNameLst>
                                      </p:cBhvr>
                                      <p:tavLst>
                                        <p:tav tm="0">
                                          <p:val>
                                            <p:fltVal val="0"/>
                                          </p:val>
                                        </p:tav>
                                        <p:tav tm="100000">
                                          <p:val>
                                            <p:strVal val="#ppt_w"/>
                                          </p:val>
                                        </p:tav>
                                      </p:tavLst>
                                    </p:anim>
                                    <p:anim calcmode="lin" valueType="num">
                                      <p:cBhvr additive="base">
                                        <p:cTn id="63" dur="550" fill="hold"/>
                                        <p:tgtEl>
                                          <p:spTgt spid="16"/>
                                        </p:tgtEl>
                                        <p:attrNameLst>
                                          <p:attrName>ppt_h</p:attrName>
                                        </p:attrNameLst>
                                      </p:cBhvr>
                                      <p:tavLst>
                                        <p:tav tm="0">
                                          <p:val>
                                            <p:fltVal val="0"/>
                                          </p:val>
                                        </p:tav>
                                        <p:tav tm="100000">
                                          <p:val>
                                            <p:strVal val="#ppt_h"/>
                                          </p:val>
                                        </p:tav>
                                      </p:tavLst>
                                    </p:anim>
                                    <p:animEffect transition="in" filter="fade">
                                      <p:cBhvr>
                                        <p:cTn id="64" dur="550"/>
                                        <p:tgtEl>
                                          <p:spTgt spid="16"/>
                                        </p:tgtEl>
                                      </p:cBhvr>
                                    </p:animEffect>
                                  </p:childTnLst>
                                </p:cTn>
                              </p:par>
                              <p:par>
                                <p:cTn id="70" presetID="53" presetClass="entr" presetSubtype="16" fill="hold" grpId="0" nodeType="withEffect">
                                  <p:stCondLst>
                                    <p:cond delay="51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50" fill="hold"/>
                                        <p:tgtEl>
                                          <p:spTgt spid="17"/>
                                        </p:tgtEl>
                                        <p:attrNameLst>
                                          <p:attrName>ppt_w</p:attrName>
                                        </p:attrNameLst>
                                      </p:cBhvr>
                                      <p:tavLst>
                                        <p:tav tm="0">
                                          <p:val>
                                            <p:fltVal val="0"/>
                                          </p:val>
                                        </p:tav>
                                        <p:tav tm="100000">
                                          <p:val>
                                            <p:strVal val="#ppt_w"/>
                                          </p:val>
                                        </p:tav>
                                      </p:tavLst>
                                    </p:anim>
                                    <p:anim calcmode="lin" valueType="num">
                                      <p:cBhvr additive="base">
                                        <p:cTn id="68" dur="550" fill="hold"/>
                                        <p:tgtEl>
                                          <p:spTgt spid="17"/>
                                        </p:tgtEl>
                                        <p:attrNameLst>
                                          <p:attrName>ppt_h</p:attrName>
                                        </p:attrNameLst>
                                      </p:cBhvr>
                                      <p:tavLst>
                                        <p:tav tm="0">
                                          <p:val>
                                            <p:fltVal val="0"/>
                                          </p:val>
                                        </p:tav>
                                        <p:tav tm="100000">
                                          <p:val>
                                            <p:strVal val="#ppt_h"/>
                                          </p:val>
                                        </p:tav>
                                      </p:tavLst>
                                    </p:anim>
                                    <p:animEffect transition="in" filter="fade">
                                      <p:cBhvr>
                                        <p:cTn id="69" dur="550"/>
                                        <p:tgtEl>
                                          <p:spTgt spid="17"/>
                                        </p:tgtEl>
                                      </p:cBhvr>
                                    </p:animEffect>
                                  </p:childTnLst>
                                </p:cTn>
                              </p:par>
                              <p:par>
                                <p:cTn id="73" presetID="10" presetClass="entr" presetSubtype="0" fill="hold" grpId="0" nodeType="withEffect">
                                  <p:stCondLst>
                                    <p:cond delay="51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50"/>
                                        <p:tgtEl>
                                          <p:spTgt spid="18"/>
                                        </p:tgtEl>
                                      </p:cBhvr>
                                    </p:animEffect>
                                  </p:childTnLst>
                                </p:cTn>
                              </p:par>
                              <p:par>
                                <p:cTn id="76" presetID="10" presetClass="entr" presetSubtype="0" fill="hold" grpId="0" nodeType="withEffect">
                                  <p:stCondLst>
                                    <p:cond delay="51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50"/>
                                        <p:tgtEl>
                                          <p:spTgt spid="19"/>
                                        </p:tgtEl>
                                      </p:cBhvr>
                                    </p:animEffect>
                                  </p:childTnLst>
                                </p:cTn>
                              </p:par>
                              <p:par>
                                <p:cTn id="80" presetID="2" presetClass="entr" presetSubtype="4" fill="hold" grpId="0" nodeType="withEffect">
                                  <p:stCondLst>
                                    <p:cond delay="51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550" fill="hold"/>
                                        <p:tgtEl>
                                          <p:spTgt spid="20"/>
                                        </p:tgtEl>
                                        <p:attrNameLst>
                                          <p:attrName>ppt_y</p:attrName>
                                        </p:attrNameLst>
                                      </p:cBhvr>
                                      <p:tavLst>
                                        <p:tav tm="0">
                                          <p:val>
                                            <p:strVal val="#ppt_y+0.07"/>
                                          </p:val>
                                        </p:tav>
                                        <p:tav tm="100000">
                                          <p:val>
                                            <p:strVal val="#ppt_y"/>
                                          </p:val>
                                        </p:tav>
                                      </p:tavLst>
                                    </p:anim>
                                    <p:animEffect transition="in" filter="fade">
                                      <p:cBhvr>
                                        <p:cTn id="79" dur="550"/>
                                        <p:tgtEl>
                                          <p:spTgt spid="20"/>
                                        </p:tgtEl>
                                      </p:cBhvr>
                                    </p:animEffect>
                                  </p:childTnLst>
                                </p:cTn>
                              </p:par>
                              <p:par>
                                <p:cTn id="84" presetID="2" presetClass="entr" presetSubtype="4" fill="hold" grpId="0" nodeType="withEffect">
                                  <p:stCondLst>
                                    <p:cond delay="600"/>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50" fill="hold"/>
                                        <p:tgtEl>
                                          <p:spTgt spid="21"/>
                                        </p:tgtEl>
                                        <p:attrNameLst>
                                          <p:attrName>ppt_y</p:attrName>
                                        </p:attrNameLst>
                                      </p:cBhvr>
                                      <p:tavLst>
                                        <p:tav tm="0">
                                          <p:val>
                                            <p:strVal val="#ppt_y+0.07"/>
                                          </p:val>
                                        </p:tav>
                                        <p:tav tm="100000">
                                          <p:val>
                                            <p:strVal val="#ppt_y"/>
                                          </p:val>
                                        </p:tav>
                                      </p:tavLst>
                                    </p:anim>
                                    <p:animEffect transition="in" filter="fade">
                                      <p:cBhvr>
                                        <p:cTn id="83" dur="550"/>
                                        <p:tgtEl>
                                          <p:spTgt spid="21"/>
                                        </p:tgtEl>
                                      </p:cBhvr>
                                    </p:animEffect>
                                  </p:childTnLst>
                                </p:cTn>
                              </p:par>
                              <p:par>
                                <p:cTn id="87" presetID="10" presetClass="entr" presetSubtype="0" fill="hold" grpId="0" nodeType="withEffect">
                                  <p:stCondLst>
                                    <p:cond delay="66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900" name="Background art" descr="Decorative illustration"/>
          <p:cNvPicPr>
            <a:picLocks noChangeAspect="1"/>
          </p:cNvPicPr>
          <p:nvPr/>
        </p:nvPicPr>
        <p:blipFill>
          <a:blip r:embed="rId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bg1"/>
                </a:solidFill>
              </a:rPr>
              <a:t>Our solution: EcoCampus AI</a:t>
            </a:r>
            <a:endParaRPr lang="en-US" sz="3600" dirty="0"/>
          </a:p>
        </p:txBody>
      </p:sp>
      <p:sp>
        <p:nvSpPr>
          <p:cNvPr id="3" name="Text 1"/>
          <p:cNvSpPr txBox="1"/>
          <p:nvPr/>
        </p:nvSpPr>
        <p:spPr>
          <a:xfrm>
            <a:off x="640080" y="1325880"/>
            <a:ext cx="10908792" cy="457200"/>
          </a:xfrm>
          <a:prstGeom prst="rect">
            <a:avLst/>
          </a:prstGeom>
          <a:noFill/>
          <a:ln/>
        </p:spPr>
        <p:txBody>
          <a:bodyPr wrap="square" lIns="0" tIns="0" rIns="0" bIns="0" rtlCol="0" anchor="ctr"/>
          <a:lstStyle/>
          <a:p>
            <a:pPr marL="0" indent="0">
              <a:buNone/>
            </a:pPr>
            <a:r>
              <a:rPr lang="en-US" sz="2000" dirty="0">
                <a:solidFill>
                  <a:schemeClr val="accent5"/>
                </a:solidFill>
              </a:rPr>
              <a:t>An AI-driven IoT platform that retrofits existing campus infrastructure</a:t>
            </a:r>
            <a:endParaRPr lang="en-US" sz="2000" dirty="0"/>
          </a:p>
        </p:txBody>
      </p:sp>
      <p:sp>
        <p:nvSpPr>
          <p:cNvPr id="4" name="Input: Live foot traffic"/>
          <p:cNvSpPr/>
          <p:nvPr/>
        </p:nvSpPr>
        <p:spPr>
          <a:xfrm>
            <a:off x="640080" y="2377440"/>
            <a:ext cx="3108960" cy="868680"/>
          </a:xfrm>
          <a:prstGeom prst="roundRect">
            <a:avLst>
              <a:gd name="adj" fmla="val 12632"/>
            </a:avLst>
          </a:prstGeom>
          <a:solidFill>
            <a:schemeClr val="tx2"/>
          </a:solidFill>
          <a:ln w="19050">
            <a:solidFill>
              <a:schemeClr val="accent1"/>
            </a:solidFill>
            <a:prstDash val="solid"/>
          </a:ln>
        </p:spPr>
      </p:sp>
      <p:pic>
        <p:nvPicPr>
          <p:cNvPr id="5" name="Image 0" descr="Live foot traffic"/>
          <p:cNvPicPr>
            <a:picLocks noChangeAspect="1"/>
          </p:cNvPicPr>
          <p:nvPr/>
        </p:nvPicPr>
        <p:blipFill>
          <a:blip r:embed="rId3"/>
          <a:stretch>
            <a:fillRect/>
          </a:stretch>
        </p:blipFill>
        <p:spPr>
          <a:xfrm>
            <a:off x="868680" y="2606040"/>
            <a:ext cx="411480" cy="411480"/>
          </a:xfrm>
          <a:prstGeom prst="rect">
            <a:avLst/>
          </a:prstGeom>
        </p:spPr>
      </p:pic>
      <p:sp>
        <p:nvSpPr>
          <p:cNvPr id="6" name="Text 3"/>
          <p:cNvSpPr txBox="1"/>
          <p:nvPr/>
        </p:nvSpPr>
        <p:spPr>
          <a:xfrm>
            <a:off x="1463040" y="2377440"/>
            <a:ext cx="2194560" cy="868680"/>
          </a:xfrm>
          <a:prstGeom prst="rect">
            <a:avLst/>
          </a:prstGeom>
          <a:noFill/>
          <a:ln/>
        </p:spPr>
        <p:txBody>
          <a:bodyPr wrap="square" lIns="0" tIns="0" rIns="0" bIns="0" rtlCol="0" anchor="ctr"/>
          <a:lstStyle/>
          <a:p>
            <a:pPr marL="0" indent="0">
              <a:buNone/>
            </a:pPr>
            <a:r>
              <a:rPr lang="en-US" sz="1800" b="1" dirty="0">
                <a:solidFill>
                  <a:schemeClr val="bg1"/>
                </a:solidFill>
              </a:rPr>
              <a:t>Live foot traffic</a:t>
            </a:r>
            <a:endParaRPr lang="en-US" sz="1800" dirty="0"/>
          </a:p>
        </p:txBody>
      </p:sp>
      <p:sp>
        <p:nvSpPr>
          <p:cNvPr id="7" name="Input: Class schedules"/>
          <p:cNvSpPr/>
          <p:nvPr/>
        </p:nvSpPr>
        <p:spPr>
          <a:xfrm>
            <a:off x="640080" y="3566160"/>
            <a:ext cx="3108960" cy="868680"/>
          </a:xfrm>
          <a:prstGeom prst="roundRect">
            <a:avLst>
              <a:gd name="adj" fmla="val 12632"/>
            </a:avLst>
          </a:prstGeom>
          <a:solidFill>
            <a:schemeClr val="tx2"/>
          </a:solidFill>
          <a:ln w="19050">
            <a:solidFill>
              <a:schemeClr val="accent1"/>
            </a:solidFill>
            <a:prstDash val="solid"/>
          </a:ln>
        </p:spPr>
      </p:sp>
      <p:pic>
        <p:nvPicPr>
          <p:cNvPr id="8" name="Image 1" descr="Class schedules"/>
          <p:cNvPicPr>
            <a:picLocks noChangeAspect="1"/>
          </p:cNvPicPr>
          <p:nvPr/>
        </p:nvPicPr>
        <p:blipFill>
          <a:blip r:embed="rId4"/>
          <a:stretch>
            <a:fillRect/>
          </a:stretch>
        </p:blipFill>
        <p:spPr>
          <a:xfrm>
            <a:off x="868680" y="3794760"/>
            <a:ext cx="411480" cy="411480"/>
          </a:xfrm>
          <a:prstGeom prst="rect">
            <a:avLst/>
          </a:prstGeom>
        </p:spPr>
      </p:pic>
      <p:sp>
        <p:nvSpPr>
          <p:cNvPr id="9" name="Text 5"/>
          <p:cNvSpPr txBox="1"/>
          <p:nvPr/>
        </p:nvSpPr>
        <p:spPr>
          <a:xfrm>
            <a:off x="1463040" y="3566160"/>
            <a:ext cx="2194560" cy="868680"/>
          </a:xfrm>
          <a:prstGeom prst="rect">
            <a:avLst/>
          </a:prstGeom>
          <a:noFill/>
          <a:ln/>
        </p:spPr>
        <p:txBody>
          <a:bodyPr wrap="square" lIns="0" tIns="0" rIns="0" bIns="0" rtlCol="0" anchor="ctr"/>
          <a:lstStyle/>
          <a:p>
            <a:pPr marL="0" indent="0">
              <a:buNone/>
            </a:pPr>
            <a:r>
              <a:rPr lang="en-US" sz="1800" b="1" dirty="0">
                <a:solidFill>
                  <a:schemeClr val="bg1"/>
                </a:solidFill>
              </a:rPr>
              <a:t>Class schedules</a:t>
            </a:r>
            <a:endParaRPr lang="en-US" sz="1800" dirty="0"/>
          </a:p>
        </p:txBody>
      </p:sp>
      <p:sp>
        <p:nvSpPr>
          <p:cNvPr id="10" name="Input: Environmental data"/>
          <p:cNvSpPr/>
          <p:nvPr/>
        </p:nvSpPr>
        <p:spPr>
          <a:xfrm>
            <a:off x="640080" y="4754880"/>
            <a:ext cx="3108960" cy="868680"/>
          </a:xfrm>
          <a:prstGeom prst="roundRect">
            <a:avLst>
              <a:gd name="adj" fmla="val 12632"/>
            </a:avLst>
          </a:prstGeom>
          <a:solidFill>
            <a:schemeClr val="tx2"/>
          </a:solidFill>
          <a:ln w="19050">
            <a:solidFill>
              <a:schemeClr val="accent1"/>
            </a:solidFill>
            <a:prstDash val="solid"/>
          </a:ln>
        </p:spPr>
      </p:sp>
      <p:pic>
        <p:nvPicPr>
          <p:cNvPr id="11" name="Image 2" descr="Environmental data"/>
          <p:cNvPicPr>
            <a:picLocks noChangeAspect="1"/>
          </p:cNvPicPr>
          <p:nvPr/>
        </p:nvPicPr>
        <p:blipFill>
          <a:blip r:embed="rId5"/>
          <a:stretch>
            <a:fillRect/>
          </a:stretch>
        </p:blipFill>
        <p:spPr>
          <a:xfrm>
            <a:off x="868680" y="4983480"/>
            <a:ext cx="411480" cy="411480"/>
          </a:xfrm>
          <a:prstGeom prst="rect">
            <a:avLst/>
          </a:prstGeom>
        </p:spPr>
      </p:pic>
      <p:sp>
        <p:nvSpPr>
          <p:cNvPr id="12" name="Text 7"/>
          <p:cNvSpPr txBox="1"/>
          <p:nvPr/>
        </p:nvSpPr>
        <p:spPr>
          <a:xfrm>
            <a:off x="1463040" y="4754880"/>
            <a:ext cx="2194560" cy="868680"/>
          </a:xfrm>
          <a:prstGeom prst="rect">
            <a:avLst/>
          </a:prstGeom>
          <a:noFill/>
          <a:ln/>
        </p:spPr>
        <p:txBody>
          <a:bodyPr wrap="square" lIns="0" tIns="0" rIns="0" bIns="0" rtlCol="0" anchor="ctr"/>
          <a:lstStyle/>
          <a:p>
            <a:pPr marL="0" indent="0">
              <a:buNone/>
            </a:pPr>
            <a:r>
              <a:rPr lang="en-US" sz="1800" b="1" dirty="0">
                <a:solidFill>
                  <a:schemeClr val="bg1"/>
                </a:solidFill>
              </a:rPr>
              <a:t>Environmental data</a:t>
            </a:r>
            <a:endParaRPr lang="en-US" sz="1800" dirty="0"/>
          </a:p>
        </p:txBody>
      </p:sp>
      <p:sp>
        <p:nvSpPr>
          <p:cNvPr id="13" name="Output: Automated energy use"/>
          <p:cNvSpPr/>
          <p:nvPr/>
        </p:nvSpPr>
        <p:spPr>
          <a:xfrm>
            <a:off x="8439912" y="2377440"/>
            <a:ext cx="3108960" cy="868680"/>
          </a:xfrm>
          <a:prstGeom prst="roundRect">
            <a:avLst>
              <a:gd name="adj" fmla="val 12632"/>
            </a:avLst>
          </a:prstGeom>
          <a:solidFill>
            <a:schemeClr val="tx2"/>
          </a:solidFill>
          <a:ln w="19050">
            <a:solidFill>
              <a:schemeClr val="accent1"/>
            </a:solidFill>
            <a:prstDash val="solid"/>
          </a:ln>
        </p:spPr>
      </p:sp>
      <p:pic>
        <p:nvPicPr>
          <p:cNvPr id="14" name="Image 3" descr="Automated energy use"/>
          <p:cNvPicPr>
            <a:picLocks noChangeAspect="1"/>
          </p:cNvPicPr>
          <p:nvPr/>
        </p:nvPicPr>
        <p:blipFill>
          <a:blip r:embed="rId6"/>
          <a:stretch>
            <a:fillRect/>
          </a:stretch>
        </p:blipFill>
        <p:spPr>
          <a:xfrm>
            <a:off x="8668512" y="2606040"/>
            <a:ext cx="411480" cy="411480"/>
          </a:xfrm>
          <a:prstGeom prst="rect">
            <a:avLst/>
          </a:prstGeom>
        </p:spPr>
      </p:pic>
      <p:sp>
        <p:nvSpPr>
          <p:cNvPr id="15" name="Text 9"/>
          <p:cNvSpPr txBox="1"/>
          <p:nvPr/>
        </p:nvSpPr>
        <p:spPr>
          <a:xfrm>
            <a:off x="9262872" y="2377440"/>
            <a:ext cx="2194560" cy="868680"/>
          </a:xfrm>
          <a:prstGeom prst="rect">
            <a:avLst/>
          </a:prstGeom>
          <a:noFill/>
          <a:ln/>
        </p:spPr>
        <p:txBody>
          <a:bodyPr wrap="square" lIns="0" tIns="0" rIns="0" bIns="0" rtlCol="0" anchor="ctr"/>
          <a:lstStyle/>
          <a:p>
            <a:pPr marL="0" indent="0">
              <a:buNone/>
            </a:pPr>
            <a:r>
              <a:rPr lang="en-US" sz="1800" b="1" dirty="0">
                <a:solidFill>
                  <a:schemeClr val="bg1"/>
                </a:solidFill>
              </a:rPr>
              <a:t>Automated energy use</a:t>
            </a:r>
            <a:endParaRPr lang="en-US" sz="1800" dirty="0"/>
          </a:p>
        </p:txBody>
      </p:sp>
      <p:sp>
        <p:nvSpPr>
          <p:cNvPr id="16" name="Output: Failures predicted early"/>
          <p:cNvSpPr/>
          <p:nvPr/>
        </p:nvSpPr>
        <p:spPr>
          <a:xfrm>
            <a:off x="8439912" y="3566160"/>
            <a:ext cx="3108960" cy="868680"/>
          </a:xfrm>
          <a:prstGeom prst="roundRect">
            <a:avLst>
              <a:gd name="adj" fmla="val 12632"/>
            </a:avLst>
          </a:prstGeom>
          <a:solidFill>
            <a:schemeClr val="tx2"/>
          </a:solidFill>
          <a:ln w="19050">
            <a:solidFill>
              <a:schemeClr val="accent1"/>
            </a:solidFill>
            <a:prstDash val="solid"/>
          </a:ln>
        </p:spPr>
      </p:sp>
      <p:pic>
        <p:nvPicPr>
          <p:cNvPr id="17" name="Image 4" descr="Failures predicted early"/>
          <p:cNvPicPr>
            <a:picLocks noChangeAspect="1"/>
          </p:cNvPicPr>
          <p:nvPr/>
        </p:nvPicPr>
        <p:blipFill>
          <a:blip r:embed="rId7"/>
          <a:stretch>
            <a:fillRect/>
          </a:stretch>
        </p:blipFill>
        <p:spPr>
          <a:xfrm>
            <a:off x="8668512" y="3794760"/>
            <a:ext cx="411480" cy="411480"/>
          </a:xfrm>
          <a:prstGeom prst="rect">
            <a:avLst/>
          </a:prstGeom>
        </p:spPr>
      </p:pic>
      <p:sp>
        <p:nvSpPr>
          <p:cNvPr id="18" name="Text 11"/>
          <p:cNvSpPr txBox="1"/>
          <p:nvPr/>
        </p:nvSpPr>
        <p:spPr>
          <a:xfrm>
            <a:off x="9262872" y="3566160"/>
            <a:ext cx="2194560" cy="868680"/>
          </a:xfrm>
          <a:prstGeom prst="rect">
            <a:avLst/>
          </a:prstGeom>
          <a:noFill/>
          <a:ln/>
        </p:spPr>
        <p:txBody>
          <a:bodyPr wrap="square" lIns="0" tIns="0" rIns="0" bIns="0" rtlCol="0" anchor="ctr"/>
          <a:lstStyle/>
          <a:p>
            <a:pPr marL="0" indent="0">
              <a:buNone/>
            </a:pPr>
            <a:r>
              <a:rPr lang="en-US" sz="1800" b="1" dirty="0">
                <a:solidFill>
                  <a:schemeClr val="bg1"/>
                </a:solidFill>
              </a:rPr>
              <a:t>Failures predicted early</a:t>
            </a:r>
            <a:endParaRPr lang="en-US" sz="1800" dirty="0"/>
          </a:p>
        </p:txBody>
      </p:sp>
      <p:sp>
        <p:nvSpPr>
          <p:cNvPr id="19" name="Output: Optimized waste routes"/>
          <p:cNvSpPr/>
          <p:nvPr/>
        </p:nvSpPr>
        <p:spPr>
          <a:xfrm>
            <a:off x="8439912" y="4754880"/>
            <a:ext cx="3108960" cy="868680"/>
          </a:xfrm>
          <a:prstGeom prst="roundRect">
            <a:avLst>
              <a:gd name="adj" fmla="val 12632"/>
            </a:avLst>
          </a:prstGeom>
          <a:solidFill>
            <a:schemeClr val="tx2"/>
          </a:solidFill>
          <a:ln w="19050">
            <a:solidFill>
              <a:schemeClr val="accent1"/>
            </a:solidFill>
            <a:prstDash val="solid"/>
          </a:ln>
        </p:spPr>
      </p:sp>
      <p:pic>
        <p:nvPicPr>
          <p:cNvPr id="20" name="Image 5" descr="Optimized waste routes"/>
          <p:cNvPicPr>
            <a:picLocks noChangeAspect="1"/>
          </p:cNvPicPr>
          <p:nvPr/>
        </p:nvPicPr>
        <p:blipFill>
          <a:blip r:embed="rId8"/>
          <a:stretch>
            <a:fillRect/>
          </a:stretch>
        </p:blipFill>
        <p:spPr>
          <a:xfrm>
            <a:off x="8668512" y="4983480"/>
            <a:ext cx="411480" cy="411480"/>
          </a:xfrm>
          <a:prstGeom prst="rect">
            <a:avLst/>
          </a:prstGeom>
        </p:spPr>
      </p:pic>
      <p:sp>
        <p:nvSpPr>
          <p:cNvPr id="21" name="Text 13"/>
          <p:cNvSpPr txBox="1"/>
          <p:nvPr/>
        </p:nvSpPr>
        <p:spPr>
          <a:xfrm>
            <a:off x="9262872" y="4754880"/>
            <a:ext cx="2194560" cy="868680"/>
          </a:xfrm>
          <a:prstGeom prst="rect">
            <a:avLst/>
          </a:prstGeom>
          <a:noFill/>
          <a:ln/>
        </p:spPr>
        <p:txBody>
          <a:bodyPr wrap="square" lIns="0" tIns="0" rIns="0" bIns="0" rtlCol="0" anchor="ctr"/>
          <a:lstStyle/>
          <a:p>
            <a:pPr marL="0" indent="0">
              <a:buNone/>
            </a:pPr>
            <a:r>
              <a:rPr lang="en-US" sz="1800" b="1" dirty="0">
                <a:solidFill>
                  <a:schemeClr val="bg1"/>
                </a:solidFill>
              </a:rPr>
              <a:t>Optimized waste routes</a:t>
            </a:r>
            <a:endParaRPr lang="en-US" sz="1800" dirty="0"/>
          </a:p>
        </p:txBody>
      </p:sp>
      <p:sp>
        <p:nvSpPr>
          <p:cNvPr id="22" name="AI glow"/>
          <p:cNvSpPr/>
          <p:nvPr/>
        </p:nvSpPr>
        <p:spPr>
          <a:xfrm>
            <a:off x="4727448" y="2743200"/>
            <a:ext cx="2743200" cy="2743200"/>
          </a:xfrm>
          <a:prstGeom prst="ellipse">
            <a:avLst/>
          </a:prstGeom>
          <a:solidFill>
            <a:schemeClr val="accent1">
              <a:alpha val="30000"/>
            </a:schemeClr>
          </a:solidFill>
          <a:ln/>
        </p:spPr>
      </p:sp>
      <p:sp>
        <p:nvSpPr>
          <p:cNvPr id="23" name="AI brain circle"/>
          <p:cNvSpPr/>
          <p:nvPr/>
        </p:nvSpPr>
        <p:spPr>
          <a:xfrm>
            <a:off x="5184648" y="2880360"/>
            <a:ext cx="1828800" cy="1828800"/>
          </a:xfrm>
          <a:prstGeom prst="ellipse">
            <a:avLst/>
          </a:prstGeom>
          <a:solidFill>
            <a:schemeClr val="accent1"/>
          </a:solidFill>
          <a:ln/>
        </p:spPr>
      </p:sp>
      <p:pic>
        <p:nvPicPr>
          <p:cNvPr id="24" name="Image 6" descr="AI brain"/>
          <p:cNvPicPr>
            <a:picLocks noChangeAspect="1"/>
          </p:cNvPicPr>
          <p:nvPr/>
        </p:nvPicPr>
        <p:blipFill>
          <a:blip r:embed="rId9"/>
          <a:stretch>
            <a:fillRect/>
          </a:stretch>
        </p:blipFill>
        <p:spPr>
          <a:xfrm>
            <a:off x="5641848" y="3337560"/>
            <a:ext cx="914400" cy="914400"/>
          </a:xfrm>
          <a:prstGeom prst="rect">
            <a:avLst/>
          </a:prstGeom>
        </p:spPr>
      </p:pic>
      <p:sp>
        <p:nvSpPr>
          <p:cNvPr id="25" name="Text 16"/>
          <p:cNvSpPr txBox="1"/>
          <p:nvPr/>
        </p:nvSpPr>
        <p:spPr>
          <a:xfrm>
            <a:off x="4727448" y="4800600"/>
            <a:ext cx="2743200" cy="365760"/>
          </a:xfrm>
          <a:prstGeom prst="rect">
            <a:avLst/>
          </a:prstGeom>
          <a:noFill/>
          <a:ln/>
        </p:spPr>
        <p:txBody>
          <a:bodyPr wrap="square" lIns="0" tIns="0" rIns="0" bIns="0" rtlCol="0" anchor="ctr"/>
          <a:lstStyle/>
          <a:p>
            <a:pPr marL="0" indent="0" algn="ctr">
              <a:buNone/>
            </a:pPr>
            <a:r>
              <a:rPr lang="en-US" sz="1600" b="1" dirty="0">
                <a:solidFill>
                  <a:schemeClr val="bg1"/>
                </a:solidFill>
              </a:rPr>
              <a:t>Predictive AI engine</a:t>
            </a:r>
            <a:endParaRPr lang="en-US" sz="1600" dirty="0"/>
          </a:p>
        </p:txBody>
      </p:sp>
      <p:sp>
        <p:nvSpPr>
          <p:cNvPr id="26" name="Arrow in"/>
          <p:cNvSpPr/>
          <p:nvPr/>
        </p:nvSpPr>
        <p:spPr>
          <a:xfrm>
            <a:off x="3931920" y="3566160"/>
            <a:ext cx="685800" cy="457200"/>
          </a:xfrm>
          <a:prstGeom prst="rightArrow">
            <a:avLst/>
          </a:prstGeom>
          <a:solidFill>
            <a:schemeClr val="accent2"/>
          </a:solidFill>
          <a:ln/>
        </p:spPr>
      </p:sp>
      <p:sp>
        <p:nvSpPr>
          <p:cNvPr id="27" name="Arrow out"/>
          <p:cNvSpPr/>
          <p:nvPr/>
        </p:nvSpPr>
        <p:spPr>
          <a:xfrm>
            <a:off x="7589520" y="3566160"/>
            <a:ext cx="685800" cy="457200"/>
          </a:xfrm>
          <a:prstGeom prst="rightArrow">
            <a:avLst/>
          </a:prstGeom>
          <a:solidFill>
            <a:schemeClr val="accent2"/>
          </a:solidFill>
          <a:ln/>
        </p:spPr>
      </p:sp>
      <p:sp>
        <p:nvSpPr>
          <p:cNvPr id="28"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3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8"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4" presetID="2" presetClass="entr" presetSubtype="4" fill="hold" grpId="0" nodeType="withEffect">
                                  <p:stCondLst>
                                    <p:cond delay="3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ppt_y</p:attrName>
                                        </p:attrNameLst>
                                      </p:cBhvr>
                                      <p:tavLst>
                                        <p:tav tm="0">
                                          <p:val>
                                            <p:strVal val="#ppt_y+0.07"/>
                                          </p:val>
                                        </p:tav>
                                        <p:tav tm="100000">
                                          <p:val>
                                            <p:strVal val="#ppt_y"/>
                                          </p:val>
                                        </p:tav>
                                      </p:tavLst>
                                    </p:anim>
                                    <p:animEffect transition="in" filter="fade">
                                      <p:cBhvr>
                                        <p:cTn id="13" dur="550"/>
                                        <p:tgtEl>
                                          <p:spTgt spid="4"/>
                                        </p:tgtEl>
                                      </p:cBhvr>
                                    </p:animEffect>
                                  </p:childTnLst>
                                </p:cTn>
                              </p:par>
                              <p:par>
                                <p:cTn id="19" presetID="53" presetClass="entr" presetSubtype="16" fill="hold" grpId="0" nodeType="withEffect">
                                  <p:stCondLst>
                                    <p:cond delay="36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50" fill="hold"/>
                                        <p:tgtEl>
                                          <p:spTgt spid="5"/>
                                        </p:tgtEl>
                                        <p:attrNameLst>
                                          <p:attrName>ppt_w</p:attrName>
                                        </p:attrNameLst>
                                      </p:cBhvr>
                                      <p:tavLst>
                                        <p:tav tm="0">
                                          <p:val>
                                            <p:fltVal val="0"/>
                                          </p:val>
                                        </p:tav>
                                        <p:tav tm="100000">
                                          <p:val>
                                            <p:strVal val="#ppt_w"/>
                                          </p:val>
                                        </p:tav>
                                      </p:tavLst>
                                    </p:anim>
                                    <p:anim calcmode="lin" valueType="num">
                                      <p:cBhvr additive="base">
                                        <p:cTn id="17" dur="550" fill="hold"/>
                                        <p:tgtEl>
                                          <p:spTgt spid="5"/>
                                        </p:tgtEl>
                                        <p:attrNameLst>
                                          <p:attrName>ppt_h</p:attrName>
                                        </p:attrNameLst>
                                      </p:cBhvr>
                                      <p:tavLst>
                                        <p:tav tm="0">
                                          <p:val>
                                            <p:fltVal val="0"/>
                                          </p:val>
                                        </p:tav>
                                        <p:tav tm="100000">
                                          <p:val>
                                            <p:strVal val="#ppt_h"/>
                                          </p:val>
                                        </p:tav>
                                      </p:tavLst>
                                    </p:anim>
                                    <p:animEffect transition="in" filter="fade">
                                      <p:cBhvr>
                                        <p:cTn id="18" dur="550"/>
                                        <p:tgtEl>
                                          <p:spTgt spid="5"/>
                                        </p:tgtEl>
                                      </p:cBhvr>
                                    </p:animEffect>
                                  </p:childTnLst>
                                </p:cTn>
                              </p:par>
                              <p:par>
                                <p:cTn id="22" presetID="10" presetClass="entr" presetSubtype="0" fill="hold" grpId="0" nodeType="withEffect">
                                  <p:stCondLst>
                                    <p:cond delay="36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50"/>
                                        <p:tgtEl>
                                          <p:spTgt spid="6"/>
                                        </p:tgtEl>
                                      </p:cBhvr>
                                    </p:animEffect>
                                  </p:childTnLst>
                                </p:cTn>
                              </p:par>
                              <p:par>
                                <p:cTn id="26" presetID="2" presetClass="entr" presetSubtype="4" fill="hold" grpId="0" nodeType="withEffect">
                                  <p:stCondLst>
                                    <p:cond delay="45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50" fill="hold"/>
                                        <p:tgtEl>
                                          <p:spTgt spid="7"/>
                                        </p:tgtEl>
                                        <p:attrNameLst>
                                          <p:attrName>ppt_y</p:attrName>
                                        </p:attrNameLst>
                                      </p:cBhvr>
                                      <p:tavLst>
                                        <p:tav tm="0">
                                          <p:val>
                                            <p:strVal val="#ppt_y+0.07"/>
                                          </p:val>
                                        </p:tav>
                                        <p:tav tm="100000">
                                          <p:val>
                                            <p:strVal val="#ppt_y"/>
                                          </p:val>
                                        </p:tav>
                                      </p:tavLst>
                                    </p:anim>
                                    <p:animEffect transition="in" filter="fade">
                                      <p:cBhvr>
                                        <p:cTn id="25" dur="550"/>
                                        <p:tgtEl>
                                          <p:spTgt spid="7"/>
                                        </p:tgtEl>
                                      </p:cBhvr>
                                    </p:animEffect>
                                  </p:childTnLst>
                                </p:cTn>
                              </p:par>
                              <p:par>
                                <p:cTn id="31" presetID="53" presetClass="entr" presetSubtype="16" fill="hold" grpId="0" nodeType="withEffect">
                                  <p:stCondLst>
                                    <p:cond delay="51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50" fill="hold"/>
                                        <p:tgtEl>
                                          <p:spTgt spid="8"/>
                                        </p:tgtEl>
                                        <p:attrNameLst>
                                          <p:attrName>ppt_w</p:attrName>
                                        </p:attrNameLst>
                                      </p:cBhvr>
                                      <p:tavLst>
                                        <p:tav tm="0">
                                          <p:val>
                                            <p:fltVal val="0"/>
                                          </p:val>
                                        </p:tav>
                                        <p:tav tm="100000">
                                          <p:val>
                                            <p:strVal val="#ppt_w"/>
                                          </p:val>
                                        </p:tav>
                                      </p:tavLst>
                                    </p:anim>
                                    <p:anim calcmode="lin" valueType="num">
                                      <p:cBhvr additive="base">
                                        <p:cTn id="29" dur="550" fill="hold"/>
                                        <p:tgtEl>
                                          <p:spTgt spid="8"/>
                                        </p:tgtEl>
                                        <p:attrNameLst>
                                          <p:attrName>ppt_h</p:attrName>
                                        </p:attrNameLst>
                                      </p:cBhvr>
                                      <p:tavLst>
                                        <p:tav tm="0">
                                          <p:val>
                                            <p:fltVal val="0"/>
                                          </p:val>
                                        </p:tav>
                                        <p:tav tm="100000">
                                          <p:val>
                                            <p:strVal val="#ppt_h"/>
                                          </p:val>
                                        </p:tav>
                                      </p:tavLst>
                                    </p:anim>
                                    <p:animEffect transition="in" filter="fade">
                                      <p:cBhvr>
                                        <p:cTn id="30" dur="550"/>
                                        <p:tgtEl>
                                          <p:spTgt spid="8"/>
                                        </p:tgtEl>
                                      </p:cBhvr>
                                    </p:animEffect>
                                  </p:childTnLst>
                                </p:cTn>
                              </p:par>
                              <p:par>
                                <p:cTn id="34" presetID="10" presetClass="entr" presetSubtype="0" fill="hold" grpId="0" nodeType="withEffect">
                                  <p:stCondLst>
                                    <p:cond delay="51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childTnLst>
                                </p:cTn>
                              </p:par>
                              <p:par>
                                <p:cTn id="38" presetID="2" presetClass="entr" presetSubtype="4" fill="hold" grpId="0" nodeType="withEffect">
                                  <p:stCondLst>
                                    <p:cond delay="6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50" fill="hold"/>
                                        <p:tgtEl>
                                          <p:spTgt spid="10"/>
                                        </p:tgtEl>
                                        <p:attrNameLst>
                                          <p:attrName>ppt_y</p:attrName>
                                        </p:attrNameLst>
                                      </p:cBhvr>
                                      <p:tavLst>
                                        <p:tav tm="0">
                                          <p:val>
                                            <p:strVal val="#ppt_y+0.07"/>
                                          </p:val>
                                        </p:tav>
                                        <p:tav tm="100000">
                                          <p:val>
                                            <p:strVal val="#ppt_y"/>
                                          </p:val>
                                        </p:tav>
                                      </p:tavLst>
                                    </p:anim>
                                    <p:animEffect transition="in" filter="fade">
                                      <p:cBhvr>
                                        <p:cTn id="37" dur="550"/>
                                        <p:tgtEl>
                                          <p:spTgt spid="10"/>
                                        </p:tgtEl>
                                      </p:cBhvr>
                                    </p:animEffect>
                                  </p:childTnLst>
                                </p:cTn>
                              </p:par>
                              <p:par>
                                <p:cTn id="43" presetID="53" presetClass="entr" presetSubtype="16" fill="hold" grpId="0" nodeType="withEffect">
                                  <p:stCondLst>
                                    <p:cond delay="66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50" fill="hold"/>
                                        <p:tgtEl>
                                          <p:spTgt spid="11"/>
                                        </p:tgtEl>
                                        <p:attrNameLst>
                                          <p:attrName>ppt_w</p:attrName>
                                        </p:attrNameLst>
                                      </p:cBhvr>
                                      <p:tavLst>
                                        <p:tav tm="0">
                                          <p:val>
                                            <p:fltVal val="0"/>
                                          </p:val>
                                        </p:tav>
                                        <p:tav tm="100000">
                                          <p:val>
                                            <p:strVal val="#ppt_w"/>
                                          </p:val>
                                        </p:tav>
                                      </p:tavLst>
                                    </p:anim>
                                    <p:anim calcmode="lin" valueType="num">
                                      <p:cBhvr additive="base">
                                        <p:cTn id="41" dur="550" fill="hold"/>
                                        <p:tgtEl>
                                          <p:spTgt spid="11"/>
                                        </p:tgtEl>
                                        <p:attrNameLst>
                                          <p:attrName>ppt_h</p:attrName>
                                        </p:attrNameLst>
                                      </p:cBhvr>
                                      <p:tavLst>
                                        <p:tav tm="0">
                                          <p:val>
                                            <p:fltVal val="0"/>
                                          </p:val>
                                        </p:tav>
                                        <p:tav tm="100000">
                                          <p:val>
                                            <p:strVal val="#ppt_h"/>
                                          </p:val>
                                        </p:tav>
                                      </p:tavLst>
                                    </p:anim>
                                    <p:animEffect transition="in" filter="fade">
                                      <p:cBhvr>
                                        <p:cTn id="42" dur="550"/>
                                        <p:tgtEl>
                                          <p:spTgt spid="11"/>
                                        </p:tgtEl>
                                      </p:cBhvr>
                                    </p:animEffect>
                                  </p:childTnLst>
                                </p:cTn>
                              </p:par>
                              <p:par>
                                <p:cTn id="46" presetID="10" presetClass="entr" presetSubtype="0" fill="hold" grpId="0" nodeType="withEffect">
                                  <p:stCondLst>
                                    <p:cond delay="66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50"/>
                                        <p:tgtEl>
                                          <p:spTgt spid="12"/>
                                        </p:tgtEl>
                                      </p:cBhvr>
                                    </p:animEffect>
                                  </p:childTnLst>
                                </p:cTn>
                              </p:par>
                              <p:par>
                                <p:cTn id="50" presetID="2" presetClass="entr" presetSubtype="4" fill="hold" grpId="0" nodeType="withEffect">
                                  <p:stCondLst>
                                    <p:cond delay="75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50" fill="hold"/>
                                        <p:tgtEl>
                                          <p:spTgt spid="13"/>
                                        </p:tgtEl>
                                        <p:attrNameLst>
                                          <p:attrName>ppt_y</p:attrName>
                                        </p:attrNameLst>
                                      </p:cBhvr>
                                      <p:tavLst>
                                        <p:tav tm="0">
                                          <p:val>
                                            <p:strVal val="#ppt_y+0.07"/>
                                          </p:val>
                                        </p:tav>
                                        <p:tav tm="100000">
                                          <p:val>
                                            <p:strVal val="#ppt_y"/>
                                          </p:val>
                                        </p:tav>
                                      </p:tavLst>
                                    </p:anim>
                                    <p:animEffect transition="in" filter="fade">
                                      <p:cBhvr>
                                        <p:cTn id="49" dur="550"/>
                                        <p:tgtEl>
                                          <p:spTgt spid="13"/>
                                        </p:tgtEl>
                                      </p:cBhvr>
                                    </p:animEffect>
                                  </p:childTnLst>
                                </p:cTn>
                              </p:par>
                              <p:par>
                                <p:cTn id="55" presetID="53" presetClass="entr" presetSubtype="16" fill="hold" grpId="0" nodeType="withEffect">
                                  <p:stCondLst>
                                    <p:cond delay="81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50" fill="hold"/>
                                        <p:tgtEl>
                                          <p:spTgt spid="14"/>
                                        </p:tgtEl>
                                        <p:attrNameLst>
                                          <p:attrName>ppt_w</p:attrName>
                                        </p:attrNameLst>
                                      </p:cBhvr>
                                      <p:tavLst>
                                        <p:tav tm="0">
                                          <p:val>
                                            <p:fltVal val="0"/>
                                          </p:val>
                                        </p:tav>
                                        <p:tav tm="100000">
                                          <p:val>
                                            <p:strVal val="#ppt_w"/>
                                          </p:val>
                                        </p:tav>
                                      </p:tavLst>
                                    </p:anim>
                                    <p:anim calcmode="lin" valueType="num">
                                      <p:cBhvr additive="base">
                                        <p:cTn id="53" dur="550" fill="hold"/>
                                        <p:tgtEl>
                                          <p:spTgt spid="14"/>
                                        </p:tgtEl>
                                        <p:attrNameLst>
                                          <p:attrName>ppt_h</p:attrName>
                                        </p:attrNameLst>
                                      </p:cBhvr>
                                      <p:tavLst>
                                        <p:tav tm="0">
                                          <p:val>
                                            <p:fltVal val="0"/>
                                          </p:val>
                                        </p:tav>
                                        <p:tav tm="100000">
                                          <p:val>
                                            <p:strVal val="#ppt_h"/>
                                          </p:val>
                                        </p:tav>
                                      </p:tavLst>
                                    </p:anim>
                                    <p:animEffect transition="in" filter="fade">
                                      <p:cBhvr>
                                        <p:cTn id="54" dur="550"/>
                                        <p:tgtEl>
                                          <p:spTgt spid="14"/>
                                        </p:tgtEl>
                                      </p:cBhvr>
                                    </p:animEffect>
                                  </p:childTnLst>
                                </p:cTn>
                              </p:par>
                              <p:par>
                                <p:cTn id="58" presetID="10" presetClass="entr" presetSubtype="0" fill="hold" grpId="0" nodeType="withEffect">
                                  <p:stCondLst>
                                    <p:cond delay="81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50"/>
                                        <p:tgtEl>
                                          <p:spTgt spid="15"/>
                                        </p:tgtEl>
                                      </p:cBhvr>
                                    </p:animEffect>
                                  </p:childTnLst>
                                </p:cTn>
                              </p:par>
                              <p:par>
                                <p:cTn id="62" presetID="2" presetClass="entr" presetSubtype="4" fill="hold" grpId="0" nodeType="withEffect">
                                  <p:stCondLst>
                                    <p:cond delay="90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50" fill="hold"/>
                                        <p:tgtEl>
                                          <p:spTgt spid="16"/>
                                        </p:tgtEl>
                                        <p:attrNameLst>
                                          <p:attrName>ppt_y</p:attrName>
                                        </p:attrNameLst>
                                      </p:cBhvr>
                                      <p:tavLst>
                                        <p:tav tm="0">
                                          <p:val>
                                            <p:strVal val="#ppt_y+0.07"/>
                                          </p:val>
                                        </p:tav>
                                        <p:tav tm="100000">
                                          <p:val>
                                            <p:strVal val="#ppt_y"/>
                                          </p:val>
                                        </p:tav>
                                      </p:tavLst>
                                    </p:anim>
                                    <p:animEffect transition="in" filter="fade">
                                      <p:cBhvr>
                                        <p:cTn id="61" dur="550"/>
                                        <p:tgtEl>
                                          <p:spTgt spid="16"/>
                                        </p:tgtEl>
                                      </p:cBhvr>
                                    </p:animEffect>
                                  </p:childTnLst>
                                </p:cTn>
                              </p:par>
                              <p:par>
                                <p:cTn id="67" presetID="53" presetClass="entr" presetSubtype="16" fill="hold" grpId="0" nodeType="withEffect">
                                  <p:stCondLst>
                                    <p:cond delay="96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50" fill="hold"/>
                                        <p:tgtEl>
                                          <p:spTgt spid="17"/>
                                        </p:tgtEl>
                                        <p:attrNameLst>
                                          <p:attrName>ppt_w</p:attrName>
                                        </p:attrNameLst>
                                      </p:cBhvr>
                                      <p:tavLst>
                                        <p:tav tm="0">
                                          <p:val>
                                            <p:fltVal val="0"/>
                                          </p:val>
                                        </p:tav>
                                        <p:tav tm="100000">
                                          <p:val>
                                            <p:strVal val="#ppt_w"/>
                                          </p:val>
                                        </p:tav>
                                      </p:tavLst>
                                    </p:anim>
                                    <p:anim calcmode="lin" valueType="num">
                                      <p:cBhvr additive="base">
                                        <p:cTn id="65" dur="550" fill="hold"/>
                                        <p:tgtEl>
                                          <p:spTgt spid="17"/>
                                        </p:tgtEl>
                                        <p:attrNameLst>
                                          <p:attrName>ppt_h</p:attrName>
                                        </p:attrNameLst>
                                      </p:cBhvr>
                                      <p:tavLst>
                                        <p:tav tm="0">
                                          <p:val>
                                            <p:fltVal val="0"/>
                                          </p:val>
                                        </p:tav>
                                        <p:tav tm="100000">
                                          <p:val>
                                            <p:strVal val="#ppt_h"/>
                                          </p:val>
                                        </p:tav>
                                      </p:tavLst>
                                    </p:anim>
                                    <p:animEffect transition="in" filter="fade">
                                      <p:cBhvr>
                                        <p:cTn id="66" dur="550"/>
                                        <p:tgtEl>
                                          <p:spTgt spid="17"/>
                                        </p:tgtEl>
                                      </p:cBhvr>
                                    </p:animEffect>
                                  </p:childTnLst>
                                </p:cTn>
                              </p:par>
                              <p:par>
                                <p:cTn id="70" presetID="10" presetClass="entr" presetSubtype="0" fill="hold" grpId="0" nodeType="withEffect">
                                  <p:stCondLst>
                                    <p:cond delay="96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50"/>
                                        <p:tgtEl>
                                          <p:spTgt spid="18"/>
                                        </p:tgtEl>
                                      </p:cBhvr>
                                    </p:animEffect>
                                  </p:childTnLst>
                                </p:cTn>
                              </p:par>
                              <p:par>
                                <p:cTn id="74" presetID="2" presetClass="entr" presetSubtype="4" fill="hold" grpId="0" nodeType="withEffect">
                                  <p:stCondLst>
                                    <p:cond delay="105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550" fill="hold"/>
                                        <p:tgtEl>
                                          <p:spTgt spid="19"/>
                                        </p:tgtEl>
                                        <p:attrNameLst>
                                          <p:attrName>ppt_y</p:attrName>
                                        </p:attrNameLst>
                                      </p:cBhvr>
                                      <p:tavLst>
                                        <p:tav tm="0">
                                          <p:val>
                                            <p:strVal val="#ppt_y+0.07"/>
                                          </p:val>
                                        </p:tav>
                                        <p:tav tm="100000">
                                          <p:val>
                                            <p:strVal val="#ppt_y"/>
                                          </p:val>
                                        </p:tav>
                                      </p:tavLst>
                                    </p:anim>
                                    <p:animEffect transition="in" filter="fade">
                                      <p:cBhvr>
                                        <p:cTn id="73" dur="550"/>
                                        <p:tgtEl>
                                          <p:spTgt spid="19"/>
                                        </p:tgtEl>
                                      </p:cBhvr>
                                    </p:animEffect>
                                  </p:childTnLst>
                                </p:cTn>
                              </p:par>
                              <p:par>
                                <p:cTn id="79" presetID="53" presetClass="entr" presetSubtype="16" fill="hold" grpId="0" nodeType="withEffect">
                                  <p:stCondLst>
                                    <p:cond delay="111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50" fill="hold"/>
                                        <p:tgtEl>
                                          <p:spTgt spid="20"/>
                                        </p:tgtEl>
                                        <p:attrNameLst>
                                          <p:attrName>ppt_w</p:attrName>
                                        </p:attrNameLst>
                                      </p:cBhvr>
                                      <p:tavLst>
                                        <p:tav tm="0">
                                          <p:val>
                                            <p:fltVal val="0"/>
                                          </p:val>
                                        </p:tav>
                                        <p:tav tm="100000">
                                          <p:val>
                                            <p:strVal val="#ppt_w"/>
                                          </p:val>
                                        </p:tav>
                                      </p:tavLst>
                                    </p:anim>
                                    <p:anim calcmode="lin" valueType="num">
                                      <p:cBhvr additive="base">
                                        <p:cTn id="77" dur="550" fill="hold"/>
                                        <p:tgtEl>
                                          <p:spTgt spid="20"/>
                                        </p:tgtEl>
                                        <p:attrNameLst>
                                          <p:attrName>ppt_h</p:attrName>
                                        </p:attrNameLst>
                                      </p:cBhvr>
                                      <p:tavLst>
                                        <p:tav tm="0">
                                          <p:val>
                                            <p:fltVal val="0"/>
                                          </p:val>
                                        </p:tav>
                                        <p:tav tm="100000">
                                          <p:val>
                                            <p:strVal val="#ppt_h"/>
                                          </p:val>
                                        </p:tav>
                                      </p:tavLst>
                                    </p:anim>
                                    <p:animEffect transition="in" filter="fade">
                                      <p:cBhvr>
                                        <p:cTn id="78" dur="550"/>
                                        <p:tgtEl>
                                          <p:spTgt spid="20"/>
                                        </p:tgtEl>
                                      </p:cBhvr>
                                    </p:animEffect>
                                  </p:childTnLst>
                                </p:cTn>
                              </p:par>
                              <p:par>
                                <p:cTn id="82" presetID="10" presetClass="entr" presetSubtype="0" fill="hold" grpId="0" nodeType="withEffect">
                                  <p:stCondLst>
                                    <p:cond delay="111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50"/>
                                        <p:tgtEl>
                                          <p:spTgt spid="21"/>
                                        </p:tgtEl>
                                      </p:cBhvr>
                                    </p:animEffect>
                                  </p:childTnLst>
                                </p:cTn>
                              </p:par>
                              <p:par>
                                <p:cTn id="86" presetID="2" presetClass="entr" presetSubtype="4" fill="hold" grpId="0" nodeType="withEffect">
                                  <p:stCondLst>
                                    <p:cond delay="120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50" fill="hold"/>
                                        <p:tgtEl>
                                          <p:spTgt spid="22"/>
                                        </p:tgtEl>
                                        <p:attrNameLst>
                                          <p:attrName>ppt_y</p:attrName>
                                        </p:attrNameLst>
                                      </p:cBhvr>
                                      <p:tavLst>
                                        <p:tav tm="0">
                                          <p:val>
                                            <p:strVal val="#ppt_y+0.07"/>
                                          </p:val>
                                        </p:tav>
                                        <p:tav tm="100000">
                                          <p:val>
                                            <p:strVal val="#ppt_y"/>
                                          </p:val>
                                        </p:tav>
                                      </p:tavLst>
                                    </p:anim>
                                    <p:animEffect transition="in" filter="fade">
                                      <p:cBhvr>
                                        <p:cTn id="85" dur="550"/>
                                        <p:tgtEl>
                                          <p:spTgt spid="22"/>
                                        </p:tgtEl>
                                      </p:cBhvr>
                                    </p:animEffect>
                                  </p:childTnLst>
                                </p:cTn>
                              </p:par>
                              <p:par>
                                <p:cTn id="91" presetID="53" presetClass="entr" presetSubtype="16" fill="hold" grpId="0" nodeType="withEffect">
                                  <p:stCondLst>
                                    <p:cond delay="1260"/>
                                  </p:stCondLst>
                                  <p:childTnLst>
                                    <p:set>
                                      <p:cBhvr>
                                        <p:cTn id="87" dur="1" fill="hold">
                                          <p:stCondLst>
                                            <p:cond delay="0"/>
                                          </p:stCondLst>
                                        </p:cTn>
                                        <p:tgtEl>
                                          <p:spTgt spid="23"/>
                                        </p:tgtEl>
                                        <p:attrNameLst>
                                          <p:attrName>style.visibility</p:attrName>
                                        </p:attrNameLst>
                                      </p:cBhvr>
                                      <p:to>
                                        <p:strVal val="visible"/>
                                      </p:to>
                                    </p:set>
                                    <p:anim calcmode="lin" valueType="num">
                                      <p:cBhvr additive="base">
                                        <p:cTn id="88" dur="550" fill="hold"/>
                                        <p:tgtEl>
                                          <p:spTgt spid="23"/>
                                        </p:tgtEl>
                                        <p:attrNameLst>
                                          <p:attrName>ppt_w</p:attrName>
                                        </p:attrNameLst>
                                      </p:cBhvr>
                                      <p:tavLst>
                                        <p:tav tm="0">
                                          <p:val>
                                            <p:fltVal val="0"/>
                                          </p:val>
                                        </p:tav>
                                        <p:tav tm="100000">
                                          <p:val>
                                            <p:strVal val="#ppt_w"/>
                                          </p:val>
                                        </p:tav>
                                      </p:tavLst>
                                    </p:anim>
                                    <p:anim calcmode="lin" valueType="num">
                                      <p:cBhvr additive="base">
                                        <p:cTn id="89" dur="550" fill="hold"/>
                                        <p:tgtEl>
                                          <p:spTgt spid="23"/>
                                        </p:tgtEl>
                                        <p:attrNameLst>
                                          <p:attrName>ppt_h</p:attrName>
                                        </p:attrNameLst>
                                      </p:cBhvr>
                                      <p:tavLst>
                                        <p:tav tm="0">
                                          <p:val>
                                            <p:fltVal val="0"/>
                                          </p:val>
                                        </p:tav>
                                        <p:tav tm="100000">
                                          <p:val>
                                            <p:strVal val="#ppt_h"/>
                                          </p:val>
                                        </p:tav>
                                      </p:tavLst>
                                    </p:anim>
                                    <p:animEffect transition="in" filter="fade">
                                      <p:cBhvr>
                                        <p:cTn id="90" dur="550"/>
                                        <p:tgtEl>
                                          <p:spTgt spid="23"/>
                                        </p:tgtEl>
                                      </p:cBhvr>
                                    </p:animEffect>
                                  </p:childTnLst>
                                </p:cTn>
                              </p:par>
                              <p:par>
                                <p:cTn id="96" presetID="53" presetClass="entr" presetSubtype="16" fill="hold" grpId="0" nodeType="withEffect">
                                  <p:stCondLst>
                                    <p:cond delay="1260"/>
                                  </p:stCondLst>
                                  <p:childTnLst>
                                    <p:set>
                                      <p:cBhvr>
                                        <p:cTn id="92" dur="1" fill="hold">
                                          <p:stCondLst>
                                            <p:cond delay="0"/>
                                          </p:stCondLst>
                                        </p:cTn>
                                        <p:tgtEl>
                                          <p:spTgt spid="24"/>
                                        </p:tgtEl>
                                        <p:attrNameLst>
                                          <p:attrName>style.visibility</p:attrName>
                                        </p:attrNameLst>
                                      </p:cBhvr>
                                      <p:to>
                                        <p:strVal val="visible"/>
                                      </p:to>
                                    </p:set>
                                    <p:anim calcmode="lin" valueType="num">
                                      <p:cBhvr additive="base">
                                        <p:cTn id="93" dur="550" fill="hold"/>
                                        <p:tgtEl>
                                          <p:spTgt spid="24"/>
                                        </p:tgtEl>
                                        <p:attrNameLst>
                                          <p:attrName>ppt_w</p:attrName>
                                        </p:attrNameLst>
                                      </p:cBhvr>
                                      <p:tavLst>
                                        <p:tav tm="0">
                                          <p:val>
                                            <p:fltVal val="0"/>
                                          </p:val>
                                        </p:tav>
                                        <p:tav tm="100000">
                                          <p:val>
                                            <p:strVal val="#ppt_w"/>
                                          </p:val>
                                        </p:tav>
                                      </p:tavLst>
                                    </p:anim>
                                    <p:anim calcmode="lin" valueType="num">
                                      <p:cBhvr additive="base">
                                        <p:cTn id="94" dur="550" fill="hold"/>
                                        <p:tgtEl>
                                          <p:spTgt spid="24"/>
                                        </p:tgtEl>
                                        <p:attrNameLst>
                                          <p:attrName>ppt_h</p:attrName>
                                        </p:attrNameLst>
                                      </p:cBhvr>
                                      <p:tavLst>
                                        <p:tav tm="0">
                                          <p:val>
                                            <p:fltVal val="0"/>
                                          </p:val>
                                        </p:tav>
                                        <p:tav tm="100000">
                                          <p:val>
                                            <p:strVal val="#ppt_h"/>
                                          </p:val>
                                        </p:tav>
                                      </p:tavLst>
                                    </p:anim>
                                    <p:animEffect transition="in" filter="fade">
                                      <p:cBhvr>
                                        <p:cTn id="95" dur="550"/>
                                        <p:tgtEl>
                                          <p:spTgt spid="24"/>
                                        </p:tgtEl>
                                      </p:cBhvr>
                                    </p:animEffect>
                                  </p:childTnLst>
                                </p:cTn>
                              </p:par>
                              <p:par>
                                <p:cTn id="99" presetID="10" presetClass="entr" presetSubtype="0" fill="hold" grpId="0" nodeType="withEffect">
                                  <p:stCondLst>
                                    <p:cond delay="126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50"/>
                                        <p:tgtEl>
                                          <p:spTgt spid="25"/>
                                        </p:tgtEl>
                                      </p:cBhvr>
                                    </p:animEffect>
                                  </p:childTnLst>
                                </p:cTn>
                              </p:par>
                              <p:par>
                                <p:cTn id="103" presetID="2" presetClass="entr" presetSubtype="4" fill="hold" grpId="0" nodeType="withEffect">
                                  <p:stCondLst>
                                    <p:cond delay="1350"/>
                                  </p:stCondLst>
                                  <p:childTnLst>
                                    <p:set>
                                      <p:cBhvr>
                                        <p:cTn id="100" dur="1" fill="hold">
                                          <p:stCondLst>
                                            <p:cond delay="0"/>
                                          </p:stCondLst>
                                        </p:cTn>
                                        <p:tgtEl>
                                          <p:spTgt spid="26"/>
                                        </p:tgtEl>
                                        <p:attrNameLst>
                                          <p:attrName>style.visibility</p:attrName>
                                        </p:attrNameLst>
                                      </p:cBhvr>
                                      <p:to>
                                        <p:strVal val="visible"/>
                                      </p:to>
                                    </p:set>
                                    <p:anim calcmode="lin" valueType="num">
                                      <p:cBhvr additive="base">
                                        <p:cTn id="101" dur="550" fill="hold"/>
                                        <p:tgtEl>
                                          <p:spTgt spid="26"/>
                                        </p:tgtEl>
                                        <p:attrNameLst>
                                          <p:attrName>ppt_y</p:attrName>
                                        </p:attrNameLst>
                                      </p:cBhvr>
                                      <p:tavLst>
                                        <p:tav tm="0">
                                          <p:val>
                                            <p:strVal val="#ppt_y+0.07"/>
                                          </p:val>
                                        </p:tav>
                                        <p:tav tm="100000">
                                          <p:val>
                                            <p:strVal val="#ppt_y"/>
                                          </p:val>
                                        </p:tav>
                                      </p:tavLst>
                                    </p:anim>
                                    <p:animEffect transition="in" filter="fade">
                                      <p:cBhvr>
                                        <p:cTn id="102" dur="550"/>
                                        <p:tgtEl>
                                          <p:spTgt spid="26"/>
                                        </p:tgtEl>
                                      </p:cBhvr>
                                    </p:animEffect>
                                  </p:childTnLst>
                                </p:cTn>
                              </p:par>
                              <p:par>
                                <p:cTn id="107" presetID="2" presetClass="entr" presetSubtype="4" fill="hold" grpId="0" nodeType="withEffect">
                                  <p:stCondLst>
                                    <p:cond delay="1500"/>
                                  </p:stCondLst>
                                  <p:childTnLst>
                                    <p:set>
                                      <p:cBhvr>
                                        <p:cTn id="104" dur="1" fill="hold">
                                          <p:stCondLst>
                                            <p:cond delay="0"/>
                                          </p:stCondLst>
                                        </p:cTn>
                                        <p:tgtEl>
                                          <p:spTgt spid="27"/>
                                        </p:tgtEl>
                                        <p:attrNameLst>
                                          <p:attrName>style.visibility</p:attrName>
                                        </p:attrNameLst>
                                      </p:cBhvr>
                                      <p:to>
                                        <p:strVal val="visible"/>
                                      </p:to>
                                    </p:set>
                                    <p:anim calcmode="lin" valueType="num">
                                      <p:cBhvr additive="base">
                                        <p:cTn id="105" dur="550" fill="hold"/>
                                        <p:tgtEl>
                                          <p:spTgt spid="27"/>
                                        </p:tgtEl>
                                        <p:attrNameLst>
                                          <p:attrName>ppt_y</p:attrName>
                                        </p:attrNameLst>
                                      </p:cBhvr>
                                      <p:tavLst>
                                        <p:tav tm="0">
                                          <p:val>
                                            <p:strVal val="#ppt_y+0.07"/>
                                          </p:val>
                                        </p:tav>
                                        <p:tav tm="100000">
                                          <p:val>
                                            <p:strVal val="#ppt_y"/>
                                          </p:val>
                                        </p:tav>
                                      </p:tavLst>
                                    </p:anim>
                                    <p:animEffect transition="in" filter="fade">
                                      <p:cBhvr>
                                        <p:cTn id="106" dur="5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3" grpId="0" animBg="1"/>
      <p:bldP spid="25" grpId="0" animBg="1"/>
      <p:bldP spid="26" grpId="0" animBg="1"/>
      <p:bldP spid="2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tx1"/>
                </a:solidFill>
              </a:rPr>
              <a:t>Key features</a:t>
            </a:r>
            <a:endParaRPr lang="en-US" sz="3600" dirty="0"/>
          </a:p>
        </p:txBody>
      </p:sp>
      <p:sp>
        <p:nvSpPr>
          <p:cNvPr id="3" name="Predictive HVAC &amp; Lighting card"/>
          <p:cNvSpPr/>
          <p:nvPr/>
        </p:nvSpPr>
        <p:spPr>
          <a:xfrm>
            <a:off x="640080" y="1600200"/>
            <a:ext cx="3429000" cy="4480560"/>
          </a:xfrm>
          <a:prstGeom prst="roundRect">
            <a:avLst>
              <a:gd name="adj" fmla="val 4000"/>
            </a:avLst>
          </a:prstGeom>
          <a:solidFill>
            <a:schemeClr val="bg2"/>
          </a:solidFill>
          <a:ln/>
        </p:spPr>
      </p:sp>
      <p:sp>
        <p:nvSpPr>
          <p:cNvPr id="4" name="Predictive HVAC &amp; Lighting circle"/>
          <p:cNvSpPr/>
          <p:nvPr/>
        </p:nvSpPr>
        <p:spPr>
          <a:xfrm>
            <a:off x="914400" y="1920240"/>
            <a:ext cx="1005840" cy="1005840"/>
          </a:xfrm>
          <a:prstGeom prst="ellipse">
            <a:avLst/>
          </a:prstGeom>
          <a:solidFill>
            <a:schemeClr val="accent1"/>
          </a:solidFill>
          <a:ln/>
        </p:spPr>
      </p:sp>
      <p:pic>
        <p:nvPicPr>
          <p:cNvPr id="5" name="Image 0" descr="Predictive HVAC &amp; Lighting"/>
          <p:cNvPicPr>
            <a:picLocks noChangeAspect="1"/>
          </p:cNvPicPr>
          <p:nvPr/>
        </p:nvPicPr>
        <p:blipFill>
          <a:blip r:embed="rId3"/>
          <a:stretch>
            <a:fillRect/>
          </a:stretch>
        </p:blipFill>
        <p:spPr>
          <a:xfrm>
            <a:off x="1165860" y="2171700"/>
            <a:ext cx="502920" cy="502920"/>
          </a:xfrm>
          <a:prstGeom prst="rect">
            <a:avLst/>
          </a:prstGeom>
        </p:spPr>
      </p:pic>
      <p:sp>
        <p:nvSpPr>
          <p:cNvPr id="6" name="Text 3"/>
          <p:cNvSpPr txBox="1"/>
          <p:nvPr/>
        </p:nvSpPr>
        <p:spPr>
          <a:xfrm>
            <a:off x="960120" y="3200400"/>
            <a:ext cx="2788920" cy="77724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Predictive HVAC &amp; Lighting</a:t>
            </a:r>
            <a:endParaRPr lang="en-US" sz="2200" dirty="0"/>
          </a:p>
        </p:txBody>
      </p:sp>
      <p:sp>
        <p:nvSpPr>
          <p:cNvPr id="7" name="Text 4"/>
          <p:cNvSpPr txBox="1"/>
          <p:nvPr/>
        </p:nvSpPr>
        <p:spPr>
          <a:xfrm>
            <a:off x="960120" y="4023360"/>
            <a:ext cx="2788920" cy="1005840"/>
          </a:xfrm>
          <a:prstGeom prst="rect">
            <a:avLst/>
          </a:prstGeom>
          <a:noFill/>
          <a:ln/>
        </p:spPr>
        <p:txBody>
          <a:bodyPr wrap="square" lIns="0" tIns="0" rIns="0" bIns="0" rtlCol="0" anchor="t"/>
          <a:lstStyle/>
          <a:p>
            <a:pPr marL="0" indent="0">
              <a:buNone/>
            </a:pPr>
            <a:r>
              <a:rPr lang="en-US" sz="1600" dirty="0">
                <a:solidFill>
                  <a:schemeClr val="tx2"/>
                </a:solidFill>
              </a:rPr>
              <a:t>Adjusts temperature and dimming from schedules and crowd density</a:t>
            </a:r>
            <a:endParaRPr lang="en-US" sz="1600" dirty="0"/>
          </a:p>
        </p:txBody>
      </p:sp>
      <p:sp>
        <p:nvSpPr>
          <p:cNvPr id="8" name="Predictive HVAC &amp;amp; Lighting audience"/>
          <p:cNvSpPr txBox="1"/>
          <p:nvPr/>
        </p:nvSpPr>
        <p:spPr>
          <a:xfrm>
            <a:off x="960120" y="5257800"/>
            <a:ext cx="2788920" cy="502920"/>
          </a:xfrm>
          <a:prstGeom prst="roundRect">
            <a:avLst>
              <a:gd name="adj" fmla="val 14545"/>
            </a:avLst>
          </a:prstGeom>
          <a:solidFill>
            <a:schemeClr val="accent1"/>
          </a:solidFill>
          <a:ln/>
        </p:spPr>
        <p:txBody>
          <a:bodyPr wrap="square" lIns="635" tIns="635" rIns="635" bIns="635" rtlCol="0" anchor="ctr"/>
          <a:lstStyle/>
          <a:p>
            <a:pPr marL="0" indent="0" algn="ctr">
              <a:buNone/>
            </a:pPr>
            <a:r>
              <a:rPr lang="en-US" sz="1300" b="1" dirty="0">
                <a:solidFill>
                  <a:schemeClr val="bg1"/>
                </a:solidFill>
              </a:rPr>
              <a:t>For: Facility Directors</a:t>
            </a:r>
            <a:endParaRPr lang="en-US" sz="1300" dirty="0"/>
          </a:p>
        </p:txBody>
      </p:sp>
      <p:sp>
        <p:nvSpPr>
          <p:cNvPr id="9" name="Smart Waste Router card"/>
          <p:cNvSpPr/>
          <p:nvPr/>
        </p:nvSpPr>
        <p:spPr>
          <a:xfrm>
            <a:off x="4379976" y="1600200"/>
            <a:ext cx="3429000" cy="4480560"/>
          </a:xfrm>
          <a:prstGeom prst="roundRect">
            <a:avLst>
              <a:gd name="adj" fmla="val 4000"/>
            </a:avLst>
          </a:prstGeom>
          <a:solidFill>
            <a:schemeClr val="bg2"/>
          </a:solidFill>
          <a:ln/>
        </p:spPr>
      </p:sp>
      <p:sp>
        <p:nvSpPr>
          <p:cNvPr id="10" name="Smart Waste Router circle"/>
          <p:cNvSpPr/>
          <p:nvPr/>
        </p:nvSpPr>
        <p:spPr>
          <a:xfrm>
            <a:off x="4654296" y="1920240"/>
            <a:ext cx="1005840" cy="1005840"/>
          </a:xfrm>
          <a:prstGeom prst="ellipse">
            <a:avLst/>
          </a:prstGeom>
          <a:solidFill>
            <a:schemeClr val="accent1"/>
          </a:solidFill>
          <a:ln/>
        </p:spPr>
      </p:sp>
      <p:pic>
        <p:nvPicPr>
          <p:cNvPr id="11" name="Image 1" descr="Smart Waste Router"/>
          <p:cNvPicPr>
            <a:picLocks noChangeAspect="1"/>
          </p:cNvPicPr>
          <p:nvPr/>
        </p:nvPicPr>
        <p:blipFill>
          <a:blip r:embed="rId4"/>
          <a:stretch>
            <a:fillRect/>
          </a:stretch>
        </p:blipFill>
        <p:spPr>
          <a:xfrm>
            <a:off x="4905756" y="2171700"/>
            <a:ext cx="502920" cy="502920"/>
          </a:xfrm>
          <a:prstGeom prst="rect">
            <a:avLst/>
          </a:prstGeom>
        </p:spPr>
      </p:pic>
      <p:sp>
        <p:nvSpPr>
          <p:cNvPr id="12" name="Text 8"/>
          <p:cNvSpPr txBox="1"/>
          <p:nvPr/>
        </p:nvSpPr>
        <p:spPr>
          <a:xfrm>
            <a:off x="4700016" y="3200400"/>
            <a:ext cx="2788920" cy="77724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Smart Waste Router</a:t>
            </a:r>
            <a:endParaRPr lang="en-US" sz="2200" dirty="0"/>
          </a:p>
        </p:txBody>
      </p:sp>
      <p:sp>
        <p:nvSpPr>
          <p:cNvPr id="13" name="Text 9"/>
          <p:cNvSpPr txBox="1"/>
          <p:nvPr/>
        </p:nvSpPr>
        <p:spPr>
          <a:xfrm>
            <a:off x="4700016" y="4023360"/>
            <a:ext cx="2788920" cy="1005840"/>
          </a:xfrm>
          <a:prstGeom prst="rect">
            <a:avLst/>
          </a:prstGeom>
          <a:noFill/>
          <a:ln/>
        </p:spPr>
        <p:txBody>
          <a:bodyPr wrap="square" lIns="0" tIns="0" rIns="0" bIns="0" rtlCol="0" anchor="t"/>
          <a:lstStyle/>
          <a:p>
            <a:pPr marL="0" indent="0">
              <a:buNone/>
            </a:pPr>
            <a:r>
              <a:rPr lang="en-US" sz="1600" dirty="0">
                <a:solidFill>
                  <a:schemeClr val="tx2"/>
                </a:solidFill>
              </a:rPr>
              <a:t>Camera AI alerts staff at 80%+ full, optimizing routes</a:t>
            </a:r>
            <a:endParaRPr lang="en-US" sz="1600" dirty="0"/>
          </a:p>
        </p:txBody>
      </p:sp>
      <p:sp>
        <p:nvSpPr>
          <p:cNvPr id="14" name="Smart Waste Router audience"/>
          <p:cNvSpPr txBox="1"/>
          <p:nvPr/>
        </p:nvSpPr>
        <p:spPr>
          <a:xfrm>
            <a:off x="4700016" y="5257800"/>
            <a:ext cx="2788920" cy="502920"/>
          </a:xfrm>
          <a:prstGeom prst="roundRect">
            <a:avLst>
              <a:gd name="adj" fmla="val 14545"/>
            </a:avLst>
          </a:prstGeom>
          <a:solidFill>
            <a:schemeClr val="accent1"/>
          </a:solidFill>
          <a:ln/>
        </p:spPr>
        <p:txBody>
          <a:bodyPr wrap="square" lIns="635" tIns="635" rIns="635" bIns="635" rtlCol="0" anchor="ctr"/>
          <a:lstStyle/>
          <a:p>
            <a:pPr marL="0" indent="0" algn="ctr">
              <a:buNone/>
            </a:pPr>
            <a:r>
              <a:rPr lang="en-US" sz="1300" b="1" dirty="0">
                <a:solidFill>
                  <a:schemeClr val="bg1"/>
                </a:solidFill>
              </a:rPr>
              <a:t>For: Facility Directors</a:t>
            </a:r>
            <a:endParaRPr lang="en-US" sz="1300" dirty="0"/>
          </a:p>
        </p:txBody>
      </p:sp>
      <p:sp>
        <p:nvSpPr>
          <p:cNvPr id="15" name="Gamification Dashboard card"/>
          <p:cNvSpPr/>
          <p:nvPr/>
        </p:nvSpPr>
        <p:spPr>
          <a:xfrm>
            <a:off x="8119872" y="1600200"/>
            <a:ext cx="3429000" cy="4480560"/>
          </a:xfrm>
          <a:prstGeom prst="roundRect">
            <a:avLst>
              <a:gd name="adj" fmla="val 4000"/>
            </a:avLst>
          </a:prstGeom>
          <a:solidFill>
            <a:schemeClr val="bg2"/>
          </a:solidFill>
          <a:ln/>
        </p:spPr>
      </p:sp>
      <p:sp>
        <p:nvSpPr>
          <p:cNvPr id="16" name="Gamification Dashboard circle"/>
          <p:cNvSpPr/>
          <p:nvPr/>
        </p:nvSpPr>
        <p:spPr>
          <a:xfrm>
            <a:off x="8394192" y="1920240"/>
            <a:ext cx="1005840" cy="1005840"/>
          </a:xfrm>
          <a:prstGeom prst="ellipse">
            <a:avLst/>
          </a:prstGeom>
          <a:solidFill>
            <a:schemeClr val="accent1"/>
          </a:solidFill>
          <a:ln/>
        </p:spPr>
      </p:sp>
      <p:pic>
        <p:nvPicPr>
          <p:cNvPr id="17" name="Image 2" descr="Gamification Dashboard"/>
          <p:cNvPicPr>
            <a:picLocks noChangeAspect="1"/>
          </p:cNvPicPr>
          <p:nvPr/>
        </p:nvPicPr>
        <p:blipFill>
          <a:blip r:embed="rId5"/>
          <a:stretch>
            <a:fillRect/>
          </a:stretch>
        </p:blipFill>
        <p:spPr>
          <a:xfrm>
            <a:off x="8645652" y="2171700"/>
            <a:ext cx="502920" cy="502920"/>
          </a:xfrm>
          <a:prstGeom prst="rect">
            <a:avLst/>
          </a:prstGeom>
        </p:spPr>
      </p:pic>
      <p:sp>
        <p:nvSpPr>
          <p:cNvPr id="18" name="Text 13"/>
          <p:cNvSpPr txBox="1"/>
          <p:nvPr/>
        </p:nvSpPr>
        <p:spPr>
          <a:xfrm>
            <a:off x="8439912" y="3200400"/>
            <a:ext cx="2788920" cy="77724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Gamification Dashboard</a:t>
            </a:r>
            <a:endParaRPr lang="en-US" sz="2200" dirty="0"/>
          </a:p>
        </p:txBody>
      </p:sp>
      <p:sp>
        <p:nvSpPr>
          <p:cNvPr id="19" name="Text 14"/>
          <p:cNvSpPr txBox="1"/>
          <p:nvPr/>
        </p:nvSpPr>
        <p:spPr>
          <a:xfrm>
            <a:off x="8439912" y="4023360"/>
            <a:ext cx="2788920" cy="1005840"/>
          </a:xfrm>
          <a:prstGeom prst="rect">
            <a:avLst/>
          </a:prstGeom>
          <a:noFill/>
          <a:ln/>
        </p:spPr>
        <p:txBody>
          <a:bodyPr wrap="square" lIns="0" tIns="0" rIns="0" bIns="0" rtlCol="0" anchor="t"/>
          <a:lstStyle/>
          <a:p>
            <a:pPr marL="0" indent="0">
              <a:buNone/>
            </a:pPr>
            <a:r>
              <a:rPr lang="en-US" sz="1600" dirty="0">
                <a:solidFill>
                  <a:schemeClr val="tx2"/>
                </a:solidFill>
              </a:rPr>
              <a:t>Public mobile app tracks dorm savings and rewards low-use halls</a:t>
            </a:r>
            <a:endParaRPr lang="en-US" sz="1600" dirty="0"/>
          </a:p>
        </p:txBody>
      </p:sp>
      <p:sp>
        <p:nvSpPr>
          <p:cNvPr id="20" name="Gamification Dashboard audience"/>
          <p:cNvSpPr txBox="1"/>
          <p:nvPr/>
        </p:nvSpPr>
        <p:spPr>
          <a:xfrm>
            <a:off x="8439912" y="5257800"/>
            <a:ext cx="2788920" cy="502920"/>
          </a:xfrm>
          <a:prstGeom prst="roundRect">
            <a:avLst>
              <a:gd name="adj" fmla="val 14545"/>
            </a:avLst>
          </a:prstGeom>
          <a:solidFill>
            <a:schemeClr val="accent1"/>
          </a:solidFill>
          <a:ln/>
        </p:spPr>
        <p:txBody>
          <a:bodyPr wrap="square" lIns="635" tIns="635" rIns="635" bIns="635" rtlCol="0" anchor="ctr"/>
          <a:lstStyle/>
          <a:p>
            <a:pPr marL="0" indent="0" algn="ctr">
              <a:buNone/>
            </a:pPr>
            <a:r>
              <a:rPr lang="en-US" sz="1300" b="1" dirty="0">
                <a:solidFill>
                  <a:schemeClr val="bg1"/>
                </a:solidFill>
              </a:rPr>
              <a:t>For: Students, Sustainability Officers</a:t>
            </a:r>
            <a:endParaRPr lang="en-US" sz="1300" dirty="0"/>
          </a:p>
        </p:txBody>
      </p:sp>
      <p:sp>
        <p:nvSpPr>
          <p:cNvPr id="2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9"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5" presetID="53" presetClass="entr" presetSubtype="16" fill="hold" grpId="0" nodeType="withEffect">
                                  <p:stCondLst>
                                    <p:cond delay="21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ppt_w</p:attrName>
                                        </p:attrNameLst>
                                      </p:cBhvr>
                                      <p:tavLst>
                                        <p:tav tm="0">
                                          <p:val>
                                            <p:fltVal val="0"/>
                                          </p:val>
                                        </p:tav>
                                        <p:tav tm="100000">
                                          <p:val>
                                            <p:strVal val="#ppt_w"/>
                                          </p:val>
                                        </p:tav>
                                      </p:tavLst>
                                    </p:anim>
                                    <p:anim calcmode="lin" valueType="num">
                                      <p:cBhvr additive="base">
                                        <p:cTn id="13" dur="550" fill="hold"/>
                                        <p:tgtEl>
                                          <p:spTgt spid="4"/>
                                        </p:tgtEl>
                                        <p:attrNameLst>
                                          <p:attrName>ppt_h</p:attrName>
                                        </p:attrNameLst>
                                      </p:cBhvr>
                                      <p:tavLst>
                                        <p:tav tm="0">
                                          <p:val>
                                            <p:fltVal val="0"/>
                                          </p:val>
                                        </p:tav>
                                        <p:tav tm="100000">
                                          <p:val>
                                            <p:strVal val="#ppt_h"/>
                                          </p:val>
                                        </p:tav>
                                      </p:tavLst>
                                    </p:anim>
                                    <p:animEffect transition="in" filter="fade">
                                      <p:cBhvr>
                                        <p:cTn id="14" dur="550"/>
                                        <p:tgtEl>
                                          <p:spTgt spid="4"/>
                                        </p:tgtEl>
                                      </p:cBhvr>
                                    </p:animEffect>
                                  </p:childTnLst>
                                </p:cTn>
                              </p:par>
                              <p:par>
                                <p:cTn id="20" presetID="53" presetClass="entr" presetSubtype="16" fill="hold" grpId="0" nodeType="withEffect">
                                  <p:stCondLst>
                                    <p:cond delay="21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3" presetID="10" presetClass="entr" presetSubtype="0" fill="hold" grpId="0" nodeType="withEffect">
                                  <p:stCondLst>
                                    <p:cond delay="2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childTnLst>
                                </p:cTn>
                              </p:par>
                              <p:par>
                                <p:cTn id="26" presetID="10" presetClass="entr" presetSubtype="0" fill="hold" grpId="0" nodeType="withEffect">
                                  <p:stCondLst>
                                    <p:cond delay="21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50"/>
                                        <p:tgtEl>
                                          <p:spTgt spid="7"/>
                                        </p:tgtEl>
                                      </p:cBhvr>
                                    </p:animEffect>
                                  </p:childTnLst>
                                </p:cTn>
                              </p:par>
                              <p:par>
                                <p:cTn id="30" presetID="2" presetClass="entr" presetSubtype="4" fill="hold" grpId="0" nodeType="withEffect">
                                  <p:stCondLst>
                                    <p:cond delay="21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50" fill="hold"/>
                                        <p:tgtEl>
                                          <p:spTgt spid="8"/>
                                        </p:tgtEl>
                                        <p:attrNameLst>
                                          <p:attrName>ppt_y</p:attrName>
                                        </p:attrNameLst>
                                      </p:cBhvr>
                                      <p:tavLst>
                                        <p:tav tm="0">
                                          <p:val>
                                            <p:strVal val="#ppt_y+0.07"/>
                                          </p:val>
                                        </p:tav>
                                        <p:tav tm="100000">
                                          <p:val>
                                            <p:strVal val="#ppt_y"/>
                                          </p:val>
                                        </p:tav>
                                      </p:tavLst>
                                    </p:anim>
                                    <p:animEffect transition="in" filter="fade">
                                      <p:cBhvr>
                                        <p:cTn id="29" dur="550"/>
                                        <p:tgtEl>
                                          <p:spTgt spid="8"/>
                                        </p:tgtEl>
                                      </p:cBhvr>
                                    </p:animEffect>
                                  </p:childTnLst>
                                </p:cTn>
                              </p:par>
                              <p:par>
                                <p:cTn id="34" presetID="2" presetClass="entr" presetSubtype="4"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50" fill="hold"/>
                                        <p:tgtEl>
                                          <p:spTgt spid="9"/>
                                        </p:tgtEl>
                                        <p:attrNameLst>
                                          <p:attrName>ppt_y</p:attrName>
                                        </p:attrNameLst>
                                      </p:cBhvr>
                                      <p:tavLst>
                                        <p:tav tm="0">
                                          <p:val>
                                            <p:strVal val="#ppt_y+0.07"/>
                                          </p:val>
                                        </p:tav>
                                        <p:tav tm="100000">
                                          <p:val>
                                            <p:strVal val="#ppt_y"/>
                                          </p:val>
                                        </p:tav>
                                      </p:tavLst>
                                    </p:anim>
                                    <p:animEffect transition="in" filter="fade">
                                      <p:cBhvr>
                                        <p:cTn id="33" dur="550"/>
                                        <p:tgtEl>
                                          <p:spTgt spid="9"/>
                                        </p:tgtEl>
                                      </p:cBhvr>
                                    </p:animEffect>
                                  </p:childTnLst>
                                </p:cTn>
                              </p:par>
                              <p:par>
                                <p:cTn id="39" presetID="53" presetClass="entr" presetSubtype="16" fill="hold" grpId="0" nodeType="withEffect">
                                  <p:stCondLst>
                                    <p:cond delay="36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50" fill="hold"/>
                                        <p:tgtEl>
                                          <p:spTgt spid="10"/>
                                        </p:tgtEl>
                                        <p:attrNameLst>
                                          <p:attrName>ppt_w</p:attrName>
                                        </p:attrNameLst>
                                      </p:cBhvr>
                                      <p:tavLst>
                                        <p:tav tm="0">
                                          <p:val>
                                            <p:fltVal val="0"/>
                                          </p:val>
                                        </p:tav>
                                        <p:tav tm="100000">
                                          <p:val>
                                            <p:strVal val="#ppt_w"/>
                                          </p:val>
                                        </p:tav>
                                      </p:tavLst>
                                    </p:anim>
                                    <p:anim calcmode="lin" valueType="num">
                                      <p:cBhvr additive="base">
                                        <p:cTn id="37" dur="550" fill="hold"/>
                                        <p:tgtEl>
                                          <p:spTgt spid="10"/>
                                        </p:tgtEl>
                                        <p:attrNameLst>
                                          <p:attrName>ppt_h</p:attrName>
                                        </p:attrNameLst>
                                      </p:cBhvr>
                                      <p:tavLst>
                                        <p:tav tm="0">
                                          <p:val>
                                            <p:fltVal val="0"/>
                                          </p:val>
                                        </p:tav>
                                        <p:tav tm="100000">
                                          <p:val>
                                            <p:strVal val="#ppt_h"/>
                                          </p:val>
                                        </p:tav>
                                      </p:tavLst>
                                    </p:anim>
                                    <p:animEffect transition="in" filter="fade">
                                      <p:cBhvr>
                                        <p:cTn id="38" dur="550"/>
                                        <p:tgtEl>
                                          <p:spTgt spid="10"/>
                                        </p:tgtEl>
                                      </p:cBhvr>
                                    </p:animEffect>
                                  </p:childTnLst>
                                </p:cTn>
                              </p:par>
                              <p:par>
                                <p:cTn id="44" presetID="53" presetClass="entr" presetSubtype="16" fill="hold" grpId="0" nodeType="withEffect">
                                  <p:stCondLst>
                                    <p:cond delay="36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50" fill="hold"/>
                                        <p:tgtEl>
                                          <p:spTgt spid="11"/>
                                        </p:tgtEl>
                                        <p:attrNameLst>
                                          <p:attrName>ppt_w</p:attrName>
                                        </p:attrNameLst>
                                      </p:cBhvr>
                                      <p:tavLst>
                                        <p:tav tm="0">
                                          <p:val>
                                            <p:fltVal val="0"/>
                                          </p:val>
                                        </p:tav>
                                        <p:tav tm="100000">
                                          <p:val>
                                            <p:strVal val="#ppt_w"/>
                                          </p:val>
                                        </p:tav>
                                      </p:tavLst>
                                    </p:anim>
                                    <p:anim calcmode="lin" valueType="num">
                                      <p:cBhvr additive="base">
                                        <p:cTn id="42" dur="550" fill="hold"/>
                                        <p:tgtEl>
                                          <p:spTgt spid="11"/>
                                        </p:tgtEl>
                                        <p:attrNameLst>
                                          <p:attrName>ppt_h</p:attrName>
                                        </p:attrNameLst>
                                      </p:cBhvr>
                                      <p:tavLst>
                                        <p:tav tm="0">
                                          <p:val>
                                            <p:fltVal val="0"/>
                                          </p:val>
                                        </p:tav>
                                        <p:tav tm="100000">
                                          <p:val>
                                            <p:strVal val="#ppt_h"/>
                                          </p:val>
                                        </p:tav>
                                      </p:tavLst>
                                    </p:anim>
                                    <p:animEffect transition="in" filter="fade">
                                      <p:cBhvr>
                                        <p:cTn id="43" dur="550"/>
                                        <p:tgtEl>
                                          <p:spTgt spid="11"/>
                                        </p:tgtEl>
                                      </p:cBhvr>
                                    </p:animEffect>
                                  </p:childTnLst>
                                </p:cTn>
                              </p:par>
                              <p:par>
                                <p:cTn id="47" presetID="10" presetClass="entr" presetSubtype="0" fill="hold" grpId="0" nodeType="withEffect">
                                  <p:stCondLst>
                                    <p:cond delay="36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50"/>
                                        <p:tgtEl>
                                          <p:spTgt spid="12"/>
                                        </p:tgtEl>
                                      </p:cBhvr>
                                    </p:animEffect>
                                  </p:childTnLst>
                                </p:cTn>
                              </p:par>
                              <p:par>
                                <p:cTn id="50" presetID="10" presetClass="entr" presetSubtype="0" fill="hold" grpId="0" nodeType="withEffect">
                                  <p:stCondLst>
                                    <p:cond delay="36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50"/>
                                        <p:tgtEl>
                                          <p:spTgt spid="13"/>
                                        </p:tgtEl>
                                      </p:cBhvr>
                                    </p:animEffect>
                                  </p:childTnLst>
                                </p:cTn>
                              </p:par>
                              <p:par>
                                <p:cTn id="54" presetID="2" presetClass="entr" presetSubtype="4" fill="hold" grpId="0" nodeType="withEffect">
                                  <p:stCondLst>
                                    <p:cond delay="36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50" fill="hold"/>
                                        <p:tgtEl>
                                          <p:spTgt spid="14"/>
                                        </p:tgtEl>
                                        <p:attrNameLst>
                                          <p:attrName>ppt_y</p:attrName>
                                        </p:attrNameLst>
                                      </p:cBhvr>
                                      <p:tavLst>
                                        <p:tav tm="0">
                                          <p:val>
                                            <p:strVal val="#ppt_y+0.07"/>
                                          </p:val>
                                        </p:tav>
                                        <p:tav tm="100000">
                                          <p:val>
                                            <p:strVal val="#ppt_y"/>
                                          </p:val>
                                        </p:tav>
                                      </p:tavLst>
                                    </p:anim>
                                    <p:animEffect transition="in" filter="fade">
                                      <p:cBhvr>
                                        <p:cTn id="53" dur="550"/>
                                        <p:tgtEl>
                                          <p:spTgt spid="14"/>
                                        </p:tgtEl>
                                      </p:cBhvr>
                                    </p:animEffect>
                                  </p:childTnLst>
                                </p:cTn>
                              </p:par>
                              <p:par>
                                <p:cTn id="58" presetID="2" presetClass="entr" presetSubtype="4" fill="hold" grpId="0" nodeType="withEffect">
                                  <p:stCondLst>
                                    <p:cond delay="45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550" fill="hold"/>
                                        <p:tgtEl>
                                          <p:spTgt spid="15"/>
                                        </p:tgtEl>
                                        <p:attrNameLst>
                                          <p:attrName>ppt_y</p:attrName>
                                        </p:attrNameLst>
                                      </p:cBhvr>
                                      <p:tavLst>
                                        <p:tav tm="0">
                                          <p:val>
                                            <p:strVal val="#ppt_y+0.07"/>
                                          </p:val>
                                        </p:tav>
                                        <p:tav tm="100000">
                                          <p:val>
                                            <p:strVal val="#ppt_y"/>
                                          </p:val>
                                        </p:tav>
                                      </p:tavLst>
                                    </p:anim>
                                    <p:animEffect transition="in" filter="fade">
                                      <p:cBhvr>
                                        <p:cTn id="57" dur="550"/>
                                        <p:tgtEl>
                                          <p:spTgt spid="15"/>
                                        </p:tgtEl>
                                      </p:cBhvr>
                                    </p:animEffect>
                                  </p:childTnLst>
                                </p:cTn>
                              </p:par>
                              <p:par>
                                <p:cTn id="63" presetID="53" presetClass="entr" presetSubtype="16" fill="hold" grpId="0" nodeType="withEffect">
                                  <p:stCondLst>
                                    <p:cond delay="51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50" fill="hold"/>
                                        <p:tgtEl>
                                          <p:spTgt spid="16"/>
                                        </p:tgtEl>
                                        <p:attrNameLst>
                                          <p:attrName>ppt_w</p:attrName>
                                        </p:attrNameLst>
                                      </p:cBhvr>
                                      <p:tavLst>
                                        <p:tav tm="0">
                                          <p:val>
                                            <p:fltVal val="0"/>
                                          </p:val>
                                        </p:tav>
                                        <p:tav tm="100000">
                                          <p:val>
                                            <p:strVal val="#ppt_w"/>
                                          </p:val>
                                        </p:tav>
                                      </p:tavLst>
                                    </p:anim>
                                    <p:anim calcmode="lin" valueType="num">
                                      <p:cBhvr additive="base">
                                        <p:cTn id="61" dur="550" fill="hold"/>
                                        <p:tgtEl>
                                          <p:spTgt spid="16"/>
                                        </p:tgtEl>
                                        <p:attrNameLst>
                                          <p:attrName>ppt_h</p:attrName>
                                        </p:attrNameLst>
                                      </p:cBhvr>
                                      <p:tavLst>
                                        <p:tav tm="0">
                                          <p:val>
                                            <p:fltVal val="0"/>
                                          </p:val>
                                        </p:tav>
                                        <p:tav tm="100000">
                                          <p:val>
                                            <p:strVal val="#ppt_h"/>
                                          </p:val>
                                        </p:tav>
                                      </p:tavLst>
                                    </p:anim>
                                    <p:animEffect transition="in" filter="fade">
                                      <p:cBhvr>
                                        <p:cTn id="62" dur="550"/>
                                        <p:tgtEl>
                                          <p:spTgt spid="16"/>
                                        </p:tgtEl>
                                      </p:cBhvr>
                                    </p:animEffect>
                                  </p:childTnLst>
                                </p:cTn>
                              </p:par>
                              <p:par>
                                <p:cTn id="68" presetID="53" presetClass="entr" presetSubtype="16" fill="hold" grpId="0" nodeType="withEffect">
                                  <p:stCondLst>
                                    <p:cond delay="51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50" fill="hold"/>
                                        <p:tgtEl>
                                          <p:spTgt spid="17"/>
                                        </p:tgtEl>
                                        <p:attrNameLst>
                                          <p:attrName>ppt_w</p:attrName>
                                        </p:attrNameLst>
                                      </p:cBhvr>
                                      <p:tavLst>
                                        <p:tav tm="0">
                                          <p:val>
                                            <p:fltVal val="0"/>
                                          </p:val>
                                        </p:tav>
                                        <p:tav tm="100000">
                                          <p:val>
                                            <p:strVal val="#ppt_w"/>
                                          </p:val>
                                        </p:tav>
                                      </p:tavLst>
                                    </p:anim>
                                    <p:anim calcmode="lin" valueType="num">
                                      <p:cBhvr additive="base">
                                        <p:cTn id="66" dur="550" fill="hold"/>
                                        <p:tgtEl>
                                          <p:spTgt spid="17"/>
                                        </p:tgtEl>
                                        <p:attrNameLst>
                                          <p:attrName>ppt_h</p:attrName>
                                        </p:attrNameLst>
                                      </p:cBhvr>
                                      <p:tavLst>
                                        <p:tav tm="0">
                                          <p:val>
                                            <p:fltVal val="0"/>
                                          </p:val>
                                        </p:tav>
                                        <p:tav tm="100000">
                                          <p:val>
                                            <p:strVal val="#ppt_h"/>
                                          </p:val>
                                        </p:tav>
                                      </p:tavLst>
                                    </p:anim>
                                    <p:animEffect transition="in" filter="fade">
                                      <p:cBhvr>
                                        <p:cTn id="67" dur="550"/>
                                        <p:tgtEl>
                                          <p:spTgt spid="17"/>
                                        </p:tgtEl>
                                      </p:cBhvr>
                                    </p:animEffect>
                                  </p:childTnLst>
                                </p:cTn>
                              </p:par>
                              <p:par>
                                <p:cTn id="71" presetID="10" presetClass="entr" presetSubtype="0" fill="hold" grpId="0" nodeType="withEffect">
                                  <p:stCondLst>
                                    <p:cond delay="51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50"/>
                                        <p:tgtEl>
                                          <p:spTgt spid="18"/>
                                        </p:tgtEl>
                                      </p:cBhvr>
                                    </p:animEffect>
                                  </p:childTnLst>
                                </p:cTn>
                              </p:par>
                              <p:par>
                                <p:cTn id="74" presetID="10" presetClass="entr" presetSubtype="0" fill="hold" grpId="0" nodeType="withEffect">
                                  <p:stCondLst>
                                    <p:cond delay="51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50"/>
                                        <p:tgtEl>
                                          <p:spTgt spid="19"/>
                                        </p:tgtEl>
                                      </p:cBhvr>
                                    </p:animEffect>
                                  </p:childTnLst>
                                </p:cTn>
                              </p:par>
                              <p:par>
                                <p:cTn id="78" presetID="2" presetClass="entr" presetSubtype="4" fill="hold" grpId="0" nodeType="withEffect">
                                  <p:stCondLst>
                                    <p:cond delay="51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50" fill="hold"/>
                                        <p:tgtEl>
                                          <p:spTgt spid="20"/>
                                        </p:tgtEl>
                                        <p:attrNameLst>
                                          <p:attrName>ppt_y</p:attrName>
                                        </p:attrNameLst>
                                      </p:cBhvr>
                                      <p:tavLst>
                                        <p:tav tm="0">
                                          <p:val>
                                            <p:strVal val="#ppt_y+0.07"/>
                                          </p:val>
                                        </p:tav>
                                        <p:tav tm="100000">
                                          <p:val>
                                            <p:strVal val="#ppt_y"/>
                                          </p:val>
                                        </p:tav>
                                      </p:tavLst>
                                    </p:anim>
                                    <p:animEffect transition="in" filter="fade">
                                      <p:cBhvr>
                                        <p:cTn id="77" dur="5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tx1"/>
                </a:solidFill>
              </a:rPr>
              <a:t>How it works</a:t>
            </a:r>
            <a:endParaRPr lang="en-US" sz="3600" dirty="0"/>
          </a:p>
        </p:txBody>
      </p:sp>
      <p:sp>
        <p:nvSpPr>
          <p:cNvPr id="3" name="1  Sense box"/>
          <p:cNvSpPr/>
          <p:nvPr/>
        </p:nvSpPr>
        <p:spPr>
          <a:xfrm>
            <a:off x="612648" y="2606040"/>
            <a:ext cx="1828800" cy="1554480"/>
          </a:xfrm>
          <a:prstGeom prst="roundRect">
            <a:avLst>
              <a:gd name="adj" fmla="val 7059"/>
            </a:avLst>
          </a:prstGeom>
          <a:solidFill>
            <a:schemeClr val="bg2"/>
          </a:solidFill>
          <a:ln w="19050">
            <a:solidFill>
              <a:schemeClr val="accent1"/>
            </a:solidFill>
            <a:prstDash val="solid"/>
          </a:ln>
        </p:spPr>
      </p:sp>
      <p:sp>
        <p:nvSpPr>
          <p:cNvPr id="4" name="1  Sense circle"/>
          <p:cNvSpPr/>
          <p:nvPr/>
        </p:nvSpPr>
        <p:spPr>
          <a:xfrm>
            <a:off x="1161288" y="2788920"/>
            <a:ext cx="731520" cy="731520"/>
          </a:xfrm>
          <a:prstGeom prst="ellipse">
            <a:avLst/>
          </a:prstGeom>
          <a:solidFill>
            <a:schemeClr val="accent1"/>
          </a:solidFill>
          <a:ln/>
        </p:spPr>
      </p:sp>
      <p:pic>
        <p:nvPicPr>
          <p:cNvPr id="5" name="Image 0" descr="1  Sense"/>
          <p:cNvPicPr>
            <a:picLocks noChangeAspect="1"/>
          </p:cNvPicPr>
          <p:nvPr/>
        </p:nvPicPr>
        <p:blipFill>
          <a:blip r:embed="rId3"/>
          <a:stretch>
            <a:fillRect/>
          </a:stretch>
        </p:blipFill>
        <p:spPr>
          <a:xfrm>
            <a:off x="1344168" y="2971800"/>
            <a:ext cx="365760" cy="365760"/>
          </a:xfrm>
          <a:prstGeom prst="rect">
            <a:avLst/>
          </a:prstGeom>
        </p:spPr>
      </p:pic>
      <p:sp>
        <p:nvSpPr>
          <p:cNvPr id="6" name="Text 3"/>
          <p:cNvSpPr txBox="1"/>
          <p:nvPr/>
        </p:nvSpPr>
        <p:spPr>
          <a:xfrm>
            <a:off x="612648" y="3611880"/>
            <a:ext cx="1828800" cy="4114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1  Sense</a:t>
            </a:r>
            <a:endParaRPr lang="en-US" sz="1800" dirty="0"/>
          </a:p>
        </p:txBody>
      </p:sp>
      <p:sp>
        <p:nvSpPr>
          <p:cNvPr id="7" name="Text 4"/>
          <p:cNvSpPr txBox="1"/>
          <p:nvPr/>
        </p:nvSpPr>
        <p:spPr>
          <a:xfrm>
            <a:off x="521208" y="4343400"/>
            <a:ext cx="2011680" cy="1097280"/>
          </a:xfrm>
          <a:prstGeom prst="rect">
            <a:avLst/>
          </a:prstGeom>
          <a:noFill/>
          <a:ln/>
        </p:spPr>
        <p:txBody>
          <a:bodyPr wrap="square" lIns="0" tIns="0" rIns="0" bIns="0" rtlCol="0" anchor="t"/>
          <a:lstStyle/>
          <a:p>
            <a:pPr marL="0" indent="0" algn="ctr">
              <a:buNone/>
            </a:pPr>
            <a:r>
              <a:rPr lang="en-US" sz="1500" dirty="0">
                <a:solidFill>
                  <a:schemeClr val="tx2"/>
                </a:solidFill>
              </a:rPr>
              <a:t>Cameras and sensors; TensorFlow Lite counts people at the edge</a:t>
            </a:r>
            <a:endParaRPr lang="en-US" sz="1500" dirty="0"/>
          </a:p>
        </p:txBody>
      </p:sp>
      <p:sp>
        <p:nvSpPr>
          <p:cNvPr id="8" name="Arrow 1"/>
          <p:cNvSpPr/>
          <p:nvPr/>
        </p:nvSpPr>
        <p:spPr>
          <a:xfrm>
            <a:off x="2487168" y="3200400"/>
            <a:ext cx="365760" cy="365760"/>
          </a:xfrm>
          <a:prstGeom prst="rightArrow">
            <a:avLst/>
          </a:prstGeom>
          <a:solidFill>
            <a:schemeClr val="accent2"/>
          </a:solidFill>
          <a:ln/>
        </p:spPr>
      </p:sp>
      <p:sp>
        <p:nvSpPr>
          <p:cNvPr id="9" name="2  Ingest box"/>
          <p:cNvSpPr/>
          <p:nvPr/>
        </p:nvSpPr>
        <p:spPr>
          <a:xfrm>
            <a:off x="2898648" y="2606040"/>
            <a:ext cx="1828800" cy="1554480"/>
          </a:xfrm>
          <a:prstGeom prst="roundRect">
            <a:avLst>
              <a:gd name="adj" fmla="val 7059"/>
            </a:avLst>
          </a:prstGeom>
          <a:solidFill>
            <a:schemeClr val="bg2"/>
          </a:solidFill>
          <a:ln w="19050">
            <a:solidFill>
              <a:schemeClr val="accent1"/>
            </a:solidFill>
            <a:prstDash val="solid"/>
          </a:ln>
        </p:spPr>
      </p:sp>
      <p:sp>
        <p:nvSpPr>
          <p:cNvPr id="10" name="2  Ingest circle"/>
          <p:cNvSpPr/>
          <p:nvPr/>
        </p:nvSpPr>
        <p:spPr>
          <a:xfrm>
            <a:off x="3447288" y="2788920"/>
            <a:ext cx="731520" cy="731520"/>
          </a:xfrm>
          <a:prstGeom prst="ellipse">
            <a:avLst/>
          </a:prstGeom>
          <a:solidFill>
            <a:schemeClr val="accent1"/>
          </a:solidFill>
          <a:ln/>
        </p:spPr>
      </p:sp>
      <p:pic>
        <p:nvPicPr>
          <p:cNvPr id="11" name="Image 1" descr="2  Ingest"/>
          <p:cNvPicPr>
            <a:picLocks noChangeAspect="1"/>
          </p:cNvPicPr>
          <p:nvPr/>
        </p:nvPicPr>
        <p:blipFill>
          <a:blip r:embed="rId4"/>
          <a:stretch>
            <a:fillRect/>
          </a:stretch>
        </p:blipFill>
        <p:spPr>
          <a:xfrm>
            <a:off x="3630168" y="2971800"/>
            <a:ext cx="365760" cy="365760"/>
          </a:xfrm>
          <a:prstGeom prst="rect">
            <a:avLst/>
          </a:prstGeom>
        </p:spPr>
      </p:pic>
      <p:sp>
        <p:nvSpPr>
          <p:cNvPr id="12" name="Text 8"/>
          <p:cNvSpPr txBox="1"/>
          <p:nvPr/>
        </p:nvSpPr>
        <p:spPr>
          <a:xfrm>
            <a:off x="2898648" y="3611880"/>
            <a:ext cx="1828800" cy="4114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2  Ingest</a:t>
            </a:r>
            <a:endParaRPr lang="en-US" sz="1800" dirty="0"/>
          </a:p>
        </p:txBody>
      </p:sp>
      <p:sp>
        <p:nvSpPr>
          <p:cNvPr id="13" name="Text 9"/>
          <p:cNvSpPr txBox="1"/>
          <p:nvPr/>
        </p:nvSpPr>
        <p:spPr>
          <a:xfrm>
            <a:off x="2807208" y="4343400"/>
            <a:ext cx="2011680" cy="1097280"/>
          </a:xfrm>
          <a:prstGeom prst="rect">
            <a:avLst/>
          </a:prstGeom>
          <a:noFill/>
          <a:ln/>
        </p:spPr>
        <p:txBody>
          <a:bodyPr wrap="square" lIns="0" tIns="0" rIns="0" bIns="0" rtlCol="0" anchor="t"/>
          <a:lstStyle/>
          <a:p>
            <a:pPr marL="0" indent="0" algn="ctr">
              <a:buNone/>
            </a:pPr>
            <a:r>
              <a:rPr lang="en-US" sz="1500" dirty="0">
                <a:solidFill>
                  <a:schemeClr val="tx2"/>
                </a:solidFill>
              </a:rPr>
              <a:t>AWS IoT Core streams telemetry securely to the cloud</a:t>
            </a:r>
            <a:endParaRPr lang="en-US" sz="1500" dirty="0"/>
          </a:p>
        </p:txBody>
      </p:sp>
      <p:sp>
        <p:nvSpPr>
          <p:cNvPr id="14" name="Arrow 2"/>
          <p:cNvSpPr/>
          <p:nvPr/>
        </p:nvSpPr>
        <p:spPr>
          <a:xfrm>
            <a:off x="4773168" y="3200400"/>
            <a:ext cx="365760" cy="365760"/>
          </a:xfrm>
          <a:prstGeom prst="rightArrow">
            <a:avLst/>
          </a:prstGeom>
          <a:solidFill>
            <a:schemeClr val="accent2"/>
          </a:solidFill>
          <a:ln/>
        </p:spPr>
      </p:sp>
      <p:sp>
        <p:nvSpPr>
          <p:cNvPr id="15" name="3  Predict box"/>
          <p:cNvSpPr/>
          <p:nvPr/>
        </p:nvSpPr>
        <p:spPr>
          <a:xfrm>
            <a:off x="5184648" y="2606040"/>
            <a:ext cx="1828800" cy="1554480"/>
          </a:xfrm>
          <a:prstGeom prst="roundRect">
            <a:avLst>
              <a:gd name="adj" fmla="val 7059"/>
            </a:avLst>
          </a:prstGeom>
          <a:solidFill>
            <a:schemeClr val="bg2"/>
          </a:solidFill>
          <a:ln w="19050">
            <a:solidFill>
              <a:schemeClr val="accent1"/>
            </a:solidFill>
            <a:prstDash val="solid"/>
          </a:ln>
        </p:spPr>
      </p:sp>
      <p:sp>
        <p:nvSpPr>
          <p:cNvPr id="16" name="3  Predict circle"/>
          <p:cNvSpPr/>
          <p:nvPr/>
        </p:nvSpPr>
        <p:spPr>
          <a:xfrm>
            <a:off x="5733288" y="2788920"/>
            <a:ext cx="731520" cy="731520"/>
          </a:xfrm>
          <a:prstGeom prst="ellipse">
            <a:avLst/>
          </a:prstGeom>
          <a:solidFill>
            <a:schemeClr val="accent1"/>
          </a:solidFill>
          <a:ln/>
        </p:spPr>
      </p:sp>
      <p:pic>
        <p:nvPicPr>
          <p:cNvPr id="17" name="Image 2" descr="3  Predict"/>
          <p:cNvPicPr>
            <a:picLocks noChangeAspect="1"/>
          </p:cNvPicPr>
          <p:nvPr/>
        </p:nvPicPr>
        <p:blipFill>
          <a:blip r:embed="rId5"/>
          <a:stretch>
            <a:fillRect/>
          </a:stretch>
        </p:blipFill>
        <p:spPr>
          <a:xfrm>
            <a:off x="5916168" y="2971800"/>
            <a:ext cx="365760" cy="365760"/>
          </a:xfrm>
          <a:prstGeom prst="rect">
            <a:avLst/>
          </a:prstGeom>
        </p:spPr>
      </p:pic>
      <p:sp>
        <p:nvSpPr>
          <p:cNvPr id="18" name="Text 13"/>
          <p:cNvSpPr txBox="1"/>
          <p:nvPr/>
        </p:nvSpPr>
        <p:spPr>
          <a:xfrm>
            <a:off x="5184648" y="3611880"/>
            <a:ext cx="1828800" cy="4114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3  Predict</a:t>
            </a:r>
            <a:endParaRPr lang="en-US" sz="1800" dirty="0"/>
          </a:p>
        </p:txBody>
      </p:sp>
      <p:sp>
        <p:nvSpPr>
          <p:cNvPr id="19" name="Text 14"/>
          <p:cNvSpPr txBox="1"/>
          <p:nvPr/>
        </p:nvSpPr>
        <p:spPr>
          <a:xfrm>
            <a:off x="5093208" y="4343400"/>
            <a:ext cx="2011680" cy="1097280"/>
          </a:xfrm>
          <a:prstGeom prst="rect">
            <a:avLst/>
          </a:prstGeom>
          <a:noFill/>
          <a:ln/>
        </p:spPr>
        <p:txBody>
          <a:bodyPr wrap="square" lIns="0" tIns="0" rIns="0" bIns="0" rtlCol="0" anchor="t"/>
          <a:lstStyle/>
          <a:p>
            <a:pPr marL="0" indent="0" algn="ctr">
              <a:buNone/>
            </a:pPr>
            <a:r>
              <a:rPr lang="en-US" sz="1500" dirty="0">
                <a:solidFill>
                  <a:schemeClr val="tx2"/>
                </a:solidFill>
              </a:rPr>
              <a:t>FastAPI models blend sensor data with timetables</a:t>
            </a:r>
            <a:endParaRPr lang="en-US" sz="1500" dirty="0"/>
          </a:p>
        </p:txBody>
      </p:sp>
      <p:sp>
        <p:nvSpPr>
          <p:cNvPr id="20" name="Arrow 3"/>
          <p:cNvSpPr/>
          <p:nvPr/>
        </p:nvSpPr>
        <p:spPr>
          <a:xfrm>
            <a:off x="7059168" y="3200400"/>
            <a:ext cx="365760" cy="365760"/>
          </a:xfrm>
          <a:prstGeom prst="rightArrow">
            <a:avLst/>
          </a:prstGeom>
          <a:solidFill>
            <a:schemeClr val="accent2"/>
          </a:solidFill>
          <a:ln/>
        </p:spPr>
      </p:sp>
      <p:sp>
        <p:nvSpPr>
          <p:cNvPr id="21" name="4  Act box"/>
          <p:cNvSpPr/>
          <p:nvPr/>
        </p:nvSpPr>
        <p:spPr>
          <a:xfrm>
            <a:off x="7470648" y="2606040"/>
            <a:ext cx="1828800" cy="1554480"/>
          </a:xfrm>
          <a:prstGeom prst="roundRect">
            <a:avLst>
              <a:gd name="adj" fmla="val 7059"/>
            </a:avLst>
          </a:prstGeom>
          <a:solidFill>
            <a:schemeClr val="bg2"/>
          </a:solidFill>
          <a:ln w="19050">
            <a:solidFill>
              <a:schemeClr val="accent1"/>
            </a:solidFill>
            <a:prstDash val="solid"/>
          </a:ln>
        </p:spPr>
      </p:sp>
      <p:sp>
        <p:nvSpPr>
          <p:cNvPr id="22" name="4  Act circle"/>
          <p:cNvSpPr/>
          <p:nvPr/>
        </p:nvSpPr>
        <p:spPr>
          <a:xfrm>
            <a:off x="8019288" y="2788920"/>
            <a:ext cx="731520" cy="731520"/>
          </a:xfrm>
          <a:prstGeom prst="ellipse">
            <a:avLst/>
          </a:prstGeom>
          <a:solidFill>
            <a:schemeClr val="accent1"/>
          </a:solidFill>
          <a:ln/>
        </p:spPr>
      </p:sp>
      <p:pic>
        <p:nvPicPr>
          <p:cNvPr id="23" name="Image 3" descr="4  Act"/>
          <p:cNvPicPr>
            <a:picLocks noChangeAspect="1"/>
          </p:cNvPicPr>
          <p:nvPr/>
        </p:nvPicPr>
        <p:blipFill>
          <a:blip r:embed="rId6"/>
          <a:stretch>
            <a:fillRect/>
          </a:stretch>
        </p:blipFill>
        <p:spPr>
          <a:xfrm>
            <a:off x="8202168" y="2971800"/>
            <a:ext cx="365760" cy="365760"/>
          </a:xfrm>
          <a:prstGeom prst="rect">
            <a:avLst/>
          </a:prstGeom>
        </p:spPr>
      </p:pic>
      <p:sp>
        <p:nvSpPr>
          <p:cNvPr id="24" name="Text 18"/>
          <p:cNvSpPr txBox="1"/>
          <p:nvPr/>
        </p:nvSpPr>
        <p:spPr>
          <a:xfrm>
            <a:off x="7470648" y="3611880"/>
            <a:ext cx="1828800" cy="4114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4  Act</a:t>
            </a:r>
            <a:endParaRPr lang="en-US" sz="1800" dirty="0"/>
          </a:p>
        </p:txBody>
      </p:sp>
      <p:sp>
        <p:nvSpPr>
          <p:cNvPr id="25" name="Text 19"/>
          <p:cNvSpPr txBox="1"/>
          <p:nvPr/>
        </p:nvSpPr>
        <p:spPr>
          <a:xfrm>
            <a:off x="7379208" y="4343400"/>
            <a:ext cx="2011680" cy="1097280"/>
          </a:xfrm>
          <a:prstGeom prst="rect">
            <a:avLst/>
          </a:prstGeom>
          <a:noFill/>
          <a:ln/>
        </p:spPr>
        <p:txBody>
          <a:bodyPr wrap="square" lIns="0" tIns="0" rIns="0" bIns="0" rtlCol="0" anchor="t"/>
          <a:lstStyle/>
          <a:p>
            <a:pPr marL="0" indent="0" algn="ctr">
              <a:buNone/>
            </a:pPr>
            <a:r>
              <a:rPr lang="en-US" sz="1500" dirty="0">
                <a:solidFill>
                  <a:schemeClr val="tx2"/>
                </a:solidFill>
              </a:rPr>
              <a:t>Auto-adjust HVAC and lighting; route bin alerts</a:t>
            </a:r>
            <a:endParaRPr lang="en-US" sz="1500" dirty="0"/>
          </a:p>
        </p:txBody>
      </p:sp>
      <p:sp>
        <p:nvSpPr>
          <p:cNvPr id="26" name="Arrow 4"/>
          <p:cNvSpPr/>
          <p:nvPr/>
        </p:nvSpPr>
        <p:spPr>
          <a:xfrm>
            <a:off x="9345168" y="3200400"/>
            <a:ext cx="365760" cy="365760"/>
          </a:xfrm>
          <a:prstGeom prst="rightArrow">
            <a:avLst/>
          </a:prstGeom>
          <a:solidFill>
            <a:schemeClr val="accent2"/>
          </a:solidFill>
          <a:ln/>
        </p:spPr>
      </p:sp>
      <p:sp>
        <p:nvSpPr>
          <p:cNvPr id="27" name="5  Engage box"/>
          <p:cNvSpPr/>
          <p:nvPr/>
        </p:nvSpPr>
        <p:spPr>
          <a:xfrm>
            <a:off x="9756648" y="2606040"/>
            <a:ext cx="1828800" cy="1554480"/>
          </a:xfrm>
          <a:prstGeom prst="roundRect">
            <a:avLst>
              <a:gd name="adj" fmla="val 7059"/>
            </a:avLst>
          </a:prstGeom>
          <a:solidFill>
            <a:schemeClr val="bg2"/>
          </a:solidFill>
          <a:ln w="19050">
            <a:solidFill>
              <a:schemeClr val="accent1"/>
            </a:solidFill>
            <a:prstDash val="solid"/>
          </a:ln>
        </p:spPr>
      </p:sp>
      <p:sp>
        <p:nvSpPr>
          <p:cNvPr id="28" name="5  Engage circle"/>
          <p:cNvSpPr/>
          <p:nvPr/>
        </p:nvSpPr>
        <p:spPr>
          <a:xfrm>
            <a:off x="10305288" y="2788920"/>
            <a:ext cx="731520" cy="731520"/>
          </a:xfrm>
          <a:prstGeom prst="ellipse">
            <a:avLst/>
          </a:prstGeom>
          <a:solidFill>
            <a:schemeClr val="accent1"/>
          </a:solidFill>
          <a:ln/>
        </p:spPr>
      </p:sp>
      <p:pic>
        <p:nvPicPr>
          <p:cNvPr id="29" name="Image 4" descr="5  Engage"/>
          <p:cNvPicPr>
            <a:picLocks noChangeAspect="1"/>
          </p:cNvPicPr>
          <p:nvPr/>
        </p:nvPicPr>
        <p:blipFill>
          <a:blip r:embed="rId7"/>
          <a:stretch>
            <a:fillRect/>
          </a:stretch>
        </p:blipFill>
        <p:spPr>
          <a:xfrm>
            <a:off x="10488168" y="2971800"/>
            <a:ext cx="365760" cy="365760"/>
          </a:xfrm>
          <a:prstGeom prst="rect">
            <a:avLst/>
          </a:prstGeom>
        </p:spPr>
      </p:pic>
      <p:sp>
        <p:nvSpPr>
          <p:cNvPr id="30" name="Text 23"/>
          <p:cNvSpPr txBox="1"/>
          <p:nvPr/>
        </p:nvSpPr>
        <p:spPr>
          <a:xfrm>
            <a:off x="9756648" y="3611880"/>
            <a:ext cx="1828800" cy="4114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5  Engage</a:t>
            </a:r>
            <a:endParaRPr lang="en-US" sz="1800" dirty="0"/>
          </a:p>
        </p:txBody>
      </p:sp>
      <p:sp>
        <p:nvSpPr>
          <p:cNvPr id="31" name="Text 24"/>
          <p:cNvSpPr txBox="1"/>
          <p:nvPr/>
        </p:nvSpPr>
        <p:spPr>
          <a:xfrm>
            <a:off x="9665208" y="4343400"/>
            <a:ext cx="2011680" cy="1097280"/>
          </a:xfrm>
          <a:prstGeom prst="rect">
            <a:avLst/>
          </a:prstGeom>
          <a:noFill/>
          <a:ln/>
        </p:spPr>
        <p:txBody>
          <a:bodyPr wrap="square" lIns="0" tIns="0" rIns="0" bIns="0" rtlCol="0" anchor="t"/>
          <a:lstStyle/>
          <a:p>
            <a:pPr marL="0" indent="0" algn="ctr">
              <a:buNone/>
            </a:pPr>
            <a:r>
              <a:rPr lang="en-US" sz="1500" dirty="0">
                <a:solidFill>
                  <a:schemeClr val="tx2"/>
                </a:solidFill>
              </a:rPr>
              <a:t>React Native dashboard shows dorm savings</a:t>
            </a:r>
            <a:endParaRPr lang="en-US" sz="1500" dirty="0"/>
          </a:p>
        </p:txBody>
      </p:sp>
      <p:sp>
        <p:nvSpPr>
          <p:cNvPr id="32" name="Timetable feed"/>
          <p:cNvSpPr/>
          <p:nvPr/>
        </p:nvSpPr>
        <p:spPr>
          <a:xfrm>
            <a:off x="4727448" y="1554480"/>
            <a:ext cx="2743200" cy="457200"/>
          </a:xfrm>
          <a:prstGeom prst="roundRect">
            <a:avLst>
              <a:gd name="adj" fmla="val 50000"/>
            </a:avLst>
          </a:prstGeom>
          <a:solidFill>
            <a:schemeClr val="accent1"/>
          </a:solidFill>
          <a:ln/>
        </p:spPr>
      </p:sp>
      <p:sp>
        <p:nvSpPr>
          <p:cNvPr id="33" name="Text 26"/>
          <p:cNvSpPr txBox="1"/>
          <p:nvPr/>
        </p:nvSpPr>
        <p:spPr>
          <a:xfrm>
            <a:off x="4727448" y="1554480"/>
            <a:ext cx="2743200" cy="457200"/>
          </a:xfrm>
          <a:prstGeom prst="rect">
            <a:avLst/>
          </a:prstGeom>
          <a:noFill/>
          <a:ln/>
        </p:spPr>
        <p:txBody>
          <a:bodyPr wrap="square" lIns="0" tIns="0" rIns="0" bIns="0" rtlCol="0" anchor="ctr"/>
          <a:lstStyle/>
          <a:p>
            <a:pPr marL="0" indent="0" algn="ctr">
              <a:buNone/>
            </a:pPr>
            <a:r>
              <a:rPr lang="en-US" sz="1500" b="1" dirty="0">
                <a:solidFill>
                  <a:schemeClr val="bg1"/>
                </a:solidFill>
              </a:rPr>
              <a:t>University timetables</a:t>
            </a:r>
            <a:endParaRPr lang="en-US" sz="1500" dirty="0"/>
          </a:p>
        </p:txBody>
      </p:sp>
      <p:sp>
        <p:nvSpPr>
          <p:cNvPr id="34" name="Timetable arrow"/>
          <p:cNvSpPr/>
          <p:nvPr/>
        </p:nvSpPr>
        <p:spPr>
          <a:xfrm>
            <a:off x="5916168" y="2075688"/>
            <a:ext cx="365760" cy="457200"/>
          </a:xfrm>
          <a:prstGeom prst="downArrow">
            <a:avLst/>
          </a:prstGeom>
          <a:solidFill>
            <a:schemeClr val="accent2"/>
          </a:solidFill>
          <a:ln/>
        </p:spPr>
      </p:sp>
      <p:sp>
        <p:nvSpPr>
          <p:cNvPr id="3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9"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5" presetID="53" presetClass="entr" presetSubtype="16" fill="hold" grpId="0" nodeType="withEffect">
                                  <p:stCondLst>
                                    <p:cond delay="21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ppt_w</p:attrName>
                                        </p:attrNameLst>
                                      </p:cBhvr>
                                      <p:tavLst>
                                        <p:tav tm="0">
                                          <p:val>
                                            <p:fltVal val="0"/>
                                          </p:val>
                                        </p:tav>
                                        <p:tav tm="100000">
                                          <p:val>
                                            <p:strVal val="#ppt_w"/>
                                          </p:val>
                                        </p:tav>
                                      </p:tavLst>
                                    </p:anim>
                                    <p:anim calcmode="lin" valueType="num">
                                      <p:cBhvr additive="base">
                                        <p:cTn id="13" dur="550" fill="hold"/>
                                        <p:tgtEl>
                                          <p:spTgt spid="4"/>
                                        </p:tgtEl>
                                        <p:attrNameLst>
                                          <p:attrName>ppt_h</p:attrName>
                                        </p:attrNameLst>
                                      </p:cBhvr>
                                      <p:tavLst>
                                        <p:tav tm="0">
                                          <p:val>
                                            <p:fltVal val="0"/>
                                          </p:val>
                                        </p:tav>
                                        <p:tav tm="100000">
                                          <p:val>
                                            <p:strVal val="#ppt_h"/>
                                          </p:val>
                                        </p:tav>
                                      </p:tavLst>
                                    </p:anim>
                                    <p:animEffect transition="in" filter="fade">
                                      <p:cBhvr>
                                        <p:cTn id="14" dur="550"/>
                                        <p:tgtEl>
                                          <p:spTgt spid="4"/>
                                        </p:tgtEl>
                                      </p:cBhvr>
                                    </p:animEffect>
                                  </p:childTnLst>
                                </p:cTn>
                              </p:par>
                              <p:par>
                                <p:cTn id="20" presetID="53" presetClass="entr" presetSubtype="16" fill="hold" grpId="0" nodeType="withEffect">
                                  <p:stCondLst>
                                    <p:cond delay="21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3" presetID="10" presetClass="entr" presetSubtype="0" fill="hold" grpId="0" nodeType="withEffect">
                                  <p:stCondLst>
                                    <p:cond delay="2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childTnLst>
                                </p:cTn>
                              </p:par>
                              <p:par>
                                <p:cTn id="27" presetID="2" presetClass="entr" presetSubtype="4" fill="hold" grpId="0" nodeType="withEffect">
                                  <p:stCondLst>
                                    <p:cond delay="3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50" fill="hold"/>
                                        <p:tgtEl>
                                          <p:spTgt spid="7"/>
                                        </p:tgtEl>
                                        <p:attrNameLst>
                                          <p:attrName>ppt_y</p:attrName>
                                        </p:attrNameLst>
                                      </p:cBhvr>
                                      <p:tavLst>
                                        <p:tav tm="0">
                                          <p:val>
                                            <p:strVal val="#ppt_y+0.07"/>
                                          </p:val>
                                        </p:tav>
                                        <p:tav tm="100000">
                                          <p:val>
                                            <p:strVal val="#ppt_y"/>
                                          </p:val>
                                        </p:tav>
                                      </p:tavLst>
                                    </p:anim>
                                    <p:animEffect transition="in" filter="fade">
                                      <p:cBhvr>
                                        <p:cTn id="26" dur="550"/>
                                        <p:tgtEl>
                                          <p:spTgt spid="7"/>
                                        </p:tgtEl>
                                      </p:cBhvr>
                                    </p:animEffect>
                                  </p:childTnLst>
                                </p:cTn>
                              </p:par>
                              <p:par>
                                <p:cTn id="31" presetID="2" presetClass="entr" presetSubtype="4" fill="hold" grpId="0" nodeType="withEffect">
                                  <p:stCondLst>
                                    <p:cond delay="45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50" fill="hold"/>
                                        <p:tgtEl>
                                          <p:spTgt spid="8"/>
                                        </p:tgtEl>
                                        <p:attrNameLst>
                                          <p:attrName>ppt_y</p:attrName>
                                        </p:attrNameLst>
                                      </p:cBhvr>
                                      <p:tavLst>
                                        <p:tav tm="0">
                                          <p:val>
                                            <p:strVal val="#ppt_y+0.07"/>
                                          </p:val>
                                        </p:tav>
                                        <p:tav tm="100000">
                                          <p:val>
                                            <p:strVal val="#ppt_y"/>
                                          </p:val>
                                        </p:tav>
                                      </p:tavLst>
                                    </p:anim>
                                    <p:animEffect transition="in" filter="fade">
                                      <p:cBhvr>
                                        <p:cTn id="30" dur="550"/>
                                        <p:tgtEl>
                                          <p:spTgt spid="8"/>
                                        </p:tgtEl>
                                      </p:cBhvr>
                                    </p:animEffect>
                                  </p:childTnLst>
                                </p:cTn>
                              </p:par>
                              <p:par>
                                <p:cTn id="35" presetID="2" presetClass="entr" presetSubtype="4" fill="hold" grpId="0" nodeType="withEffect">
                                  <p:stCondLst>
                                    <p:cond delay="60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50" fill="hold"/>
                                        <p:tgtEl>
                                          <p:spTgt spid="9"/>
                                        </p:tgtEl>
                                        <p:attrNameLst>
                                          <p:attrName>ppt_y</p:attrName>
                                        </p:attrNameLst>
                                      </p:cBhvr>
                                      <p:tavLst>
                                        <p:tav tm="0">
                                          <p:val>
                                            <p:strVal val="#ppt_y+0.07"/>
                                          </p:val>
                                        </p:tav>
                                        <p:tav tm="100000">
                                          <p:val>
                                            <p:strVal val="#ppt_y"/>
                                          </p:val>
                                        </p:tav>
                                      </p:tavLst>
                                    </p:anim>
                                    <p:animEffect transition="in" filter="fade">
                                      <p:cBhvr>
                                        <p:cTn id="34" dur="550"/>
                                        <p:tgtEl>
                                          <p:spTgt spid="9"/>
                                        </p:tgtEl>
                                      </p:cBhvr>
                                    </p:animEffect>
                                  </p:childTnLst>
                                </p:cTn>
                              </p:par>
                              <p:par>
                                <p:cTn id="40" presetID="53" presetClass="entr" presetSubtype="16" fill="hold" grpId="0" nodeType="withEffect">
                                  <p:stCondLst>
                                    <p:cond delay="66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50" fill="hold"/>
                                        <p:tgtEl>
                                          <p:spTgt spid="10"/>
                                        </p:tgtEl>
                                        <p:attrNameLst>
                                          <p:attrName>ppt_w</p:attrName>
                                        </p:attrNameLst>
                                      </p:cBhvr>
                                      <p:tavLst>
                                        <p:tav tm="0">
                                          <p:val>
                                            <p:fltVal val="0"/>
                                          </p:val>
                                        </p:tav>
                                        <p:tav tm="100000">
                                          <p:val>
                                            <p:strVal val="#ppt_w"/>
                                          </p:val>
                                        </p:tav>
                                      </p:tavLst>
                                    </p:anim>
                                    <p:anim calcmode="lin" valueType="num">
                                      <p:cBhvr additive="base">
                                        <p:cTn id="38" dur="550" fill="hold"/>
                                        <p:tgtEl>
                                          <p:spTgt spid="10"/>
                                        </p:tgtEl>
                                        <p:attrNameLst>
                                          <p:attrName>ppt_h</p:attrName>
                                        </p:attrNameLst>
                                      </p:cBhvr>
                                      <p:tavLst>
                                        <p:tav tm="0">
                                          <p:val>
                                            <p:fltVal val="0"/>
                                          </p:val>
                                        </p:tav>
                                        <p:tav tm="100000">
                                          <p:val>
                                            <p:strVal val="#ppt_h"/>
                                          </p:val>
                                        </p:tav>
                                      </p:tavLst>
                                    </p:anim>
                                    <p:animEffect transition="in" filter="fade">
                                      <p:cBhvr>
                                        <p:cTn id="39" dur="550"/>
                                        <p:tgtEl>
                                          <p:spTgt spid="10"/>
                                        </p:tgtEl>
                                      </p:cBhvr>
                                    </p:animEffect>
                                  </p:childTnLst>
                                </p:cTn>
                              </p:par>
                              <p:par>
                                <p:cTn id="45" presetID="53" presetClass="entr" presetSubtype="16" fill="hold" grpId="0" nodeType="withEffect">
                                  <p:stCondLst>
                                    <p:cond delay="66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50" fill="hold"/>
                                        <p:tgtEl>
                                          <p:spTgt spid="11"/>
                                        </p:tgtEl>
                                        <p:attrNameLst>
                                          <p:attrName>ppt_w</p:attrName>
                                        </p:attrNameLst>
                                      </p:cBhvr>
                                      <p:tavLst>
                                        <p:tav tm="0">
                                          <p:val>
                                            <p:fltVal val="0"/>
                                          </p:val>
                                        </p:tav>
                                        <p:tav tm="100000">
                                          <p:val>
                                            <p:strVal val="#ppt_w"/>
                                          </p:val>
                                        </p:tav>
                                      </p:tavLst>
                                    </p:anim>
                                    <p:anim calcmode="lin" valueType="num">
                                      <p:cBhvr additive="base">
                                        <p:cTn id="43" dur="550" fill="hold"/>
                                        <p:tgtEl>
                                          <p:spTgt spid="11"/>
                                        </p:tgtEl>
                                        <p:attrNameLst>
                                          <p:attrName>ppt_h</p:attrName>
                                        </p:attrNameLst>
                                      </p:cBhvr>
                                      <p:tavLst>
                                        <p:tav tm="0">
                                          <p:val>
                                            <p:fltVal val="0"/>
                                          </p:val>
                                        </p:tav>
                                        <p:tav tm="100000">
                                          <p:val>
                                            <p:strVal val="#ppt_h"/>
                                          </p:val>
                                        </p:tav>
                                      </p:tavLst>
                                    </p:anim>
                                    <p:animEffect transition="in" filter="fade">
                                      <p:cBhvr>
                                        <p:cTn id="44" dur="550"/>
                                        <p:tgtEl>
                                          <p:spTgt spid="11"/>
                                        </p:tgtEl>
                                      </p:cBhvr>
                                    </p:animEffect>
                                  </p:childTnLst>
                                </p:cTn>
                              </p:par>
                              <p:par>
                                <p:cTn id="48" presetID="10" presetClass="entr" presetSubtype="0" fill="hold" grpId="0" nodeType="withEffect">
                                  <p:stCondLst>
                                    <p:cond delay="66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childTnLst>
                                </p:cTn>
                              </p:par>
                              <p:par>
                                <p:cTn id="52" presetID="2" presetClass="entr" presetSubtype="4" fill="hold" grpId="0" nodeType="withEffect">
                                  <p:stCondLst>
                                    <p:cond delay="75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50" fill="hold"/>
                                        <p:tgtEl>
                                          <p:spTgt spid="13"/>
                                        </p:tgtEl>
                                        <p:attrNameLst>
                                          <p:attrName>ppt_y</p:attrName>
                                        </p:attrNameLst>
                                      </p:cBhvr>
                                      <p:tavLst>
                                        <p:tav tm="0">
                                          <p:val>
                                            <p:strVal val="#ppt_y+0.07"/>
                                          </p:val>
                                        </p:tav>
                                        <p:tav tm="100000">
                                          <p:val>
                                            <p:strVal val="#ppt_y"/>
                                          </p:val>
                                        </p:tav>
                                      </p:tavLst>
                                    </p:anim>
                                    <p:animEffect transition="in" filter="fade">
                                      <p:cBhvr>
                                        <p:cTn id="51" dur="550"/>
                                        <p:tgtEl>
                                          <p:spTgt spid="13"/>
                                        </p:tgtEl>
                                      </p:cBhvr>
                                    </p:animEffect>
                                  </p:childTnLst>
                                </p:cTn>
                              </p:par>
                              <p:par>
                                <p:cTn id="56" presetID="2" presetClass="entr" presetSubtype="4" fill="hold" grpId="0" nodeType="withEffect">
                                  <p:stCondLst>
                                    <p:cond delay="90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50" fill="hold"/>
                                        <p:tgtEl>
                                          <p:spTgt spid="14"/>
                                        </p:tgtEl>
                                        <p:attrNameLst>
                                          <p:attrName>ppt_y</p:attrName>
                                        </p:attrNameLst>
                                      </p:cBhvr>
                                      <p:tavLst>
                                        <p:tav tm="0">
                                          <p:val>
                                            <p:strVal val="#ppt_y+0.07"/>
                                          </p:val>
                                        </p:tav>
                                        <p:tav tm="100000">
                                          <p:val>
                                            <p:strVal val="#ppt_y"/>
                                          </p:val>
                                        </p:tav>
                                      </p:tavLst>
                                    </p:anim>
                                    <p:animEffect transition="in" filter="fade">
                                      <p:cBhvr>
                                        <p:cTn id="55" dur="550"/>
                                        <p:tgtEl>
                                          <p:spTgt spid="14"/>
                                        </p:tgtEl>
                                      </p:cBhvr>
                                    </p:animEffect>
                                  </p:childTnLst>
                                </p:cTn>
                              </p:par>
                              <p:par>
                                <p:cTn id="60" presetID="2" presetClass="entr" presetSubtype="4" fill="hold" grpId="0" nodeType="withEffect">
                                  <p:stCondLst>
                                    <p:cond delay="105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550" fill="hold"/>
                                        <p:tgtEl>
                                          <p:spTgt spid="15"/>
                                        </p:tgtEl>
                                        <p:attrNameLst>
                                          <p:attrName>ppt_y</p:attrName>
                                        </p:attrNameLst>
                                      </p:cBhvr>
                                      <p:tavLst>
                                        <p:tav tm="0">
                                          <p:val>
                                            <p:strVal val="#ppt_y+0.07"/>
                                          </p:val>
                                        </p:tav>
                                        <p:tav tm="100000">
                                          <p:val>
                                            <p:strVal val="#ppt_y"/>
                                          </p:val>
                                        </p:tav>
                                      </p:tavLst>
                                    </p:anim>
                                    <p:animEffect transition="in" filter="fade">
                                      <p:cBhvr>
                                        <p:cTn id="59" dur="550"/>
                                        <p:tgtEl>
                                          <p:spTgt spid="15"/>
                                        </p:tgtEl>
                                      </p:cBhvr>
                                    </p:animEffect>
                                  </p:childTnLst>
                                </p:cTn>
                              </p:par>
                              <p:par>
                                <p:cTn id="65" presetID="53" presetClass="entr" presetSubtype="16" fill="hold" grpId="0" nodeType="withEffect">
                                  <p:stCondLst>
                                    <p:cond delay="111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50" fill="hold"/>
                                        <p:tgtEl>
                                          <p:spTgt spid="16"/>
                                        </p:tgtEl>
                                        <p:attrNameLst>
                                          <p:attrName>ppt_w</p:attrName>
                                        </p:attrNameLst>
                                      </p:cBhvr>
                                      <p:tavLst>
                                        <p:tav tm="0">
                                          <p:val>
                                            <p:fltVal val="0"/>
                                          </p:val>
                                        </p:tav>
                                        <p:tav tm="100000">
                                          <p:val>
                                            <p:strVal val="#ppt_w"/>
                                          </p:val>
                                        </p:tav>
                                      </p:tavLst>
                                    </p:anim>
                                    <p:anim calcmode="lin" valueType="num">
                                      <p:cBhvr additive="base">
                                        <p:cTn id="63" dur="550" fill="hold"/>
                                        <p:tgtEl>
                                          <p:spTgt spid="16"/>
                                        </p:tgtEl>
                                        <p:attrNameLst>
                                          <p:attrName>ppt_h</p:attrName>
                                        </p:attrNameLst>
                                      </p:cBhvr>
                                      <p:tavLst>
                                        <p:tav tm="0">
                                          <p:val>
                                            <p:fltVal val="0"/>
                                          </p:val>
                                        </p:tav>
                                        <p:tav tm="100000">
                                          <p:val>
                                            <p:strVal val="#ppt_h"/>
                                          </p:val>
                                        </p:tav>
                                      </p:tavLst>
                                    </p:anim>
                                    <p:animEffect transition="in" filter="fade">
                                      <p:cBhvr>
                                        <p:cTn id="64" dur="550"/>
                                        <p:tgtEl>
                                          <p:spTgt spid="16"/>
                                        </p:tgtEl>
                                      </p:cBhvr>
                                    </p:animEffect>
                                  </p:childTnLst>
                                </p:cTn>
                              </p:par>
                              <p:par>
                                <p:cTn id="70" presetID="53" presetClass="entr" presetSubtype="16" fill="hold" grpId="0" nodeType="withEffect">
                                  <p:stCondLst>
                                    <p:cond delay="111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50" fill="hold"/>
                                        <p:tgtEl>
                                          <p:spTgt spid="17"/>
                                        </p:tgtEl>
                                        <p:attrNameLst>
                                          <p:attrName>ppt_w</p:attrName>
                                        </p:attrNameLst>
                                      </p:cBhvr>
                                      <p:tavLst>
                                        <p:tav tm="0">
                                          <p:val>
                                            <p:fltVal val="0"/>
                                          </p:val>
                                        </p:tav>
                                        <p:tav tm="100000">
                                          <p:val>
                                            <p:strVal val="#ppt_w"/>
                                          </p:val>
                                        </p:tav>
                                      </p:tavLst>
                                    </p:anim>
                                    <p:anim calcmode="lin" valueType="num">
                                      <p:cBhvr additive="base">
                                        <p:cTn id="68" dur="550" fill="hold"/>
                                        <p:tgtEl>
                                          <p:spTgt spid="17"/>
                                        </p:tgtEl>
                                        <p:attrNameLst>
                                          <p:attrName>ppt_h</p:attrName>
                                        </p:attrNameLst>
                                      </p:cBhvr>
                                      <p:tavLst>
                                        <p:tav tm="0">
                                          <p:val>
                                            <p:fltVal val="0"/>
                                          </p:val>
                                        </p:tav>
                                        <p:tav tm="100000">
                                          <p:val>
                                            <p:strVal val="#ppt_h"/>
                                          </p:val>
                                        </p:tav>
                                      </p:tavLst>
                                    </p:anim>
                                    <p:animEffect transition="in" filter="fade">
                                      <p:cBhvr>
                                        <p:cTn id="69" dur="550"/>
                                        <p:tgtEl>
                                          <p:spTgt spid="17"/>
                                        </p:tgtEl>
                                      </p:cBhvr>
                                    </p:animEffect>
                                  </p:childTnLst>
                                </p:cTn>
                              </p:par>
                              <p:par>
                                <p:cTn id="73" presetID="10" presetClass="entr" presetSubtype="0" fill="hold" grpId="0" nodeType="withEffect">
                                  <p:stCondLst>
                                    <p:cond delay="111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50"/>
                                        <p:tgtEl>
                                          <p:spTgt spid="18"/>
                                        </p:tgtEl>
                                      </p:cBhvr>
                                    </p:animEffect>
                                  </p:childTnLst>
                                </p:cTn>
                              </p:par>
                              <p:par>
                                <p:cTn id="77" presetID="2" presetClass="entr" presetSubtype="4" fill="hold" grpId="0" nodeType="withEffect">
                                  <p:stCondLst>
                                    <p:cond delay="120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550" fill="hold"/>
                                        <p:tgtEl>
                                          <p:spTgt spid="19"/>
                                        </p:tgtEl>
                                        <p:attrNameLst>
                                          <p:attrName>ppt_y</p:attrName>
                                        </p:attrNameLst>
                                      </p:cBhvr>
                                      <p:tavLst>
                                        <p:tav tm="0">
                                          <p:val>
                                            <p:strVal val="#ppt_y+0.07"/>
                                          </p:val>
                                        </p:tav>
                                        <p:tav tm="100000">
                                          <p:val>
                                            <p:strVal val="#ppt_y"/>
                                          </p:val>
                                        </p:tav>
                                      </p:tavLst>
                                    </p:anim>
                                    <p:animEffect transition="in" filter="fade">
                                      <p:cBhvr>
                                        <p:cTn id="76" dur="550"/>
                                        <p:tgtEl>
                                          <p:spTgt spid="19"/>
                                        </p:tgtEl>
                                      </p:cBhvr>
                                    </p:animEffect>
                                  </p:childTnLst>
                                </p:cTn>
                              </p:par>
                              <p:par>
                                <p:cTn id="81" presetID="2" presetClass="entr" presetSubtype="4" fill="hold" grpId="0" nodeType="withEffect">
                                  <p:stCondLst>
                                    <p:cond delay="1350"/>
                                  </p:stCondLst>
                                  <p:childTnLst>
                                    <p:set>
                                      <p:cBhvr>
                                        <p:cTn id="78" dur="1" fill="hold">
                                          <p:stCondLst>
                                            <p:cond delay="0"/>
                                          </p:stCondLst>
                                        </p:cTn>
                                        <p:tgtEl>
                                          <p:spTgt spid="20"/>
                                        </p:tgtEl>
                                        <p:attrNameLst>
                                          <p:attrName>style.visibility</p:attrName>
                                        </p:attrNameLst>
                                      </p:cBhvr>
                                      <p:to>
                                        <p:strVal val="visible"/>
                                      </p:to>
                                    </p:set>
                                    <p:anim calcmode="lin" valueType="num">
                                      <p:cBhvr additive="base">
                                        <p:cTn id="79" dur="550" fill="hold"/>
                                        <p:tgtEl>
                                          <p:spTgt spid="20"/>
                                        </p:tgtEl>
                                        <p:attrNameLst>
                                          <p:attrName>ppt_y</p:attrName>
                                        </p:attrNameLst>
                                      </p:cBhvr>
                                      <p:tavLst>
                                        <p:tav tm="0">
                                          <p:val>
                                            <p:strVal val="#ppt_y+0.07"/>
                                          </p:val>
                                        </p:tav>
                                        <p:tav tm="100000">
                                          <p:val>
                                            <p:strVal val="#ppt_y"/>
                                          </p:val>
                                        </p:tav>
                                      </p:tavLst>
                                    </p:anim>
                                    <p:animEffect transition="in" filter="fade">
                                      <p:cBhvr>
                                        <p:cTn id="80" dur="550"/>
                                        <p:tgtEl>
                                          <p:spTgt spid="20"/>
                                        </p:tgtEl>
                                      </p:cBhvr>
                                    </p:animEffect>
                                  </p:childTnLst>
                                </p:cTn>
                              </p:par>
                              <p:par>
                                <p:cTn id="85" presetID="2" presetClass="entr" presetSubtype="4" fill="hold" grpId="0" nodeType="withEffect">
                                  <p:stCondLst>
                                    <p:cond delay="150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550" fill="hold"/>
                                        <p:tgtEl>
                                          <p:spTgt spid="21"/>
                                        </p:tgtEl>
                                        <p:attrNameLst>
                                          <p:attrName>ppt_y</p:attrName>
                                        </p:attrNameLst>
                                      </p:cBhvr>
                                      <p:tavLst>
                                        <p:tav tm="0">
                                          <p:val>
                                            <p:strVal val="#ppt_y+0.07"/>
                                          </p:val>
                                        </p:tav>
                                        <p:tav tm="100000">
                                          <p:val>
                                            <p:strVal val="#ppt_y"/>
                                          </p:val>
                                        </p:tav>
                                      </p:tavLst>
                                    </p:anim>
                                    <p:animEffect transition="in" filter="fade">
                                      <p:cBhvr>
                                        <p:cTn id="84" dur="550"/>
                                        <p:tgtEl>
                                          <p:spTgt spid="21"/>
                                        </p:tgtEl>
                                      </p:cBhvr>
                                    </p:animEffect>
                                  </p:childTnLst>
                                </p:cTn>
                              </p:par>
                              <p:par>
                                <p:cTn id="90" presetID="53" presetClass="entr" presetSubtype="16" fill="hold" grpId="0" nodeType="withEffect">
                                  <p:stCondLst>
                                    <p:cond delay="1560"/>
                                  </p:stCondLst>
                                  <p:childTnLst>
                                    <p:set>
                                      <p:cBhvr>
                                        <p:cTn id="86" dur="1" fill="hold">
                                          <p:stCondLst>
                                            <p:cond delay="0"/>
                                          </p:stCondLst>
                                        </p:cTn>
                                        <p:tgtEl>
                                          <p:spTgt spid="22"/>
                                        </p:tgtEl>
                                        <p:attrNameLst>
                                          <p:attrName>style.visibility</p:attrName>
                                        </p:attrNameLst>
                                      </p:cBhvr>
                                      <p:to>
                                        <p:strVal val="visible"/>
                                      </p:to>
                                    </p:set>
                                    <p:anim calcmode="lin" valueType="num">
                                      <p:cBhvr additive="base">
                                        <p:cTn id="87" dur="550" fill="hold"/>
                                        <p:tgtEl>
                                          <p:spTgt spid="22"/>
                                        </p:tgtEl>
                                        <p:attrNameLst>
                                          <p:attrName>ppt_w</p:attrName>
                                        </p:attrNameLst>
                                      </p:cBhvr>
                                      <p:tavLst>
                                        <p:tav tm="0">
                                          <p:val>
                                            <p:fltVal val="0"/>
                                          </p:val>
                                        </p:tav>
                                        <p:tav tm="100000">
                                          <p:val>
                                            <p:strVal val="#ppt_w"/>
                                          </p:val>
                                        </p:tav>
                                      </p:tavLst>
                                    </p:anim>
                                    <p:anim calcmode="lin" valueType="num">
                                      <p:cBhvr additive="base">
                                        <p:cTn id="88" dur="550" fill="hold"/>
                                        <p:tgtEl>
                                          <p:spTgt spid="22"/>
                                        </p:tgtEl>
                                        <p:attrNameLst>
                                          <p:attrName>ppt_h</p:attrName>
                                        </p:attrNameLst>
                                      </p:cBhvr>
                                      <p:tavLst>
                                        <p:tav tm="0">
                                          <p:val>
                                            <p:fltVal val="0"/>
                                          </p:val>
                                        </p:tav>
                                        <p:tav tm="100000">
                                          <p:val>
                                            <p:strVal val="#ppt_h"/>
                                          </p:val>
                                        </p:tav>
                                      </p:tavLst>
                                    </p:anim>
                                    <p:animEffect transition="in" filter="fade">
                                      <p:cBhvr>
                                        <p:cTn id="89" dur="550"/>
                                        <p:tgtEl>
                                          <p:spTgt spid="22"/>
                                        </p:tgtEl>
                                      </p:cBhvr>
                                    </p:animEffect>
                                  </p:childTnLst>
                                </p:cTn>
                              </p:par>
                              <p:par>
                                <p:cTn id="95" presetID="53" presetClass="entr" presetSubtype="16" fill="hold" grpId="0" nodeType="withEffect">
                                  <p:stCondLst>
                                    <p:cond delay="1560"/>
                                  </p:stCondLst>
                                  <p:childTnLst>
                                    <p:set>
                                      <p:cBhvr>
                                        <p:cTn id="91" dur="1" fill="hold">
                                          <p:stCondLst>
                                            <p:cond delay="0"/>
                                          </p:stCondLst>
                                        </p:cTn>
                                        <p:tgtEl>
                                          <p:spTgt spid="23"/>
                                        </p:tgtEl>
                                        <p:attrNameLst>
                                          <p:attrName>style.visibility</p:attrName>
                                        </p:attrNameLst>
                                      </p:cBhvr>
                                      <p:to>
                                        <p:strVal val="visible"/>
                                      </p:to>
                                    </p:set>
                                    <p:anim calcmode="lin" valueType="num">
                                      <p:cBhvr additive="base">
                                        <p:cTn id="92" dur="550" fill="hold"/>
                                        <p:tgtEl>
                                          <p:spTgt spid="23"/>
                                        </p:tgtEl>
                                        <p:attrNameLst>
                                          <p:attrName>ppt_w</p:attrName>
                                        </p:attrNameLst>
                                      </p:cBhvr>
                                      <p:tavLst>
                                        <p:tav tm="0">
                                          <p:val>
                                            <p:fltVal val="0"/>
                                          </p:val>
                                        </p:tav>
                                        <p:tav tm="100000">
                                          <p:val>
                                            <p:strVal val="#ppt_w"/>
                                          </p:val>
                                        </p:tav>
                                      </p:tavLst>
                                    </p:anim>
                                    <p:anim calcmode="lin" valueType="num">
                                      <p:cBhvr additive="base">
                                        <p:cTn id="93" dur="550" fill="hold"/>
                                        <p:tgtEl>
                                          <p:spTgt spid="23"/>
                                        </p:tgtEl>
                                        <p:attrNameLst>
                                          <p:attrName>ppt_h</p:attrName>
                                        </p:attrNameLst>
                                      </p:cBhvr>
                                      <p:tavLst>
                                        <p:tav tm="0">
                                          <p:val>
                                            <p:fltVal val="0"/>
                                          </p:val>
                                        </p:tav>
                                        <p:tav tm="100000">
                                          <p:val>
                                            <p:strVal val="#ppt_h"/>
                                          </p:val>
                                        </p:tav>
                                      </p:tavLst>
                                    </p:anim>
                                    <p:animEffect transition="in" filter="fade">
                                      <p:cBhvr>
                                        <p:cTn id="94" dur="550"/>
                                        <p:tgtEl>
                                          <p:spTgt spid="23"/>
                                        </p:tgtEl>
                                      </p:cBhvr>
                                    </p:animEffect>
                                  </p:childTnLst>
                                </p:cTn>
                              </p:par>
                              <p:par>
                                <p:cTn id="98" presetID="10" presetClass="entr" presetSubtype="0" fill="hold" grpId="0" nodeType="withEffect">
                                  <p:stCondLst>
                                    <p:cond delay="156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550"/>
                                        <p:tgtEl>
                                          <p:spTgt spid="24"/>
                                        </p:tgtEl>
                                      </p:cBhvr>
                                    </p:animEffect>
                                  </p:childTnLst>
                                </p:cTn>
                              </p:par>
                              <p:par>
                                <p:cTn id="102" presetID="2" presetClass="entr" presetSubtype="4" fill="hold" grpId="0" nodeType="withEffect">
                                  <p:stCondLst>
                                    <p:cond delay="1650"/>
                                  </p:stCondLst>
                                  <p:childTnLst>
                                    <p:set>
                                      <p:cBhvr>
                                        <p:cTn id="99" dur="1" fill="hold">
                                          <p:stCondLst>
                                            <p:cond delay="0"/>
                                          </p:stCondLst>
                                        </p:cTn>
                                        <p:tgtEl>
                                          <p:spTgt spid="25"/>
                                        </p:tgtEl>
                                        <p:attrNameLst>
                                          <p:attrName>style.visibility</p:attrName>
                                        </p:attrNameLst>
                                      </p:cBhvr>
                                      <p:to>
                                        <p:strVal val="visible"/>
                                      </p:to>
                                    </p:set>
                                    <p:anim calcmode="lin" valueType="num">
                                      <p:cBhvr additive="base">
                                        <p:cTn id="100" dur="550" fill="hold"/>
                                        <p:tgtEl>
                                          <p:spTgt spid="25"/>
                                        </p:tgtEl>
                                        <p:attrNameLst>
                                          <p:attrName>ppt_y</p:attrName>
                                        </p:attrNameLst>
                                      </p:cBhvr>
                                      <p:tavLst>
                                        <p:tav tm="0">
                                          <p:val>
                                            <p:strVal val="#ppt_y+0.07"/>
                                          </p:val>
                                        </p:tav>
                                        <p:tav tm="100000">
                                          <p:val>
                                            <p:strVal val="#ppt_y"/>
                                          </p:val>
                                        </p:tav>
                                      </p:tavLst>
                                    </p:anim>
                                    <p:animEffect transition="in" filter="fade">
                                      <p:cBhvr>
                                        <p:cTn id="101" dur="550"/>
                                        <p:tgtEl>
                                          <p:spTgt spid="25"/>
                                        </p:tgtEl>
                                      </p:cBhvr>
                                    </p:animEffect>
                                  </p:childTnLst>
                                </p:cTn>
                              </p:par>
                              <p:par>
                                <p:cTn id="106" presetID="2" presetClass="entr" presetSubtype="4" fill="hold" grpId="0" nodeType="withEffect">
                                  <p:stCondLst>
                                    <p:cond delay="1800"/>
                                  </p:stCondLst>
                                  <p:childTnLst>
                                    <p:set>
                                      <p:cBhvr>
                                        <p:cTn id="103" dur="1" fill="hold">
                                          <p:stCondLst>
                                            <p:cond delay="0"/>
                                          </p:stCondLst>
                                        </p:cTn>
                                        <p:tgtEl>
                                          <p:spTgt spid="26"/>
                                        </p:tgtEl>
                                        <p:attrNameLst>
                                          <p:attrName>style.visibility</p:attrName>
                                        </p:attrNameLst>
                                      </p:cBhvr>
                                      <p:to>
                                        <p:strVal val="visible"/>
                                      </p:to>
                                    </p:set>
                                    <p:anim calcmode="lin" valueType="num">
                                      <p:cBhvr additive="base">
                                        <p:cTn id="104" dur="550" fill="hold"/>
                                        <p:tgtEl>
                                          <p:spTgt spid="26"/>
                                        </p:tgtEl>
                                        <p:attrNameLst>
                                          <p:attrName>ppt_y</p:attrName>
                                        </p:attrNameLst>
                                      </p:cBhvr>
                                      <p:tavLst>
                                        <p:tav tm="0">
                                          <p:val>
                                            <p:strVal val="#ppt_y+0.07"/>
                                          </p:val>
                                        </p:tav>
                                        <p:tav tm="100000">
                                          <p:val>
                                            <p:strVal val="#ppt_y"/>
                                          </p:val>
                                        </p:tav>
                                      </p:tavLst>
                                    </p:anim>
                                    <p:animEffect transition="in" filter="fade">
                                      <p:cBhvr>
                                        <p:cTn id="105" dur="550"/>
                                        <p:tgtEl>
                                          <p:spTgt spid="26"/>
                                        </p:tgtEl>
                                      </p:cBhvr>
                                    </p:animEffect>
                                  </p:childTnLst>
                                </p:cTn>
                              </p:par>
                              <p:par>
                                <p:cTn id="110" presetID="2" presetClass="entr" presetSubtype="4" fill="hold" grpId="0" nodeType="withEffect">
                                  <p:stCondLst>
                                    <p:cond delay="1950"/>
                                  </p:stCondLst>
                                  <p:childTnLst>
                                    <p:set>
                                      <p:cBhvr>
                                        <p:cTn id="107" dur="1" fill="hold">
                                          <p:stCondLst>
                                            <p:cond delay="0"/>
                                          </p:stCondLst>
                                        </p:cTn>
                                        <p:tgtEl>
                                          <p:spTgt spid="27"/>
                                        </p:tgtEl>
                                        <p:attrNameLst>
                                          <p:attrName>style.visibility</p:attrName>
                                        </p:attrNameLst>
                                      </p:cBhvr>
                                      <p:to>
                                        <p:strVal val="visible"/>
                                      </p:to>
                                    </p:set>
                                    <p:anim calcmode="lin" valueType="num">
                                      <p:cBhvr additive="base">
                                        <p:cTn id="108" dur="550" fill="hold"/>
                                        <p:tgtEl>
                                          <p:spTgt spid="27"/>
                                        </p:tgtEl>
                                        <p:attrNameLst>
                                          <p:attrName>ppt_y</p:attrName>
                                        </p:attrNameLst>
                                      </p:cBhvr>
                                      <p:tavLst>
                                        <p:tav tm="0">
                                          <p:val>
                                            <p:strVal val="#ppt_y+0.07"/>
                                          </p:val>
                                        </p:tav>
                                        <p:tav tm="100000">
                                          <p:val>
                                            <p:strVal val="#ppt_y"/>
                                          </p:val>
                                        </p:tav>
                                      </p:tavLst>
                                    </p:anim>
                                    <p:animEffect transition="in" filter="fade">
                                      <p:cBhvr>
                                        <p:cTn id="109" dur="550"/>
                                        <p:tgtEl>
                                          <p:spTgt spid="27"/>
                                        </p:tgtEl>
                                      </p:cBhvr>
                                    </p:animEffect>
                                  </p:childTnLst>
                                </p:cTn>
                              </p:par>
                              <p:par>
                                <p:cTn id="115" presetID="53" presetClass="entr" presetSubtype="16" fill="hold" grpId="0" nodeType="withEffect">
                                  <p:stCondLst>
                                    <p:cond delay="2010"/>
                                  </p:stCondLst>
                                  <p:childTnLst>
                                    <p:set>
                                      <p:cBhvr>
                                        <p:cTn id="111" dur="1" fill="hold">
                                          <p:stCondLst>
                                            <p:cond delay="0"/>
                                          </p:stCondLst>
                                        </p:cTn>
                                        <p:tgtEl>
                                          <p:spTgt spid="28"/>
                                        </p:tgtEl>
                                        <p:attrNameLst>
                                          <p:attrName>style.visibility</p:attrName>
                                        </p:attrNameLst>
                                      </p:cBhvr>
                                      <p:to>
                                        <p:strVal val="visible"/>
                                      </p:to>
                                    </p:set>
                                    <p:anim calcmode="lin" valueType="num">
                                      <p:cBhvr additive="base">
                                        <p:cTn id="112" dur="550" fill="hold"/>
                                        <p:tgtEl>
                                          <p:spTgt spid="28"/>
                                        </p:tgtEl>
                                        <p:attrNameLst>
                                          <p:attrName>ppt_w</p:attrName>
                                        </p:attrNameLst>
                                      </p:cBhvr>
                                      <p:tavLst>
                                        <p:tav tm="0">
                                          <p:val>
                                            <p:fltVal val="0"/>
                                          </p:val>
                                        </p:tav>
                                        <p:tav tm="100000">
                                          <p:val>
                                            <p:strVal val="#ppt_w"/>
                                          </p:val>
                                        </p:tav>
                                      </p:tavLst>
                                    </p:anim>
                                    <p:anim calcmode="lin" valueType="num">
                                      <p:cBhvr additive="base">
                                        <p:cTn id="113" dur="550" fill="hold"/>
                                        <p:tgtEl>
                                          <p:spTgt spid="28"/>
                                        </p:tgtEl>
                                        <p:attrNameLst>
                                          <p:attrName>ppt_h</p:attrName>
                                        </p:attrNameLst>
                                      </p:cBhvr>
                                      <p:tavLst>
                                        <p:tav tm="0">
                                          <p:val>
                                            <p:fltVal val="0"/>
                                          </p:val>
                                        </p:tav>
                                        <p:tav tm="100000">
                                          <p:val>
                                            <p:strVal val="#ppt_h"/>
                                          </p:val>
                                        </p:tav>
                                      </p:tavLst>
                                    </p:anim>
                                    <p:animEffect transition="in" filter="fade">
                                      <p:cBhvr>
                                        <p:cTn id="114" dur="550"/>
                                        <p:tgtEl>
                                          <p:spTgt spid="28"/>
                                        </p:tgtEl>
                                      </p:cBhvr>
                                    </p:animEffect>
                                  </p:childTnLst>
                                </p:cTn>
                              </p:par>
                              <p:par>
                                <p:cTn id="120" presetID="53" presetClass="entr" presetSubtype="16" fill="hold" grpId="0" nodeType="withEffect">
                                  <p:stCondLst>
                                    <p:cond delay="2010"/>
                                  </p:stCondLst>
                                  <p:childTnLst>
                                    <p:set>
                                      <p:cBhvr>
                                        <p:cTn id="116" dur="1" fill="hold">
                                          <p:stCondLst>
                                            <p:cond delay="0"/>
                                          </p:stCondLst>
                                        </p:cTn>
                                        <p:tgtEl>
                                          <p:spTgt spid="29"/>
                                        </p:tgtEl>
                                        <p:attrNameLst>
                                          <p:attrName>style.visibility</p:attrName>
                                        </p:attrNameLst>
                                      </p:cBhvr>
                                      <p:to>
                                        <p:strVal val="visible"/>
                                      </p:to>
                                    </p:set>
                                    <p:anim calcmode="lin" valueType="num">
                                      <p:cBhvr additive="base">
                                        <p:cTn id="117" dur="550" fill="hold"/>
                                        <p:tgtEl>
                                          <p:spTgt spid="29"/>
                                        </p:tgtEl>
                                        <p:attrNameLst>
                                          <p:attrName>ppt_w</p:attrName>
                                        </p:attrNameLst>
                                      </p:cBhvr>
                                      <p:tavLst>
                                        <p:tav tm="0">
                                          <p:val>
                                            <p:fltVal val="0"/>
                                          </p:val>
                                        </p:tav>
                                        <p:tav tm="100000">
                                          <p:val>
                                            <p:strVal val="#ppt_w"/>
                                          </p:val>
                                        </p:tav>
                                      </p:tavLst>
                                    </p:anim>
                                    <p:anim calcmode="lin" valueType="num">
                                      <p:cBhvr additive="base">
                                        <p:cTn id="118" dur="550" fill="hold"/>
                                        <p:tgtEl>
                                          <p:spTgt spid="29"/>
                                        </p:tgtEl>
                                        <p:attrNameLst>
                                          <p:attrName>ppt_h</p:attrName>
                                        </p:attrNameLst>
                                      </p:cBhvr>
                                      <p:tavLst>
                                        <p:tav tm="0">
                                          <p:val>
                                            <p:fltVal val="0"/>
                                          </p:val>
                                        </p:tav>
                                        <p:tav tm="100000">
                                          <p:val>
                                            <p:strVal val="#ppt_h"/>
                                          </p:val>
                                        </p:tav>
                                      </p:tavLst>
                                    </p:anim>
                                    <p:animEffect transition="in" filter="fade">
                                      <p:cBhvr>
                                        <p:cTn id="119" dur="550"/>
                                        <p:tgtEl>
                                          <p:spTgt spid="29"/>
                                        </p:tgtEl>
                                      </p:cBhvr>
                                    </p:animEffect>
                                  </p:childTnLst>
                                </p:cTn>
                              </p:par>
                              <p:par>
                                <p:cTn id="123" presetID="10" presetClass="entr" presetSubtype="0" fill="hold" grpId="0" nodeType="withEffect">
                                  <p:stCondLst>
                                    <p:cond delay="2010"/>
                                  </p:stCondLst>
                                  <p:childTnLst>
                                    <p:set>
                                      <p:cBhvr>
                                        <p:cTn id="121" dur="1" fill="hold">
                                          <p:stCondLst>
                                            <p:cond delay="0"/>
                                          </p:stCondLst>
                                        </p:cTn>
                                        <p:tgtEl>
                                          <p:spTgt spid="30"/>
                                        </p:tgtEl>
                                        <p:attrNameLst>
                                          <p:attrName>style.visibility</p:attrName>
                                        </p:attrNameLst>
                                      </p:cBhvr>
                                      <p:to>
                                        <p:strVal val="visible"/>
                                      </p:to>
                                    </p:set>
                                    <p:animEffect transition="in" filter="fade">
                                      <p:cBhvr>
                                        <p:cTn id="122" dur="550"/>
                                        <p:tgtEl>
                                          <p:spTgt spid="30"/>
                                        </p:tgtEl>
                                      </p:cBhvr>
                                    </p:animEffect>
                                  </p:childTnLst>
                                </p:cTn>
                              </p:par>
                              <p:par>
                                <p:cTn id="127" presetID="2" presetClass="entr" presetSubtype="4" fill="hold" grpId="0" nodeType="withEffect">
                                  <p:stCondLst>
                                    <p:cond delay="2100"/>
                                  </p:stCondLst>
                                  <p:childTnLst>
                                    <p:set>
                                      <p:cBhvr>
                                        <p:cTn id="124" dur="1" fill="hold">
                                          <p:stCondLst>
                                            <p:cond delay="0"/>
                                          </p:stCondLst>
                                        </p:cTn>
                                        <p:tgtEl>
                                          <p:spTgt spid="31"/>
                                        </p:tgtEl>
                                        <p:attrNameLst>
                                          <p:attrName>style.visibility</p:attrName>
                                        </p:attrNameLst>
                                      </p:cBhvr>
                                      <p:to>
                                        <p:strVal val="visible"/>
                                      </p:to>
                                    </p:set>
                                    <p:anim calcmode="lin" valueType="num">
                                      <p:cBhvr additive="base">
                                        <p:cTn id="125" dur="550" fill="hold"/>
                                        <p:tgtEl>
                                          <p:spTgt spid="31"/>
                                        </p:tgtEl>
                                        <p:attrNameLst>
                                          <p:attrName>ppt_y</p:attrName>
                                        </p:attrNameLst>
                                      </p:cBhvr>
                                      <p:tavLst>
                                        <p:tav tm="0">
                                          <p:val>
                                            <p:strVal val="#ppt_y+0.07"/>
                                          </p:val>
                                        </p:tav>
                                        <p:tav tm="100000">
                                          <p:val>
                                            <p:strVal val="#ppt_y"/>
                                          </p:val>
                                        </p:tav>
                                      </p:tavLst>
                                    </p:anim>
                                    <p:animEffect transition="in" filter="fade">
                                      <p:cBhvr>
                                        <p:cTn id="126" dur="550"/>
                                        <p:tgtEl>
                                          <p:spTgt spid="31"/>
                                        </p:tgtEl>
                                      </p:cBhvr>
                                    </p:animEffect>
                                  </p:childTnLst>
                                </p:cTn>
                              </p:par>
                              <p:par>
                                <p:cTn id="131" presetID="2" presetClass="entr" presetSubtype="4" fill="hold" grpId="0" nodeType="withEffect">
                                  <p:stCondLst>
                                    <p:cond delay="2250"/>
                                  </p:stCondLst>
                                  <p:childTnLst>
                                    <p:set>
                                      <p:cBhvr>
                                        <p:cTn id="128" dur="1" fill="hold">
                                          <p:stCondLst>
                                            <p:cond delay="0"/>
                                          </p:stCondLst>
                                        </p:cTn>
                                        <p:tgtEl>
                                          <p:spTgt spid="32"/>
                                        </p:tgtEl>
                                        <p:attrNameLst>
                                          <p:attrName>style.visibility</p:attrName>
                                        </p:attrNameLst>
                                      </p:cBhvr>
                                      <p:to>
                                        <p:strVal val="visible"/>
                                      </p:to>
                                    </p:set>
                                    <p:anim calcmode="lin" valueType="num">
                                      <p:cBhvr additive="base">
                                        <p:cTn id="129" dur="550" fill="hold"/>
                                        <p:tgtEl>
                                          <p:spTgt spid="32"/>
                                        </p:tgtEl>
                                        <p:attrNameLst>
                                          <p:attrName>ppt_y</p:attrName>
                                        </p:attrNameLst>
                                      </p:cBhvr>
                                      <p:tavLst>
                                        <p:tav tm="0">
                                          <p:val>
                                            <p:strVal val="#ppt_y+0.07"/>
                                          </p:val>
                                        </p:tav>
                                        <p:tav tm="100000">
                                          <p:val>
                                            <p:strVal val="#ppt_y"/>
                                          </p:val>
                                        </p:tav>
                                      </p:tavLst>
                                    </p:anim>
                                    <p:animEffect transition="in" filter="fade">
                                      <p:cBhvr>
                                        <p:cTn id="130" dur="550"/>
                                        <p:tgtEl>
                                          <p:spTgt spid="32"/>
                                        </p:tgtEl>
                                      </p:cBhvr>
                                    </p:animEffect>
                                  </p:childTnLst>
                                </p:cTn>
                              </p:par>
                              <p:par>
                                <p:cTn id="134" presetID="10" presetClass="entr" presetSubtype="0" fill="hold" grpId="0" nodeType="withEffect">
                                  <p:stCondLst>
                                    <p:cond delay="2310"/>
                                  </p:stCondLst>
                                  <p:childTnLst>
                                    <p:set>
                                      <p:cBhvr>
                                        <p:cTn id="132" dur="1" fill="hold">
                                          <p:stCondLst>
                                            <p:cond delay="0"/>
                                          </p:stCondLst>
                                        </p:cTn>
                                        <p:tgtEl>
                                          <p:spTgt spid="33"/>
                                        </p:tgtEl>
                                        <p:attrNameLst>
                                          <p:attrName>style.visibility</p:attrName>
                                        </p:attrNameLst>
                                      </p:cBhvr>
                                      <p:to>
                                        <p:strVal val="visible"/>
                                      </p:to>
                                    </p:set>
                                    <p:animEffect transition="in" filter="fade">
                                      <p:cBhvr>
                                        <p:cTn id="133" dur="550"/>
                                        <p:tgtEl>
                                          <p:spTgt spid="33"/>
                                        </p:tgtEl>
                                      </p:cBhvr>
                                    </p:animEffect>
                                  </p:childTnLst>
                                </p:cTn>
                              </p:par>
                              <p:par>
                                <p:cTn id="138" presetID="2" presetClass="entr" presetSubtype="4" fill="hold" grpId="0" nodeType="withEffect">
                                  <p:stCondLst>
                                    <p:cond delay="2400"/>
                                  </p:stCondLst>
                                  <p:childTnLst>
                                    <p:set>
                                      <p:cBhvr>
                                        <p:cTn id="135" dur="1" fill="hold">
                                          <p:stCondLst>
                                            <p:cond delay="0"/>
                                          </p:stCondLst>
                                        </p:cTn>
                                        <p:tgtEl>
                                          <p:spTgt spid="34"/>
                                        </p:tgtEl>
                                        <p:attrNameLst>
                                          <p:attrName>style.visibility</p:attrName>
                                        </p:attrNameLst>
                                      </p:cBhvr>
                                      <p:to>
                                        <p:strVal val="visible"/>
                                      </p:to>
                                    </p:set>
                                    <p:anim calcmode="lin" valueType="num">
                                      <p:cBhvr additive="base">
                                        <p:cTn id="136" dur="550" fill="hold"/>
                                        <p:tgtEl>
                                          <p:spTgt spid="34"/>
                                        </p:tgtEl>
                                        <p:attrNameLst>
                                          <p:attrName>ppt_y</p:attrName>
                                        </p:attrNameLst>
                                      </p:cBhvr>
                                      <p:tavLst>
                                        <p:tav tm="0">
                                          <p:val>
                                            <p:strVal val="#ppt_y+0.07"/>
                                          </p:val>
                                        </p:tav>
                                        <p:tav tm="100000">
                                          <p:val>
                                            <p:strVal val="#ppt_y"/>
                                          </p:val>
                                        </p:tav>
                                      </p:tavLst>
                                    </p:anim>
                                    <p:animEffect transition="in" filter="fade">
                                      <p:cBhvr>
                                        <p:cTn id="137" dur="5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tx1"/>
                </a:solidFill>
              </a:rPr>
              <a:t>Tech stack</a:t>
            </a:r>
            <a:endParaRPr lang="en-US" sz="3600" dirty="0"/>
          </a:p>
        </p:txBody>
      </p:sp>
      <p:sp>
        <p:nvSpPr>
          <p:cNvPr id="3" name="Python (FastAPI) tile"/>
          <p:cNvSpPr/>
          <p:nvPr/>
        </p:nvSpPr>
        <p:spPr>
          <a:xfrm>
            <a:off x="640080" y="1737360"/>
            <a:ext cx="2011680" cy="3017520"/>
          </a:xfrm>
          <a:prstGeom prst="roundRect">
            <a:avLst>
              <a:gd name="adj" fmla="val 6818"/>
            </a:avLst>
          </a:prstGeom>
          <a:solidFill>
            <a:schemeClr val="bg2"/>
          </a:solidFill>
          <a:ln/>
        </p:spPr>
      </p:sp>
      <p:sp>
        <p:nvSpPr>
          <p:cNvPr id="4" name="Python (FastAPI) circle"/>
          <p:cNvSpPr/>
          <p:nvPr/>
        </p:nvSpPr>
        <p:spPr>
          <a:xfrm>
            <a:off x="1188720" y="2011680"/>
            <a:ext cx="914400" cy="914400"/>
          </a:xfrm>
          <a:prstGeom prst="ellipse">
            <a:avLst/>
          </a:prstGeom>
          <a:solidFill>
            <a:schemeClr val="accent1"/>
          </a:solidFill>
          <a:ln/>
        </p:spPr>
      </p:sp>
      <p:pic>
        <p:nvPicPr>
          <p:cNvPr id="5" name="Image 0" descr="Python (FastAPI)"/>
          <p:cNvPicPr>
            <a:picLocks noChangeAspect="1"/>
          </p:cNvPicPr>
          <p:nvPr/>
        </p:nvPicPr>
        <p:blipFill>
          <a:blip r:embed="rId3"/>
          <a:stretch>
            <a:fillRect/>
          </a:stretch>
        </p:blipFill>
        <p:spPr>
          <a:xfrm>
            <a:off x="1417320" y="2240280"/>
            <a:ext cx="457200" cy="457200"/>
          </a:xfrm>
          <a:prstGeom prst="rect">
            <a:avLst/>
          </a:prstGeom>
        </p:spPr>
      </p:pic>
      <p:sp>
        <p:nvSpPr>
          <p:cNvPr id="6" name="Text 3"/>
          <p:cNvSpPr txBox="1"/>
          <p:nvPr/>
        </p:nvSpPr>
        <p:spPr>
          <a:xfrm>
            <a:off x="731520" y="3200400"/>
            <a:ext cx="1828800" cy="6400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Python (FastAPI)</a:t>
            </a:r>
            <a:endParaRPr lang="en-US" sz="1800" dirty="0"/>
          </a:p>
        </p:txBody>
      </p:sp>
      <p:sp>
        <p:nvSpPr>
          <p:cNvPr id="7" name="Text 4"/>
          <p:cNvSpPr txBox="1"/>
          <p:nvPr/>
        </p:nvSpPr>
        <p:spPr>
          <a:xfrm>
            <a:off x="777240" y="3886200"/>
            <a:ext cx="1737360" cy="731520"/>
          </a:xfrm>
          <a:prstGeom prst="rect">
            <a:avLst/>
          </a:prstGeom>
          <a:noFill/>
          <a:ln/>
        </p:spPr>
        <p:txBody>
          <a:bodyPr wrap="square" lIns="0" tIns="0" rIns="0" bIns="0" rtlCol="0" anchor="t"/>
          <a:lstStyle/>
          <a:p>
            <a:pPr marL="0" indent="0" algn="ctr">
              <a:buNone/>
            </a:pPr>
            <a:r>
              <a:rPr lang="en-US" sz="1500" dirty="0">
                <a:solidFill>
                  <a:schemeClr val="tx2"/>
                </a:solidFill>
              </a:rPr>
              <a:t>Backend API and ML services</a:t>
            </a:r>
            <a:endParaRPr lang="en-US" sz="1500" dirty="0"/>
          </a:p>
        </p:txBody>
      </p:sp>
      <p:sp>
        <p:nvSpPr>
          <p:cNvPr id="8" name="React Native tile"/>
          <p:cNvSpPr/>
          <p:nvPr/>
        </p:nvSpPr>
        <p:spPr>
          <a:xfrm>
            <a:off x="2864358" y="1737360"/>
            <a:ext cx="2011680" cy="3017520"/>
          </a:xfrm>
          <a:prstGeom prst="roundRect">
            <a:avLst>
              <a:gd name="adj" fmla="val 6818"/>
            </a:avLst>
          </a:prstGeom>
          <a:solidFill>
            <a:schemeClr val="bg2"/>
          </a:solidFill>
          <a:ln/>
        </p:spPr>
      </p:sp>
      <p:sp>
        <p:nvSpPr>
          <p:cNvPr id="9" name="React Native circle"/>
          <p:cNvSpPr/>
          <p:nvPr/>
        </p:nvSpPr>
        <p:spPr>
          <a:xfrm>
            <a:off x="3412998" y="2011680"/>
            <a:ext cx="914400" cy="914400"/>
          </a:xfrm>
          <a:prstGeom prst="ellipse">
            <a:avLst/>
          </a:prstGeom>
          <a:solidFill>
            <a:schemeClr val="accent1"/>
          </a:solidFill>
          <a:ln/>
        </p:spPr>
      </p:sp>
      <p:pic>
        <p:nvPicPr>
          <p:cNvPr id="10" name="Image 1" descr="React Native"/>
          <p:cNvPicPr>
            <a:picLocks noChangeAspect="1"/>
          </p:cNvPicPr>
          <p:nvPr/>
        </p:nvPicPr>
        <p:blipFill>
          <a:blip r:embed="rId4"/>
          <a:stretch>
            <a:fillRect/>
          </a:stretch>
        </p:blipFill>
        <p:spPr>
          <a:xfrm>
            <a:off x="3641598" y="2240280"/>
            <a:ext cx="457200" cy="457200"/>
          </a:xfrm>
          <a:prstGeom prst="rect">
            <a:avLst/>
          </a:prstGeom>
        </p:spPr>
      </p:pic>
      <p:sp>
        <p:nvSpPr>
          <p:cNvPr id="11" name="Text 7"/>
          <p:cNvSpPr txBox="1"/>
          <p:nvPr/>
        </p:nvSpPr>
        <p:spPr>
          <a:xfrm>
            <a:off x="2955798" y="3200400"/>
            <a:ext cx="1828800" cy="6400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React Native</a:t>
            </a:r>
            <a:endParaRPr lang="en-US" sz="1800" dirty="0"/>
          </a:p>
        </p:txBody>
      </p:sp>
      <p:sp>
        <p:nvSpPr>
          <p:cNvPr id="12" name="Text 8"/>
          <p:cNvSpPr txBox="1"/>
          <p:nvPr/>
        </p:nvSpPr>
        <p:spPr>
          <a:xfrm>
            <a:off x="3001518" y="3886200"/>
            <a:ext cx="1737360" cy="731520"/>
          </a:xfrm>
          <a:prstGeom prst="rect">
            <a:avLst/>
          </a:prstGeom>
          <a:noFill/>
          <a:ln/>
        </p:spPr>
        <p:txBody>
          <a:bodyPr wrap="square" lIns="0" tIns="0" rIns="0" bIns="0" rtlCol="0" anchor="t"/>
          <a:lstStyle/>
          <a:p>
            <a:pPr marL="0" indent="0" algn="ctr">
              <a:buNone/>
            </a:pPr>
            <a:r>
              <a:rPr lang="en-US" sz="1500" dirty="0">
                <a:solidFill>
                  <a:schemeClr val="tx2"/>
                </a:solidFill>
              </a:rPr>
              <a:t>Cross-platform mobile dashboard</a:t>
            </a:r>
            <a:endParaRPr lang="en-US" sz="1500" dirty="0"/>
          </a:p>
        </p:txBody>
      </p:sp>
      <p:sp>
        <p:nvSpPr>
          <p:cNvPr id="13" name="PostgreSQL tile"/>
          <p:cNvSpPr/>
          <p:nvPr/>
        </p:nvSpPr>
        <p:spPr>
          <a:xfrm>
            <a:off x="5088636" y="1737360"/>
            <a:ext cx="2011680" cy="3017520"/>
          </a:xfrm>
          <a:prstGeom prst="roundRect">
            <a:avLst>
              <a:gd name="adj" fmla="val 6818"/>
            </a:avLst>
          </a:prstGeom>
          <a:solidFill>
            <a:schemeClr val="bg2"/>
          </a:solidFill>
          <a:ln/>
        </p:spPr>
      </p:sp>
      <p:sp>
        <p:nvSpPr>
          <p:cNvPr id="14" name="PostgreSQL circle"/>
          <p:cNvSpPr/>
          <p:nvPr/>
        </p:nvSpPr>
        <p:spPr>
          <a:xfrm>
            <a:off x="5637276" y="2011680"/>
            <a:ext cx="914400" cy="914400"/>
          </a:xfrm>
          <a:prstGeom prst="ellipse">
            <a:avLst/>
          </a:prstGeom>
          <a:solidFill>
            <a:schemeClr val="accent1"/>
          </a:solidFill>
          <a:ln/>
        </p:spPr>
      </p:sp>
      <p:pic>
        <p:nvPicPr>
          <p:cNvPr id="15" name="Image 2" descr="PostgreSQL"/>
          <p:cNvPicPr>
            <a:picLocks noChangeAspect="1"/>
          </p:cNvPicPr>
          <p:nvPr/>
        </p:nvPicPr>
        <p:blipFill>
          <a:blip r:embed="rId5"/>
          <a:stretch>
            <a:fillRect/>
          </a:stretch>
        </p:blipFill>
        <p:spPr>
          <a:xfrm>
            <a:off x="5865876" y="2240280"/>
            <a:ext cx="457200" cy="457200"/>
          </a:xfrm>
          <a:prstGeom prst="rect">
            <a:avLst/>
          </a:prstGeom>
        </p:spPr>
      </p:pic>
      <p:sp>
        <p:nvSpPr>
          <p:cNvPr id="16" name="Text 11"/>
          <p:cNvSpPr txBox="1"/>
          <p:nvPr/>
        </p:nvSpPr>
        <p:spPr>
          <a:xfrm>
            <a:off x="5180076" y="3200400"/>
            <a:ext cx="1828800" cy="6400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PostgreSQL</a:t>
            </a:r>
            <a:endParaRPr lang="en-US" sz="1800" dirty="0"/>
          </a:p>
        </p:txBody>
      </p:sp>
      <p:sp>
        <p:nvSpPr>
          <p:cNvPr id="17" name="Text 12"/>
          <p:cNvSpPr txBox="1"/>
          <p:nvPr/>
        </p:nvSpPr>
        <p:spPr>
          <a:xfrm>
            <a:off x="5225796" y="3886200"/>
            <a:ext cx="1737360" cy="731520"/>
          </a:xfrm>
          <a:prstGeom prst="rect">
            <a:avLst/>
          </a:prstGeom>
          <a:noFill/>
          <a:ln/>
        </p:spPr>
        <p:txBody>
          <a:bodyPr wrap="square" lIns="0" tIns="0" rIns="0" bIns="0" rtlCol="0" anchor="t"/>
          <a:lstStyle/>
          <a:p>
            <a:pPr marL="0" indent="0" algn="ctr">
              <a:buNone/>
            </a:pPr>
            <a:r>
              <a:rPr lang="en-US" sz="1500" dirty="0">
                <a:solidFill>
                  <a:schemeClr val="tx2"/>
                </a:solidFill>
              </a:rPr>
              <a:t>Sensor, schedule and usage data</a:t>
            </a:r>
            <a:endParaRPr lang="en-US" sz="1500" dirty="0"/>
          </a:p>
        </p:txBody>
      </p:sp>
      <p:sp>
        <p:nvSpPr>
          <p:cNvPr id="18" name="AWS IoT Core tile"/>
          <p:cNvSpPr/>
          <p:nvPr/>
        </p:nvSpPr>
        <p:spPr>
          <a:xfrm>
            <a:off x="7312914" y="1737360"/>
            <a:ext cx="2011680" cy="3017520"/>
          </a:xfrm>
          <a:prstGeom prst="roundRect">
            <a:avLst>
              <a:gd name="adj" fmla="val 6818"/>
            </a:avLst>
          </a:prstGeom>
          <a:solidFill>
            <a:schemeClr val="bg2"/>
          </a:solidFill>
          <a:ln/>
        </p:spPr>
      </p:sp>
      <p:sp>
        <p:nvSpPr>
          <p:cNvPr id="19" name="AWS IoT Core circle"/>
          <p:cNvSpPr/>
          <p:nvPr/>
        </p:nvSpPr>
        <p:spPr>
          <a:xfrm>
            <a:off x="7861554" y="2011680"/>
            <a:ext cx="914400" cy="914400"/>
          </a:xfrm>
          <a:prstGeom prst="ellipse">
            <a:avLst/>
          </a:prstGeom>
          <a:solidFill>
            <a:schemeClr val="accent1"/>
          </a:solidFill>
          <a:ln/>
        </p:spPr>
      </p:sp>
      <p:pic>
        <p:nvPicPr>
          <p:cNvPr id="20" name="Image 3" descr="AWS IoT Core"/>
          <p:cNvPicPr>
            <a:picLocks noChangeAspect="1"/>
          </p:cNvPicPr>
          <p:nvPr/>
        </p:nvPicPr>
        <p:blipFill>
          <a:blip r:embed="rId6"/>
          <a:stretch>
            <a:fillRect/>
          </a:stretch>
        </p:blipFill>
        <p:spPr>
          <a:xfrm>
            <a:off x="8090154" y="2240280"/>
            <a:ext cx="457200" cy="457200"/>
          </a:xfrm>
          <a:prstGeom prst="rect">
            <a:avLst/>
          </a:prstGeom>
        </p:spPr>
      </p:pic>
      <p:sp>
        <p:nvSpPr>
          <p:cNvPr id="21" name="Text 15"/>
          <p:cNvSpPr txBox="1"/>
          <p:nvPr/>
        </p:nvSpPr>
        <p:spPr>
          <a:xfrm>
            <a:off x="7404354" y="3200400"/>
            <a:ext cx="1828800" cy="6400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AWS IoT Core</a:t>
            </a:r>
            <a:endParaRPr lang="en-US" sz="1800" dirty="0"/>
          </a:p>
        </p:txBody>
      </p:sp>
      <p:sp>
        <p:nvSpPr>
          <p:cNvPr id="22" name="Text 16"/>
          <p:cNvSpPr txBox="1"/>
          <p:nvPr/>
        </p:nvSpPr>
        <p:spPr>
          <a:xfrm>
            <a:off x="7450074" y="3886200"/>
            <a:ext cx="1737360" cy="731520"/>
          </a:xfrm>
          <a:prstGeom prst="rect">
            <a:avLst/>
          </a:prstGeom>
          <a:noFill/>
          <a:ln/>
        </p:spPr>
        <p:txBody>
          <a:bodyPr wrap="square" lIns="0" tIns="0" rIns="0" bIns="0" rtlCol="0" anchor="t"/>
          <a:lstStyle/>
          <a:p>
            <a:pPr marL="0" indent="0" algn="ctr">
              <a:buNone/>
            </a:pPr>
            <a:r>
              <a:rPr lang="en-US" sz="1500" dirty="0">
                <a:solidFill>
                  <a:schemeClr val="tx2"/>
                </a:solidFill>
              </a:rPr>
              <a:t>Secure device connectivity</a:t>
            </a:r>
            <a:endParaRPr lang="en-US" sz="1500" dirty="0"/>
          </a:p>
        </p:txBody>
      </p:sp>
      <p:sp>
        <p:nvSpPr>
          <p:cNvPr id="23" name="TensorFlow Lite tile"/>
          <p:cNvSpPr/>
          <p:nvPr/>
        </p:nvSpPr>
        <p:spPr>
          <a:xfrm>
            <a:off x="9537192" y="1737360"/>
            <a:ext cx="2011680" cy="3017520"/>
          </a:xfrm>
          <a:prstGeom prst="roundRect">
            <a:avLst>
              <a:gd name="adj" fmla="val 6818"/>
            </a:avLst>
          </a:prstGeom>
          <a:solidFill>
            <a:schemeClr val="bg2"/>
          </a:solidFill>
          <a:ln/>
        </p:spPr>
      </p:sp>
      <p:sp>
        <p:nvSpPr>
          <p:cNvPr id="24" name="TensorFlow Lite circle"/>
          <p:cNvSpPr/>
          <p:nvPr/>
        </p:nvSpPr>
        <p:spPr>
          <a:xfrm>
            <a:off x="10085832" y="2011680"/>
            <a:ext cx="914400" cy="914400"/>
          </a:xfrm>
          <a:prstGeom prst="ellipse">
            <a:avLst/>
          </a:prstGeom>
          <a:solidFill>
            <a:schemeClr val="accent1"/>
          </a:solidFill>
          <a:ln/>
        </p:spPr>
      </p:sp>
      <p:pic>
        <p:nvPicPr>
          <p:cNvPr id="25" name="Image 4" descr="TensorFlow Lite"/>
          <p:cNvPicPr>
            <a:picLocks noChangeAspect="1"/>
          </p:cNvPicPr>
          <p:nvPr/>
        </p:nvPicPr>
        <p:blipFill>
          <a:blip r:embed="rId7"/>
          <a:stretch>
            <a:fillRect/>
          </a:stretch>
        </p:blipFill>
        <p:spPr>
          <a:xfrm>
            <a:off x="10314432" y="2240280"/>
            <a:ext cx="457200" cy="457200"/>
          </a:xfrm>
          <a:prstGeom prst="rect">
            <a:avLst/>
          </a:prstGeom>
        </p:spPr>
      </p:pic>
      <p:sp>
        <p:nvSpPr>
          <p:cNvPr id="26" name="Text 19"/>
          <p:cNvSpPr txBox="1"/>
          <p:nvPr/>
        </p:nvSpPr>
        <p:spPr>
          <a:xfrm>
            <a:off x="9628632" y="3200400"/>
            <a:ext cx="1828800" cy="64008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TensorFlow Lite</a:t>
            </a:r>
            <a:endParaRPr lang="en-US" sz="1800" dirty="0"/>
          </a:p>
        </p:txBody>
      </p:sp>
      <p:sp>
        <p:nvSpPr>
          <p:cNvPr id="27" name="Text 20"/>
          <p:cNvSpPr txBox="1"/>
          <p:nvPr/>
        </p:nvSpPr>
        <p:spPr>
          <a:xfrm>
            <a:off x="9674352" y="3886200"/>
            <a:ext cx="1737360" cy="731520"/>
          </a:xfrm>
          <a:prstGeom prst="rect">
            <a:avLst/>
          </a:prstGeom>
          <a:noFill/>
          <a:ln/>
        </p:spPr>
        <p:txBody>
          <a:bodyPr wrap="square" lIns="0" tIns="0" rIns="0" bIns="0" rtlCol="0" anchor="t"/>
          <a:lstStyle/>
          <a:p>
            <a:pPr marL="0" indent="0" algn="ctr">
              <a:buNone/>
            </a:pPr>
            <a:r>
              <a:rPr lang="en-US" sz="1500" dirty="0">
                <a:solidFill>
                  <a:schemeClr val="tx2"/>
                </a:solidFill>
              </a:rPr>
              <a:t>Edge occupancy detection</a:t>
            </a:r>
            <a:endParaRPr lang="en-US" sz="1500" dirty="0"/>
          </a:p>
        </p:txBody>
      </p:sp>
      <p:sp>
        <p:nvSpPr>
          <p:cNvPr id="28" name="Edge banner"/>
          <p:cNvSpPr/>
          <p:nvPr/>
        </p:nvSpPr>
        <p:spPr>
          <a:xfrm>
            <a:off x="640080" y="5074920"/>
            <a:ext cx="10908792" cy="822960"/>
          </a:xfrm>
          <a:prstGeom prst="roundRect">
            <a:avLst>
              <a:gd name="adj" fmla="val 11111"/>
            </a:avLst>
          </a:prstGeom>
          <a:solidFill>
            <a:schemeClr val="tx1"/>
          </a:solidFill>
          <a:ln/>
        </p:spPr>
      </p:sp>
      <p:sp>
        <p:nvSpPr>
          <p:cNvPr id="29" name="Text 22"/>
          <p:cNvSpPr txBox="1"/>
          <p:nvPr/>
        </p:nvSpPr>
        <p:spPr>
          <a:xfrm>
            <a:off x="914400" y="5074920"/>
            <a:ext cx="10332720" cy="822960"/>
          </a:xfrm>
          <a:prstGeom prst="rect">
            <a:avLst/>
          </a:prstGeom>
          <a:noFill/>
          <a:ln/>
        </p:spPr>
        <p:txBody>
          <a:bodyPr wrap="square" lIns="0" tIns="0" rIns="0" bIns="0" rtlCol="0" anchor="ctr"/>
          <a:lstStyle/>
          <a:p>
            <a:pPr marL="0" indent="0">
              <a:buNone/>
            </a:pPr>
            <a:r>
              <a:rPr lang="en-US" sz="2200" b="1" dirty="0">
                <a:solidFill>
                  <a:schemeClr val="bg1"/>
                </a:solidFill>
              </a:rPr>
              <a:t>Edge inference reduces bandwidth and privacy exposure</a:t>
            </a:r>
            <a:endParaRPr lang="en-US" sz="2200" dirty="0"/>
          </a:p>
        </p:txBody>
      </p:sp>
      <p:sp>
        <p:nvSpPr>
          <p:cNvPr id="30"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4"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5" presetID="53" presetClass="entr" presetSubtype="16" fill="hold" grpId="0" nodeType="withEffect">
                                  <p:stCondLst>
                                    <p:cond delay="21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ppt_w</p:attrName>
                                        </p:attrNameLst>
                                      </p:cBhvr>
                                      <p:tavLst>
                                        <p:tav tm="0">
                                          <p:val>
                                            <p:fltVal val="0"/>
                                          </p:val>
                                        </p:tav>
                                        <p:tav tm="100000">
                                          <p:val>
                                            <p:strVal val="#ppt_w"/>
                                          </p:val>
                                        </p:tav>
                                      </p:tavLst>
                                    </p:anim>
                                    <p:anim calcmode="lin" valueType="num">
                                      <p:cBhvr additive="base">
                                        <p:cTn id="13" dur="550" fill="hold"/>
                                        <p:tgtEl>
                                          <p:spTgt spid="4"/>
                                        </p:tgtEl>
                                        <p:attrNameLst>
                                          <p:attrName>ppt_h</p:attrName>
                                        </p:attrNameLst>
                                      </p:cBhvr>
                                      <p:tavLst>
                                        <p:tav tm="0">
                                          <p:val>
                                            <p:fltVal val="0"/>
                                          </p:val>
                                        </p:tav>
                                        <p:tav tm="100000">
                                          <p:val>
                                            <p:strVal val="#ppt_h"/>
                                          </p:val>
                                        </p:tav>
                                      </p:tavLst>
                                    </p:anim>
                                    <p:animEffect transition="in" filter="fade">
                                      <p:cBhvr>
                                        <p:cTn id="14" dur="550"/>
                                        <p:tgtEl>
                                          <p:spTgt spid="4"/>
                                        </p:tgtEl>
                                      </p:cBhvr>
                                    </p:animEffect>
                                  </p:childTnLst>
                                </p:cTn>
                              </p:par>
                              <p:par>
                                <p:cTn id="20" presetID="53" presetClass="entr" presetSubtype="16" fill="hold" grpId="0" nodeType="withEffect">
                                  <p:stCondLst>
                                    <p:cond delay="21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3" presetID="10" presetClass="entr" presetSubtype="0" fill="hold" grpId="0" nodeType="withEffect">
                                  <p:stCondLst>
                                    <p:cond delay="2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childTnLst>
                                </p:cTn>
                              </p:par>
                              <p:par>
                                <p:cTn id="26" presetID="10" presetClass="entr" presetSubtype="0" fill="hold" grpId="0" nodeType="withEffect">
                                  <p:stCondLst>
                                    <p:cond delay="21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50"/>
                                        <p:tgtEl>
                                          <p:spTgt spid="7"/>
                                        </p:tgtEl>
                                      </p:cBhvr>
                                    </p:animEffect>
                                  </p:childTnLst>
                                </p:cTn>
                              </p:par>
                              <p:par>
                                <p:cTn id="30" presetID="2" presetClass="entr" presetSubtype="4" fill="hold" grpId="0" nodeType="withEffect">
                                  <p:stCondLst>
                                    <p:cond delay="30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50" fill="hold"/>
                                        <p:tgtEl>
                                          <p:spTgt spid="8"/>
                                        </p:tgtEl>
                                        <p:attrNameLst>
                                          <p:attrName>ppt_y</p:attrName>
                                        </p:attrNameLst>
                                      </p:cBhvr>
                                      <p:tavLst>
                                        <p:tav tm="0">
                                          <p:val>
                                            <p:strVal val="#ppt_y+0.07"/>
                                          </p:val>
                                        </p:tav>
                                        <p:tav tm="100000">
                                          <p:val>
                                            <p:strVal val="#ppt_y"/>
                                          </p:val>
                                        </p:tav>
                                      </p:tavLst>
                                    </p:anim>
                                    <p:animEffect transition="in" filter="fade">
                                      <p:cBhvr>
                                        <p:cTn id="29" dur="550"/>
                                        <p:tgtEl>
                                          <p:spTgt spid="8"/>
                                        </p:tgtEl>
                                      </p:cBhvr>
                                    </p:animEffect>
                                  </p:childTnLst>
                                </p:cTn>
                              </p:par>
                              <p:par>
                                <p:cTn id="35" presetID="53" presetClass="entr" presetSubtype="16" fill="hold" grpId="0" nodeType="withEffect">
                                  <p:stCondLst>
                                    <p:cond delay="36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50" fill="hold"/>
                                        <p:tgtEl>
                                          <p:spTgt spid="9"/>
                                        </p:tgtEl>
                                        <p:attrNameLst>
                                          <p:attrName>ppt_w</p:attrName>
                                        </p:attrNameLst>
                                      </p:cBhvr>
                                      <p:tavLst>
                                        <p:tav tm="0">
                                          <p:val>
                                            <p:fltVal val="0"/>
                                          </p:val>
                                        </p:tav>
                                        <p:tav tm="100000">
                                          <p:val>
                                            <p:strVal val="#ppt_w"/>
                                          </p:val>
                                        </p:tav>
                                      </p:tavLst>
                                    </p:anim>
                                    <p:anim calcmode="lin" valueType="num">
                                      <p:cBhvr additive="base">
                                        <p:cTn id="33" dur="550" fill="hold"/>
                                        <p:tgtEl>
                                          <p:spTgt spid="9"/>
                                        </p:tgtEl>
                                        <p:attrNameLst>
                                          <p:attrName>ppt_h</p:attrName>
                                        </p:attrNameLst>
                                      </p:cBhvr>
                                      <p:tavLst>
                                        <p:tav tm="0">
                                          <p:val>
                                            <p:fltVal val="0"/>
                                          </p:val>
                                        </p:tav>
                                        <p:tav tm="100000">
                                          <p:val>
                                            <p:strVal val="#ppt_h"/>
                                          </p:val>
                                        </p:tav>
                                      </p:tavLst>
                                    </p:anim>
                                    <p:animEffect transition="in" filter="fade">
                                      <p:cBhvr>
                                        <p:cTn id="34" dur="550"/>
                                        <p:tgtEl>
                                          <p:spTgt spid="9"/>
                                        </p:tgtEl>
                                      </p:cBhvr>
                                    </p:animEffect>
                                  </p:childTnLst>
                                </p:cTn>
                              </p:par>
                              <p:par>
                                <p:cTn id="40" presetID="53" presetClass="entr" presetSubtype="16" fill="hold" grpId="0" nodeType="withEffect">
                                  <p:stCondLst>
                                    <p:cond delay="36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50" fill="hold"/>
                                        <p:tgtEl>
                                          <p:spTgt spid="10"/>
                                        </p:tgtEl>
                                        <p:attrNameLst>
                                          <p:attrName>ppt_w</p:attrName>
                                        </p:attrNameLst>
                                      </p:cBhvr>
                                      <p:tavLst>
                                        <p:tav tm="0">
                                          <p:val>
                                            <p:fltVal val="0"/>
                                          </p:val>
                                        </p:tav>
                                        <p:tav tm="100000">
                                          <p:val>
                                            <p:strVal val="#ppt_w"/>
                                          </p:val>
                                        </p:tav>
                                      </p:tavLst>
                                    </p:anim>
                                    <p:anim calcmode="lin" valueType="num">
                                      <p:cBhvr additive="base">
                                        <p:cTn id="38" dur="550" fill="hold"/>
                                        <p:tgtEl>
                                          <p:spTgt spid="10"/>
                                        </p:tgtEl>
                                        <p:attrNameLst>
                                          <p:attrName>ppt_h</p:attrName>
                                        </p:attrNameLst>
                                      </p:cBhvr>
                                      <p:tavLst>
                                        <p:tav tm="0">
                                          <p:val>
                                            <p:fltVal val="0"/>
                                          </p:val>
                                        </p:tav>
                                        <p:tav tm="100000">
                                          <p:val>
                                            <p:strVal val="#ppt_h"/>
                                          </p:val>
                                        </p:tav>
                                      </p:tavLst>
                                    </p:anim>
                                    <p:animEffect transition="in" filter="fade">
                                      <p:cBhvr>
                                        <p:cTn id="39" dur="550"/>
                                        <p:tgtEl>
                                          <p:spTgt spid="10"/>
                                        </p:tgtEl>
                                      </p:cBhvr>
                                    </p:animEffect>
                                  </p:childTnLst>
                                </p:cTn>
                              </p:par>
                              <p:par>
                                <p:cTn id="43" presetID="10" presetClass="entr" presetSubtype="0" fill="hold" grpId="0" nodeType="withEffect">
                                  <p:stCondLst>
                                    <p:cond delay="36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childTnLst>
                                </p:cTn>
                              </p:par>
                              <p:par>
                                <p:cTn id="46" presetID="10" presetClass="entr" presetSubtype="0" fill="hold" grpId="0" nodeType="withEffect">
                                  <p:stCondLst>
                                    <p:cond delay="36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50"/>
                                        <p:tgtEl>
                                          <p:spTgt spid="12"/>
                                        </p:tgtEl>
                                      </p:cBhvr>
                                    </p:animEffect>
                                  </p:childTnLst>
                                </p:cTn>
                              </p:par>
                              <p:par>
                                <p:cTn id="50" presetID="2" presetClass="entr" presetSubtype="4" fill="hold" grpId="0" nodeType="withEffect">
                                  <p:stCondLst>
                                    <p:cond delay="45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50" fill="hold"/>
                                        <p:tgtEl>
                                          <p:spTgt spid="13"/>
                                        </p:tgtEl>
                                        <p:attrNameLst>
                                          <p:attrName>ppt_y</p:attrName>
                                        </p:attrNameLst>
                                      </p:cBhvr>
                                      <p:tavLst>
                                        <p:tav tm="0">
                                          <p:val>
                                            <p:strVal val="#ppt_y+0.07"/>
                                          </p:val>
                                        </p:tav>
                                        <p:tav tm="100000">
                                          <p:val>
                                            <p:strVal val="#ppt_y"/>
                                          </p:val>
                                        </p:tav>
                                      </p:tavLst>
                                    </p:anim>
                                    <p:animEffect transition="in" filter="fade">
                                      <p:cBhvr>
                                        <p:cTn id="49" dur="550"/>
                                        <p:tgtEl>
                                          <p:spTgt spid="13"/>
                                        </p:tgtEl>
                                      </p:cBhvr>
                                    </p:animEffect>
                                  </p:childTnLst>
                                </p:cTn>
                              </p:par>
                              <p:par>
                                <p:cTn id="55" presetID="53" presetClass="entr" presetSubtype="16" fill="hold" grpId="0" nodeType="withEffect">
                                  <p:stCondLst>
                                    <p:cond delay="51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50" fill="hold"/>
                                        <p:tgtEl>
                                          <p:spTgt spid="14"/>
                                        </p:tgtEl>
                                        <p:attrNameLst>
                                          <p:attrName>ppt_w</p:attrName>
                                        </p:attrNameLst>
                                      </p:cBhvr>
                                      <p:tavLst>
                                        <p:tav tm="0">
                                          <p:val>
                                            <p:fltVal val="0"/>
                                          </p:val>
                                        </p:tav>
                                        <p:tav tm="100000">
                                          <p:val>
                                            <p:strVal val="#ppt_w"/>
                                          </p:val>
                                        </p:tav>
                                      </p:tavLst>
                                    </p:anim>
                                    <p:anim calcmode="lin" valueType="num">
                                      <p:cBhvr additive="base">
                                        <p:cTn id="53" dur="550" fill="hold"/>
                                        <p:tgtEl>
                                          <p:spTgt spid="14"/>
                                        </p:tgtEl>
                                        <p:attrNameLst>
                                          <p:attrName>ppt_h</p:attrName>
                                        </p:attrNameLst>
                                      </p:cBhvr>
                                      <p:tavLst>
                                        <p:tav tm="0">
                                          <p:val>
                                            <p:fltVal val="0"/>
                                          </p:val>
                                        </p:tav>
                                        <p:tav tm="100000">
                                          <p:val>
                                            <p:strVal val="#ppt_h"/>
                                          </p:val>
                                        </p:tav>
                                      </p:tavLst>
                                    </p:anim>
                                    <p:animEffect transition="in" filter="fade">
                                      <p:cBhvr>
                                        <p:cTn id="54" dur="550"/>
                                        <p:tgtEl>
                                          <p:spTgt spid="14"/>
                                        </p:tgtEl>
                                      </p:cBhvr>
                                    </p:animEffect>
                                  </p:childTnLst>
                                </p:cTn>
                              </p:par>
                              <p:par>
                                <p:cTn id="60" presetID="53" presetClass="entr" presetSubtype="16" fill="hold" grpId="0" nodeType="withEffect">
                                  <p:stCondLst>
                                    <p:cond delay="51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50" fill="hold"/>
                                        <p:tgtEl>
                                          <p:spTgt spid="15"/>
                                        </p:tgtEl>
                                        <p:attrNameLst>
                                          <p:attrName>ppt_w</p:attrName>
                                        </p:attrNameLst>
                                      </p:cBhvr>
                                      <p:tavLst>
                                        <p:tav tm="0">
                                          <p:val>
                                            <p:fltVal val="0"/>
                                          </p:val>
                                        </p:tav>
                                        <p:tav tm="100000">
                                          <p:val>
                                            <p:strVal val="#ppt_w"/>
                                          </p:val>
                                        </p:tav>
                                      </p:tavLst>
                                    </p:anim>
                                    <p:anim calcmode="lin" valueType="num">
                                      <p:cBhvr additive="base">
                                        <p:cTn id="58" dur="550" fill="hold"/>
                                        <p:tgtEl>
                                          <p:spTgt spid="15"/>
                                        </p:tgtEl>
                                        <p:attrNameLst>
                                          <p:attrName>ppt_h</p:attrName>
                                        </p:attrNameLst>
                                      </p:cBhvr>
                                      <p:tavLst>
                                        <p:tav tm="0">
                                          <p:val>
                                            <p:fltVal val="0"/>
                                          </p:val>
                                        </p:tav>
                                        <p:tav tm="100000">
                                          <p:val>
                                            <p:strVal val="#ppt_h"/>
                                          </p:val>
                                        </p:tav>
                                      </p:tavLst>
                                    </p:anim>
                                    <p:animEffect transition="in" filter="fade">
                                      <p:cBhvr>
                                        <p:cTn id="59" dur="550"/>
                                        <p:tgtEl>
                                          <p:spTgt spid="15"/>
                                        </p:tgtEl>
                                      </p:cBhvr>
                                    </p:animEffect>
                                  </p:childTnLst>
                                </p:cTn>
                              </p:par>
                              <p:par>
                                <p:cTn id="63" presetID="10" presetClass="entr" presetSubtype="0" fill="hold" grpId="0" nodeType="withEffect">
                                  <p:stCondLst>
                                    <p:cond delay="51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50"/>
                                        <p:tgtEl>
                                          <p:spTgt spid="16"/>
                                        </p:tgtEl>
                                      </p:cBhvr>
                                    </p:animEffect>
                                  </p:childTnLst>
                                </p:cTn>
                              </p:par>
                              <p:par>
                                <p:cTn id="66" presetID="10" presetClass="entr" presetSubtype="0" fill="hold" grpId="0" nodeType="withEffect">
                                  <p:stCondLst>
                                    <p:cond delay="51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50"/>
                                        <p:tgtEl>
                                          <p:spTgt spid="17"/>
                                        </p:tgtEl>
                                      </p:cBhvr>
                                    </p:animEffect>
                                  </p:childTnLst>
                                </p:cTn>
                              </p:par>
                              <p:par>
                                <p:cTn id="70" presetID="2" presetClass="entr" presetSubtype="4" fill="hold" grpId="0" nodeType="withEffect">
                                  <p:stCondLst>
                                    <p:cond delay="60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550" fill="hold"/>
                                        <p:tgtEl>
                                          <p:spTgt spid="18"/>
                                        </p:tgtEl>
                                        <p:attrNameLst>
                                          <p:attrName>ppt_y</p:attrName>
                                        </p:attrNameLst>
                                      </p:cBhvr>
                                      <p:tavLst>
                                        <p:tav tm="0">
                                          <p:val>
                                            <p:strVal val="#ppt_y+0.07"/>
                                          </p:val>
                                        </p:tav>
                                        <p:tav tm="100000">
                                          <p:val>
                                            <p:strVal val="#ppt_y"/>
                                          </p:val>
                                        </p:tav>
                                      </p:tavLst>
                                    </p:anim>
                                    <p:animEffect transition="in" filter="fade">
                                      <p:cBhvr>
                                        <p:cTn id="69" dur="550"/>
                                        <p:tgtEl>
                                          <p:spTgt spid="18"/>
                                        </p:tgtEl>
                                      </p:cBhvr>
                                    </p:animEffect>
                                  </p:childTnLst>
                                </p:cTn>
                              </p:par>
                              <p:par>
                                <p:cTn id="75" presetID="53" presetClass="entr" presetSubtype="16" fill="hold" grpId="0" nodeType="withEffect">
                                  <p:stCondLst>
                                    <p:cond delay="66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550" fill="hold"/>
                                        <p:tgtEl>
                                          <p:spTgt spid="19"/>
                                        </p:tgtEl>
                                        <p:attrNameLst>
                                          <p:attrName>ppt_w</p:attrName>
                                        </p:attrNameLst>
                                      </p:cBhvr>
                                      <p:tavLst>
                                        <p:tav tm="0">
                                          <p:val>
                                            <p:fltVal val="0"/>
                                          </p:val>
                                        </p:tav>
                                        <p:tav tm="100000">
                                          <p:val>
                                            <p:strVal val="#ppt_w"/>
                                          </p:val>
                                        </p:tav>
                                      </p:tavLst>
                                    </p:anim>
                                    <p:anim calcmode="lin" valueType="num">
                                      <p:cBhvr additive="base">
                                        <p:cTn id="73" dur="550" fill="hold"/>
                                        <p:tgtEl>
                                          <p:spTgt spid="19"/>
                                        </p:tgtEl>
                                        <p:attrNameLst>
                                          <p:attrName>ppt_h</p:attrName>
                                        </p:attrNameLst>
                                      </p:cBhvr>
                                      <p:tavLst>
                                        <p:tav tm="0">
                                          <p:val>
                                            <p:fltVal val="0"/>
                                          </p:val>
                                        </p:tav>
                                        <p:tav tm="100000">
                                          <p:val>
                                            <p:strVal val="#ppt_h"/>
                                          </p:val>
                                        </p:tav>
                                      </p:tavLst>
                                    </p:anim>
                                    <p:animEffect transition="in" filter="fade">
                                      <p:cBhvr>
                                        <p:cTn id="74" dur="550"/>
                                        <p:tgtEl>
                                          <p:spTgt spid="19"/>
                                        </p:tgtEl>
                                      </p:cBhvr>
                                    </p:animEffect>
                                  </p:childTnLst>
                                </p:cTn>
                              </p:par>
                              <p:par>
                                <p:cTn id="80" presetID="53" presetClass="entr" presetSubtype="16" fill="hold" grpId="0" nodeType="withEffect">
                                  <p:stCondLst>
                                    <p:cond delay="66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50" fill="hold"/>
                                        <p:tgtEl>
                                          <p:spTgt spid="20"/>
                                        </p:tgtEl>
                                        <p:attrNameLst>
                                          <p:attrName>ppt_w</p:attrName>
                                        </p:attrNameLst>
                                      </p:cBhvr>
                                      <p:tavLst>
                                        <p:tav tm="0">
                                          <p:val>
                                            <p:fltVal val="0"/>
                                          </p:val>
                                        </p:tav>
                                        <p:tav tm="100000">
                                          <p:val>
                                            <p:strVal val="#ppt_w"/>
                                          </p:val>
                                        </p:tav>
                                      </p:tavLst>
                                    </p:anim>
                                    <p:anim calcmode="lin" valueType="num">
                                      <p:cBhvr additive="base">
                                        <p:cTn id="78" dur="550" fill="hold"/>
                                        <p:tgtEl>
                                          <p:spTgt spid="20"/>
                                        </p:tgtEl>
                                        <p:attrNameLst>
                                          <p:attrName>ppt_h</p:attrName>
                                        </p:attrNameLst>
                                      </p:cBhvr>
                                      <p:tavLst>
                                        <p:tav tm="0">
                                          <p:val>
                                            <p:fltVal val="0"/>
                                          </p:val>
                                        </p:tav>
                                        <p:tav tm="100000">
                                          <p:val>
                                            <p:strVal val="#ppt_h"/>
                                          </p:val>
                                        </p:tav>
                                      </p:tavLst>
                                    </p:anim>
                                    <p:animEffect transition="in" filter="fade">
                                      <p:cBhvr>
                                        <p:cTn id="79" dur="550"/>
                                        <p:tgtEl>
                                          <p:spTgt spid="20"/>
                                        </p:tgtEl>
                                      </p:cBhvr>
                                    </p:animEffect>
                                  </p:childTnLst>
                                </p:cTn>
                              </p:par>
                              <p:par>
                                <p:cTn id="83" presetID="10" presetClass="entr" presetSubtype="0" fill="hold" grpId="0" nodeType="withEffect">
                                  <p:stCondLst>
                                    <p:cond delay="66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childTnLst>
                                </p:cTn>
                              </p:par>
                              <p:par>
                                <p:cTn id="86" presetID="10" presetClass="entr" presetSubtype="0" fill="hold" grpId="0" nodeType="withEffect">
                                  <p:stCondLst>
                                    <p:cond delay="66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50"/>
                                        <p:tgtEl>
                                          <p:spTgt spid="22"/>
                                        </p:tgtEl>
                                      </p:cBhvr>
                                    </p:animEffect>
                                  </p:childTnLst>
                                </p:cTn>
                              </p:par>
                              <p:par>
                                <p:cTn id="90" presetID="2" presetClass="entr" presetSubtype="4" fill="hold" grpId="0" nodeType="withEffect">
                                  <p:stCondLst>
                                    <p:cond delay="750"/>
                                  </p:stCondLst>
                                  <p:childTnLst>
                                    <p:set>
                                      <p:cBhvr>
                                        <p:cTn id="87" dur="1" fill="hold">
                                          <p:stCondLst>
                                            <p:cond delay="0"/>
                                          </p:stCondLst>
                                        </p:cTn>
                                        <p:tgtEl>
                                          <p:spTgt spid="23"/>
                                        </p:tgtEl>
                                        <p:attrNameLst>
                                          <p:attrName>style.visibility</p:attrName>
                                        </p:attrNameLst>
                                      </p:cBhvr>
                                      <p:to>
                                        <p:strVal val="visible"/>
                                      </p:to>
                                    </p:set>
                                    <p:anim calcmode="lin" valueType="num">
                                      <p:cBhvr additive="base">
                                        <p:cTn id="88" dur="550" fill="hold"/>
                                        <p:tgtEl>
                                          <p:spTgt spid="23"/>
                                        </p:tgtEl>
                                        <p:attrNameLst>
                                          <p:attrName>ppt_y</p:attrName>
                                        </p:attrNameLst>
                                      </p:cBhvr>
                                      <p:tavLst>
                                        <p:tav tm="0">
                                          <p:val>
                                            <p:strVal val="#ppt_y+0.07"/>
                                          </p:val>
                                        </p:tav>
                                        <p:tav tm="100000">
                                          <p:val>
                                            <p:strVal val="#ppt_y"/>
                                          </p:val>
                                        </p:tav>
                                      </p:tavLst>
                                    </p:anim>
                                    <p:animEffect transition="in" filter="fade">
                                      <p:cBhvr>
                                        <p:cTn id="89" dur="550"/>
                                        <p:tgtEl>
                                          <p:spTgt spid="23"/>
                                        </p:tgtEl>
                                      </p:cBhvr>
                                    </p:animEffect>
                                  </p:childTnLst>
                                </p:cTn>
                              </p:par>
                              <p:par>
                                <p:cTn id="95" presetID="53" presetClass="entr" presetSubtype="16" fill="hold" grpId="0" nodeType="withEffect">
                                  <p:stCondLst>
                                    <p:cond delay="810"/>
                                  </p:stCondLst>
                                  <p:childTnLst>
                                    <p:set>
                                      <p:cBhvr>
                                        <p:cTn id="91" dur="1" fill="hold">
                                          <p:stCondLst>
                                            <p:cond delay="0"/>
                                          </p:stCondLst>
                                        </p:cTn>
                                        <p:tgtEl>
                                          <p:spTgt spid="24"/>
                                        </p:tgtEl>
                                        <p:attrNameLst>
                                          <p:attrName>style.visibility</p:attrName>
                                        </p:attrNameLst>
                                      </p:cBhvr>
                                      <p:to>
                                        <p:strVal val="visible"/>
                                      </p:to>
                                    </p:set>
                                    <p:anim calcmode="lin" valueType="num">
                                      <p:cBhvr additive="base">
                                        <p:cTn id="92" dur="550" fill="hold"/>
                                        <p:tgtEl>
                                          <p:spTgt spid="24"/>
                                        </p:tgtEl>
                                        <p:attrNameLst>
                                          <p:attrName>ppt_w</p:attrName>
                                        </p:attrNameLst>
                                      </p:cBhvr>
                                      <p:tavLst>
                                        <p:tav tm="0">
                                          <p:val>
                                            <p:fltVal val="0"/>
                                          </p:val>
                                        </p:tav>
                                        <p:tav tm="100000">
                                          <p:val>
                                            <p:strVal val="#ppt_w"/>
                                          </p:val>
                                        </p:tav>
                                      </p:tavLst>
                                    </p:anim>
                                    <p:anim calcmode="lin" valueType="num">
                                      <p:cBhvr additive="base">
                                        <p:cTn id="93" dur="550" fill="hold"/>
                                        <p:tgtEl>
                                          <p:spTgt spid="24"/>
                                        </p:tgtEl>
                                        <p:attrNameLst>
                                          <p:attrName>ppt_h</p:attrName>
                                        </p:attrNameLst>
                                      </p:cBhvr>
                                      <p:tavLst>
                                        <p:tav tm="0">
                                          <p:val>
                                            <p:fltVal val="0"/>
                                          </p:val>
                                        </p:tav>
                                        <p:tav tm="100000">
                                          <p:val>
                                            <p:strVal val="#ppt_h"/>
                                          </p:val>
                                        </p:tav>
                                      </p:tavLst>
                                    </p:anim>
                                    <p:animEffect transition="in" filter="fade">
                                      <p:cBhvr>
                                        <p:cTn id="94" dur="550"/>
                                        <p:tgtEl>
                                          <p:spTgt spid="24"/>
                                        </p:tgtEl>
                                      </p:cBhvr>
                                    </p:animEffect>
                                  </p:childTnLst>
                                </p:cTn>
                              </p:par>
                              <p:par>
                                <p:cTn id="100" presetID="53" presetClass="entr" presetSubtype="16" fill="hold" grpId="0" nodeType="withEffect">
                                  <p:stCondLst>
                                    <p:cond delay="810"/>
                                  </p:stCondLst>
                                  <p:childTnLst>
                                    <p:set>
                                      <p:cBhvr>
                                        <p:cTn id="96" dur="1" fill="hold">
                                          <p:stCondLst>
                                            <p:cond delay="0"/>
                                          </p:stCondLst>
                                        </p:cTn>
                                        <p:tgtEl>
                                          <p:spTgt spid="25"/>
                                        </p:tgtEl>
                                        <p:attrNameLst>
                                          <p:attrName>style.visibility</p:attrName>
                                        </p:attrNameLst>
                                      </p:cBhvr>
                                      <p:to>
                                        <p:strVal val="visible"/>
                                      </p:to>
                                    </p:set>
                                    <p:anim calcmode="lin" valueType="num">
                                      <p:cBhvr additive="base">
                                        <p:cTn id="97" dur="550" fill="hold"/>
                                        <p:tgtEl>
                                          <p:spTgt spid="25"/>
                                        </p:tgtEl>
                                        <p:attrNameLst>
                                          <p:attrName>ppt_w</p:attrName>
                                        </p:attrNameLst>
                                      </p:cBhvr>
                                      <p:tavLst>
                                        <p:tav tm="0">
                                          <p:val>
                                            <p:fltVal val="0"/>
                                          </p:val>
                                        </p:tav>
                                        <p:tav tm="100000">
                                          <p:val>
                                            <p:strVal val="#ppt_w"/>
                                          </p:val>
                                        </p:tav>
                                      </p:tavLst>
                                    </p:anim>
                                    <p:anim calcmode="lin" valueType="num">
                                      <p:cBhvr additive="base">
                                        <p:cTn id="98" dur="550" fill="hold"/>
                                        <p:tgtEl>
                                          <p:spTgt spid="25"/>
                                        </p:tgtEl>
                                        <p:attrNameLst>
                                          <p:attrName>ppt_h</p:attrName>
                                        </p:attrNameLst>
                                      </p:cBhvr>
                                      <p:tavLst>
                                        <p:tav tm="0">
                                          <p:val>
                                            <p:fltVal val="0"/>
                                          </p:val>
                                        </p:tav>
                                        <p:tav tm="100000">
                                          <p:val>
                                            <p:strVal val="#ppt_h"/>
                                          </p:val>
                                        </p:tav>
                                      </p:tavLst>
                                    </p:anim>
                                    <p:animEffect transition="in" filter="fade">
                                      <p:cBhvr>
                                        <p:cTn id="99" dur="550"/>
                                        <p:tgtEl>
                                          <p:spTgt spid="25"/>
                                        </p:tgtEl>
                                      </p:cBhvr>
                                    </p:animEffect>
                                  </p:childTnLst>
                                </p:cTn>
                              </p:par>
                              <p:par>
                                <p:cTn id="103" presetID="10" presetClass="entr" presetSubtype="0" fill="hold" grpId="0" nodeType="withEffect">
                                  <p:stCondLst>
                                    <p:cond delay="81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50"/>
                                        <p:tgtEl>
                                          <p:spTgt spid="26"/>
                                        </p:tgtEl>
                                      </p:cBhvr>
                                    </p:animEffect>
                                  </p:childTnLst>
                                </p:cTn>
                              </p:par>
                              <p:par>
                                <p:cTn id="106" presetID="10" presetClass="entr" presetSubtype="0" fill="hold" grpId="0" nodeType="withEffect">
                                  <p:stCondLst>
                                    <p:cond delay="81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5" dur="550"/>
                                        <p:tgtEl>
                                          <p:spTgt spid="27"/>
                                        </p:tgtEl>
                                      </p:cBhvr>
                                    </p:animEffect>
                                  </p:childTnLst>
                                </p:cTn>
                              </p:par>
                              <p:par>
                                <p:cTn id="110" presetID="2" presetClass="entr" presetSubtype="4" fill="hold" grpId="0" nodeType="withEffect">
                                  <p:stCondLst>
                                    <p:cond delay="900"/>
                                  </p:stCondLst>
                                  <p:childTnLst>
                                    <p:set>
                                      <p:cBhvr>
                                        <p:cTn id="107" dur="1" fill="hold">
                                          <p:stCondLst>
                                            <p:cond delay="0"/>
                                          </p:stCondLst>
                                        </p:cTn>
                                        <p:tgtEl>
                                          <p:spTgt spid="28"/>
                                        </p:tgtEl>
                                        <p:attrNameLst>
                                          <p:attrName>style.visibility</p:attrName>
                                        </p:attrNameLst>
                                      </p:cBhvr>
                                      <p:to>
                                        <p:strVal val="visible"/>
                                      </p:to>
                                    </p:set>
                                    <p:anim calcmode="lin" valueType="num">
                                      <p:cBhvr additive="base">
                                        <p:cTn id="108" dur="550" fill="hold"/>
                                        <p:tgtEl>
                                          <p:spTgt spid="28"/>
                                        </p:tgtEl>
                                        <p:attrNameLst>
                                          <p:attrName>ppt_y</p:attrName>
                                        </p:attrNameLst>
                                      </p:cBhvr>
                                      <p:tavLst>
                                        <p:tav tm="0">
                                          <p:val>
                                            <p:strVal val="#ppt_y+0.07"/>
                                          </p:val>
                                        </p:tav>
                                        <p:tav tm="100000">
                                          <p:val>
                                            <p:strVal val="#ppt_y"/>
                                          </p:val>
                                        </p:tav>
                                      </p:tavLst>
                                    </p:anim>
                                    <p:animEffect transition="in" filter="fade">
                                      <p:cBhvr>
                                        <p:cTn id="109" dur="550"/>
                                        <p:tgtEl>
                                          <p:spTgt spid="28"/>
                                        </p:tgtEl>
                                      </p:cBhvr>
                                    </p:animEffect>
                                  </p:childTnLst>
                                </p:cTn>
                              </p:par>
                              <p:par>
                                <p:cTn id="113" presetID="10" presetClass="entr" presetSubtype="0" fill="hold" grpId="0" nodeType="withEffect">
                                  <p:stCondLst>
                                    <p:cond delay="96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5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900" name="Background art" descr="Decorative illustration"/>
          <p:cNvPicPr>
            <a:picLocks noChangeAspect="1"/>
          </p:cNvPicPr>
          <p:nvPr/>
        </p:nvPicPr>
        <p:blipFill>
          <a:blip r:embed="rId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bg1"/>
                </a:solidFill>
              </a:rPr>
              <a:t>Demo preview</a:t>
            </a:r>
            <a:endParaRPr lang="en-US" sz="3600" dirty="0"/>
          </a:p>
        </p:txBody>
      </p:sp>
      <p:sp>
        <p:nvSpPr>
          <p:cNvPr id="3" name="Text 1"/>
          <p:cNvSpPr txBox="1"/>
          <p:nvPr/>
        </p:nvSpPr>
        <p:spPr>
          <a:xfrm>
            <a:off x="640080" y="1280160"/>
            <a:ext cx="10908792" cy="320040"/>
          </a:xfrm>
          <a:prstGeom prst="rect">
            <a:avLst/>
          </a:prstGeom>
          <a:noFill/>
          <a:ln/>
        </p:spPr>
        <p:txBody>
          <a:bodyPr wrap="square" lIns="0" tIns="0" rIns="0" bIns="0" rtlCol="0" anchor="ctr"/>
          <a:lstStyle/>
          <a:p>
            <a:pPr marL="0" indent="0">
              <a:buNone/>
            </a:pPr>
            <a:r>
              <a:rPr lang="en-US" sz="1300" dirty="0">
                <a:solidFill>
                  <a:schemeClr val="accent5"/>
                </a:solidFill>
              </a:rPr>
              <a:t>Illustrative UI concepts: swap in live demo or screenshots</a:t>
            </a:r>
            <a:endParaRPr lang="en-US" sz="1300" dirty="0"/>
          </a:p>
        </p:txBody>
      </p:sp>
      <p:sp>
        <p:nvSpPr>
          <p:cNvPr id="4" name="Live HVAC control phone"/>
          <p:cNvSpPr/>
          <p:nvPr/>
        </p:nvSpPr>
        <p:spPr>
          <a:xfrm>
            <a:off x="1737360" y="1783080"/>
            <a:ext cx="2194560" cy="4023360"/>
          </a:xfrm>
          <a:prstGeom prst="roundRect">
            <a:avLst>
              <a:gd name="adj" fmla="val 10417"/>
            </a:avLst>
          </a:prstGeom>
          <a:solidFill>
            <a:schemeClr val="tx2"/>
          </a:solidFill>
          <a:ln w="25400">
            <a:solidFill>
              <a:schemeClr val="accent1"/>
            </a:solidFill>
            <a:prstDash val="solid"/>
          </a:ln>
        </p:spPr>
      </p:sp>
      <p:sp>
        <p:nvSpPr>
          <p:cNvPr id="5" name="Live HVAC control screen"/>
          <p:cNvSpPr/>
          <p:nvPr/>
        </p:nvSpPr>
        <p:spPr>
          <a:xfrm>
            <a:off x="1847088" y="1892808"/>
            <a:ext cx="1975104" cy="3803904"/>
          </a:xfrm>
          <a:prstGeom prst="roundRect">
            <a:avLst>
              <a:gd name="adj" fmla="val 8333"/>
            </a:avLst>
          </a:prstGeom>
          <a:solidFill>
            <a:schemeClr val="tx1"/>
          </a:solidFill>
          <a:ln/>
        </p:spPr>
      </p:sp>
      <p:sp>
        <p:nvSpPr>
          <p:cNvPr id="6" name="Text 4"/>
          <p:cNvSpPr txBox="1"/>
          <p:nvPr/>
        </p:nvSpPr>
        <p:spPr>
          <a:xfrm>
            <a:off x="1737360" y="5897880"/>
            <a:ext cx="2194560" cy="365760"/>
          </a:xfrm>
          <a:prstGeom prst="rect">
            <a:avLst/>
          </a:prstGeom>
          <a:noFill/>
          <a:ln/>
        </p:spPr>
        <p:txBody>
          <a:bodyPr wrap="square" lIns="0" tIns="0" rIns="0" bIns="0" rtlCol="0" anchor="ctr"/>
          <a:lstStyle/>
          <a:p>
            <a:pPr marL="0" indent="0" algn="ctr">
              <a:buNone/>
            </a:pPr>
            <a:r>
              <a:rPr lang="en-US" sz="1600" b="1" dirty="0">
                <a:solidFill>
                  <a:schemeClr val="bg1"/>
                </a:solidFill>
              </a:rPr>
              <a:t>Live HVAC control</a:t>
            </a:r>
            <a:endParaRPr lang="en-US" sz="1600" dirty="0"/>
          </a:p>
        </p:txBody>
      </p:sp>
      <p:sp>
        <p:nvSpPr>
          <p:cNvPr id="7" name="Smart waste router phone"/>
          <p:cNvSpPr/>
          <p:nvPr/>
        </p:nvSpPr>
        <p:spPr>
          <a:xfrm>
            <a:off x="5001768" y="1783080"/>
            <a:ext cx="2194560" cy="4023360"/>
          </a:xfrm>
          <a:prstGeom prst="roundRect">
            <a:avLst>
              <a:gd name="adj" fmla="val 10417"/>
            </a:avLst>
          </a:prstGeom>
          <a:solidFill>
            <a:schemeClr val="tx2"/>
          </a:solidFill>
          <a:ln w="25400">
            <a:solidFill>
              <a:schemeClr val="accent1"/>
            </a:solidFill>
            <a:prstDash val="solid"/>
          </a:ln>
        </p:spPr>
      </p:sp>
      <p:sp>
        <p:nvSpPr>
          <p:cNvPr id="8" name="Smart waste router screen"/>
          <p:cNvSpPr/>
          <p:nvPr/>
        </p:nvSpPr>
        <p:spPr>
          <a:xfrm>
            <a:off x="5111496" y="1892808"/>
            <a:ext cx="1975104" cy="3803904"/>
          </a:xfrm>
          <a:prstGeom prst="roundRect">
            <a:avLst>
              <a:gd name="adj" fmla="val 8333"/>
            </a:avLst>
          </a:prstGeom>
          <a:solidFill>
            <a:schemeClr val="tx1"/>
          </a:solidFill>
          <a:ln/>
        </p:spPr>
      </p:sp>
      <p:sp>
        <p:nvSpPr>
          <p:cNvPr id="9" name="Text 7"/>
          <p:cNvSpPr txBox="1"/>
          <p:nvPr/>
        </p:nvSpPr>
        <p:spPr>
          <a:xfrm>
            <a:off x="5001768" y="5897880"/>
            <a:ext cx="2194560" cy="365760"/>
          </a:xfrm>
          <a:prstGeom prst="rect">
            <a:avLst/>
          </a:prstGeom>
          <a:noFill/>
          <a:ln/>
        </p:spPr>
        <p:txBody>
          <a:bodyPr wrap="square" lIns="0" tIns="0" rIns="0" bIns="0" rtlCol="0" anchor="ctr"/>
          <a:lstStyle/>
          <a:p>
            <a:pPr marL="0" indent="0" algn="ctr">
              <a:buNone/>
            </a:pPr>
            <a:r>
              <a:rPr lang="en-US" sz="1600" b="1" dirty="0">
                <a:solidFill>
                  <a:schemeClr val="bg1"/>
                </a:solidFill>
              </a:rPr>
              <a:t>Smart waste router</a:t>
            </a:r>
            <a:endParaRPr lang="en-US" sz="1600" dirty="0"/>
          </a:p>
        </p:txBody>
      </p:sp>
      <p:sp>
        <p:nvSpPr>
          <p:cNvPr id="10" name="Student leaderboard phone"/>
          <p:cNvSpPr/>
          <p:nvPr/>
        </p:nvSpPr>
        <p:spPr>
          <a:xfrm>
            <a:off x="8257032" y="1783080"/>
            <a:ext cx="2194560" cy="4023360"/>
          </a:xfrm>
          <a:prstGeom prst="roundRect">
            <a:avLst>
              <a:gd name="adj" fmla="val 10417"/>
            </a:avLst>
          </a:prstGeom>
          <a:solidFill>
            <a:schemeClr val="tx2"/>
          </a:solidFill>
          <a:ln w="25400">
            <a:solidFill>
              <a:schemeClr val="accent1"/>
            </a:solidFill>
            <a:prstDash val="solid"/>
          </a:ln>
        </p:spPr>
      </p:sp>
      <p:sp>
        <p:nvSpPr>
          <p:cNvPr id="11" name="Student leaderboard screen"/>
          <p:cNvSpPr/>
          <p:nvPr/>
        </p:nvSpPr>
        <p:spPr>
          <a:xfrm>
            <a:off x="8366760" y="1892808"/>
            <a:ext cx="1975104" cy="3803904"/>
          </a:xfrm>
          <a:prstGeom prst="roundRect">
            <a:avLst>
              <a:gd name="adj" fmla="val 8333"/>
            </a:avLst>
          </a:prstGeom>
          <a:solidFill>
            <a:schemeClr val="tx1"/>
          </a:solidFill>
          <a:ln/>
        </p:spPr>
      </p:sp>
      <p:sp>
        <p:nvSpPr>
          <p:cNvPr id="12" name="Text 10"/>
          <p:cNvSpPr txBox="1"/>
          <p:nvPr/>
        </p:nvSpPr>
        <p:spPr>
          <a:xfrm>
            <a:off x="8257032" y="5897880"/>
            <a:ext cx="2194560" cy="365760"/>
          </a:xfrm>
          <a:prstGeom prst="rect">
            <a:avLst/>
          </a:prstGeom>
          <a:noFill/>
          <a:ln/>
        </p:spPr>
        <p:txBody>
          <a:bodyPr wrap="square" lIns="0" tIns="0" rIns="0" bIns="0" rtlCol="0" anchor="ctr"/>
          <a:lstStyle/>
          <a:p>
            <a:pPr marL="0" indent="0" algn="ctr">
              <a:buNone/>
            </a:pPr>
            <a:r>
              <a:rPr lang="en-US" sz="1600" b="1" dirty="0">
                <a:solidFill>
                  <a:schemeClr val="bg1"/>
                </a:solidFill>
              </a:rPr>
              <a:t>Student leaderboard</a:t>
            </a:r>
            <a:endParaRPr lang="en-US" sz="1600" dirty="0"/>
          </a:p>
        </p:txBody>
      </p:sp>
      <p:sp>
        <p:nvSpPr>
          <p:cNvPr id="13" name="Text 11"/>
          <p:cNvSpPr txBox="1"/>
          <p:nvPr/>
        </p:nvSpPr>
        <p:spPr>
          <a:xfrm>
            <a:off x="1920240" y="2011680"/>
            <a:ext cx="1828800" cy="274320"/>
          </a:xfrm>
          <a:prstGeom prst="rect">
            <a:avLst/>
          </a:prstGeom>
          <a:noFill/>
          <a:ln/>
        </p:spPr>
        <p:txBody>
          <a:bodyPr wrap="square" lIns="0" tIns="0" rIns="0" bIns="0" rtlCol="0" anchor="ctr"/>
          <a:lstStyle/>
          <a:p>
            <a:pPr marL="0" indent="0">
              <a:buNone/>
            </a:pPr>
            <a:r>
              <a:rPr lang="en-US" sz="1200" b="1" dirty="0">
                <a:solidFill>
                  <a:schemeClr val="accent2"/>
                </a:solidFill>
              </a:rPr>
              <a:t>Building B  |  Live</a:t>
            </a:r>
            <a:endParaRPr lang="en-US" sz="1200" dirty="0"/>
          </a:p>
        </p:txBody>
      </p:sp>
      <p:sp>
        <p:nvSpPr>
          <p:cNvPr id="14" name="Room row 1"/>
          <p:cNvSpPr/>
          <p:nvPr/>
        </p:nvSpPr>
        <p:spPr>
          <a:xfrm>
            <a:off x="1920240" y="2468880"/>
            <a:ext cx="1828800" cy="822960"/>
          </a:xfrm>
          <a:prstGeom prst="roundRect">
            <a:avLst>
              <a:gd name="adj" fmla="val 8889"/>
            </a:avLst>
          </a:prstGeom>
          <a:solidFill>
            <a:schemeClr val="tx2"/>
          </a:solidFill>
          <a:ln/>
        </p:spPr>
      </p:sp>
      <p:sp>
        <p:nvSpPr>
          <p:cNvPr id="15" name="Status dot 1"/>
          <p:cNvSpPr/>
          <p:nvPr/>
        </p:nvSpPr>
        <p:spPr>
          <a:xfrm>
            <a:off x="2029968" y="2624328"/>
            <a:ext cx="164592" cy="164592"/>
          </a:xfrm>
          <a:prstGeom prst="ellipse">
            <a:avLst/>
          </a:prstGeom>
          <a:solidFill>
            <a:schemeClr val="accent3"/>
          </a:solidFill>
          <a:ln/>
        </p:spPr>
      </p:sp>
      <p:sp>
        <p:nvSpPr>
          <p:cNvPr id="16" name="Text 14"/>
          <p:cNvSpPr txBox="1"/>
          <p:nvPr/>
        </p:nvSpPr>
        <p:spPr>
          <a:xfrm>
            <a:off x="2286000" y="2514600"/>
            <a:ext cx="1417320" cy="731520"/>
          </a:xfrm>
          <a:prstGeom prst="rect">
            <a:avLst/>
          </a:prstGeom>
          <a:noFill/>
          <a:ln/>
        </p:spPr>
        <p:txBody>
          <a:bodyPr wrap="square" lIns="0" tIns="0" rIns="0" bIns="0" rtlCol="0" anchor="ctr"/>
          <a:lstStyle/>
          <a:p>
            <a:pPr marL="0" indent="0">
              <a:buNone/>
            </a:pPr>
            <a:r>
              <a:rPr lang="en-US" sz="1200" dirty="0">
                <a:solidFill>
                  <a:schemeClr val="bg1"/>
                </a:solidFill>
              </a:rPr>
              <a:t>Lab 2: 24 people</a:t>
            </a:r>
            <a:endParaRPr lang="en-US" sz="1200" dirty="0"/>
          </a:p>
        </p:txBody>
      </p:sp>
      <p:sp>
        <p:nvSpPr>
          <p:cNvPr id="17" name="Room row 2"/>
          <p:cNvSpPr/>
          <p:nvPr/>
        </p:nvSpPr>
        <p:spPr>
          <a:xfrm>
            <a:off x="1920240" y="3474720"/>
            <a:ext cx="1828800" cy="822960"/>
          </a:xfrm>
          <a:prstGeom prst="roundRect">
            <a:avLst>
              <a:gd name="adj" fmla="val 8889"/>
            </a:avLst>
          </a:prstGeom>
          <a:solidFill>
            <a:schemeClr val="tx2"/>
          </a:solidFill>
          <a:ln/>
        </p:spPr>
      </p:sp>
      <p:sp>
        <p:nvSpPr>
          <p:cNvPr id="18" name="Status dot 2"/>
          <p:cNvSpPr/>
          <p:nvPr/>
        </p:nvSpPr>
        <p:spPr>
          <a:xfrm>
            <a:off x="2029968" y="3630168"/>
            <a:ext cx="164592" cy="164592"/>
          </a:xfrm>
          <a:prstGeom prst="ellipse">
            <a:avLst/>
          </a:prstGeom>
          <a:solidFill>
            <a:schemeClr val="accent4"/>
          </a:solidFill>
          <a:ln/>
        </p:spPr>
      </p:sp>
      <p:sp>
        <p:nvSpPr>
          <p:cNvPr id="19" name="Text 17"/>
          <p:cNvSpPr txBox="1"/>
          <p:nvPr/>
        </p:nvSpPr>
        <p:spPr>
          <a:xfrm>
            <a:off x="2286000" y="3520440"/>
            <a:ext cx="1417320" cy="731520"/>
          </a:xfrm>
          <a:prstGeom prst="rect">
            <a:avLst/>
          </a:prstGeom>
          <a:noFill/>
          <a:ln/>
        </p:spPr>
        <p:txBody>
          <a:bodyPr wrap="square" lIns="0" tIns="0" rIns="0" bIns="0" rtlCol="0" anchor="ctr"/>
          <a:lstStyle/>
          <a:p>
            <a:pPr marL="0" indent="0">
              <a:buNone/>
            </a:pPr>
            <a:r>
              <a:rPr lang="en-US" sz="1200" dirty="0">
                <a:solidFill>
                  <a:schemeClr val="bg1"/>
                </a:solidFill>
              </a:rPr>
              <a:t>Lecture 1: empty, AC off</a:t>
            </a:r>
            <a:endParaRPr lang="en-US" sz="1200" dirty="0"/>
          </a:p>
        </p:txBody>
      </p:sp>
      <p:sp>
        <p:nvSpPr>
          <p:cNvPr id="20" name="Room row 3"/>
          <p:cNvSpPr/>
          <p:nvPr/>
        </p:nvSpPr>
        <p:spPr>
          <a:xfrm>
            <a:off x="1920240" y="4480560"/>
            <a:ext cx="1828800" cy="822960"/>
          </a:xfrm>
          <a:prstGeom prst="roundRect">
            <a:avLst>
              <a:gd name="adj" fmla="val 8889"/>
            </a:avLst>
          </a:prstGeom>
          <a:solidFill>
            <a:schemeClr val="tx2"/>
          </a:solidFill>
          <a:ln/>
        </p:spPr>
      </p:sp>
      <p:sp>
        <p:nvSpPr>
          <p:cNvPr id="21" name="Status dot 3"/>
          <p:cNvSpPr/>
          <p:nvPr/>
        </p:nvSpPr>
        <p:spPr>
          <a:xfrm>
            <a:off x="2029968" y="4636008"/>
            <a:ext cx="164592" cy="164592"/>
          </a:xfrm>
          <a:prstGeom prst="ellipse">
            <a:avLst/>
          </a:prstGeom>
          <a:solidFill>
            <a:schemeClr val="accent3"/>
          </a:solidFill>
          <a:ln/>
        </p:spPr>
      </p:sp>
      <p:sp>
        <p:nvSpPr>
          <p:cNvPr id="22" name="Text 20"/>
          <p:cNvSpPr txBox="1"/>
          <p:nvPr/>
        </p:nvSpPr>
        <p:spPr>
          <a:xfrm>
            <a:off x="2286000" y="4526280"/>
            <a:ext cx="1417320" cy="731520"/>
          </a:xfrm>
          <a:prstGeom prst="rect">
            <a:avLst/>
          </a:prstGeom>
          <a:noFill/>
          <a:ln/>
        </p:spPr>
        <p:txBody>
          <a:bodyPr wrap="square" lIns="0" tIns="0" rIns="0" bIns="0" rtlCol="0" anchor="ctr"/>
          <a:lstStyle/>
          <a:p>
            <a:pPr marL="0" indent="0">
              <a:buNone/>
            </a:pPr>
            <a:r>
              <a:rPr lang="en-US" sz="1200" dirty="0">
                <a:solidFill>
                  <a:schemeClr val="bg1"/>
                </a:solidFill>
              </a:rPr>
              <a:t>Library: 38 people</a:t>
            </a:r>
            <a:endParaRPr lang="en-US" sz="1200" dirty="0"/>
          </a:p>
        </p:txBody>
      </p:sp>
      <p:sp>
        <p:nvSpPr>
          <p:cNvPr id="23" name="Text 21"/>
          <p:cNvSpPr txBox="1"/>
          <p:nvPr/>
        </p:nvSpPr>
        <p:spPr>
          <a:xfrm>
            <a:off x="5184648" y="2011680"/>
            <a:ext cx="1828800" cy="274320"/>
          </a:xfrm>
          <a:prstGeom prst="rect">
            <a:avLst/>
          </a:prstGeom>
          <a:noFill/>
          <a:ln/>
        </p:spPr>
        <p:txBody>
          <a:bodyPr wrap="square" lIns="0" tIns="0" rIns="0" bIns="0" rtlCol="0" anchor="ctr"/>
          <a:lstStyle/>
          <a:p>
            <a:pPr marL="0" indent="0">
              <a:buNone/>
            </a:pPr>
            <a:r>
              <a:rPr lang="en-US" sz="1200" b="1" dirty="0">
                <a:solidFill>
                  <a:schemeClr val="accent2"/>
                </a:solidFill>
              </a:rPr>
              <a:t>Bin fill levels</a:t>
            </a:r>
            <a:endParaRPr lang="en-US" sz="1200" dirty="0"/>
          </a:p>
        </p:txBody>
      </p:sp>
      <p:sp>
        <p:nvSpPr>
          <p:cNvPr id="24" name="Text 22"/>
          <p:cNvSpPr txBox="1"/>
          <p:nvPr/>
        </p:nvSpPr>
        <p:spPr>
          <a:xfrm>
            <a:off x="5184648" y="2468880"/>
            <a:ext cx="1828800" cy="256032"/>
          </a:xfrm>
          <a:prstGeom prst="rect">
            <a:avLst/>
          </a:prstGeom>
          <a:noFill/>
          <a:ln/>
        </p:spPr>
        <p:txBody>
          <a:bodyPr wrap="square" lIns="0" tIns="0" rIns="0" bIns="0" rtlCol="0" anchor="ctr"/>
          <a:lstStyle/>
          <a:p>
            <a:pPr marL="0" indent="0">
              <a:buNone/>
            </a:pPr>
            <a:r>
              <a:rPr lang="en-US" sz="1200" dirty="0">
                <a:solidFill>
                  <a:schemeClr val="bg1"/>
                </a:solidFill>
              </a:rPr>
              <a:t>Bin 1</a:t>
            </a:r>
            <a:endParaRPr lang="en-US" sz="1200" dirty="0"/>
          </a:p>
        </p:txBody>
      </p:sp>
      <p:sp>
        <p:nvSpPr>
          <p:cNvPr id="25" name="Bin track 1"/>
          <p:cNvSpPr/>
          <p:nvPr/>
        </p:nvSpPr>
        <p:spPr>
          <a:xfrm>
            <a:off x="5184648" y="2761488"/>
            <a:ext cx="1828800" cy="256032"/>
          </a:xfrm>
          <a:prstGeom prst="roundRect">
            <a:avLst>
              <a:gd name="adj" fmla="val 17857"/>
            </a:avLst>
          </a:prstGeom>
          <a:solidFill>
            <a:schemeClr val="tx2"/>
          </a:solidFill>
          <a:ln/>
        </p:spPr>
      </p:sp>
      <p:sp>
        <p:nvSpPr>
          <p:cNvPr id="26" name="Bin fill 1"/>
          <p:cNvSpPr/>
          <p:nvPr/>
        </p:nvSpPr>
        <p:spPr>
          <a:xfrm>
            <a:off x="5184648" y="2761488"/>
            <a:ext cx="640080" cy="256032"/>
          </a:xfrm>
          <a:prstGeom prst="roundRect">
            <a:avLst>
              <a:gd name="adj" fmla="val 17857"/>
            </a:avLst>
          </a:prstGeom>
          <a:solidFill>
            <a:schemeClr val="accent1"/>
          </a:solidFill>
          <a:ln/>
        </p:spPr>
      </p:sp>
      <p:sp>
        <p:nvSpPr>
          <p:cNvPr id="27" name="Text 25"/>
          <p:cNvSpPr txBox="1"/>
          <p:nvPr/>
        </p:nvSpPr>
        <p:spPr>
          <a:xfrm>
            <a:off x="5184648" y="3246120"/>
            <a:ext cx="1828800" cy="256032"/>
          </a:xfrm>
          <a:prstGeom prst="rect">
            <a:avLst/>
          </a:prstGeom>
          <a:noFill/>
          <a:ln/>
        </p:spPr>
        <p:txBody>
          <a:bodyPr wrap="square" lIns="0" tIns="0" rIns="0" bIns="0" rtlCol="0" anchor="ctr"/>
          <a:lstStyle/>
          <a:p>
            <a:pPr marL="0" indent="0">
              <a:buNone/>
            </a:pPr>
            <a:r>
              <a:rPr lang="en-US" sz="1200" dirty="0">
                <a:solidFill>
                  <a:schemeClr val="bg1"/>
                </a:solidFill>
              </a:rPr>
              <a:t>Bin 2: pickup</a:t>
            </a:r>
            <a:endParaRPr lang="en-US" sz="1200" dirty="0"/>
          </a:p>
        </p:txBody>
      </p:sp>
      <p:sp>
        <p:nvSpPr>
          <p:cNvPr id="28" name="Bin track 2"/>
          <p:cNvSpPr/>
          <p:nvPr/>
        </p:nvSpPr>
        <p:spPr>
          <a:xfrm>
            <a:off x="5184648" y="3538728"/>
            <a:ext cx="1828800" cy="256032"/>
          </a:xfrm>
          <a:prstGeom prst="roundRect">
            <a:avLst>
              <a:gd name="adj" fmla="val 17857"/>
            </a:avLst>
          </a:prstGeom>
          <a:solidFill>
            <a:schemeClr val="tx2"/>
          </a:solidFill>
          <a:ln/>
        </p:spPr>
      </p:sp>
      <p:sp>
        <p:nvSpPr>
          <p:cNvPr id="29" name="Bin fill 2"/>
          <p:cNvSpPr/>
          <p:nvPr/>
        </p:nvSpPr>
        <p:spPr>
          <a:xfrm>
            <a:off x="5184648" y="3538728"/>
            <a:ext cx="1499616" cy="256032"/>
          </a:xfrm>
          <a:prstGeom prst="roundRect">
            <a:avLst>
              <a:gd name="adj" fmla="val 17857"/>
            </a:avLst>
          </a:prstGeom>
          <a:solidFill>
            <a:schemeClr val="accent4"/>
          </a:solidFill>
          <a:ln/>
        </p:spPr>
      </p:sp>
      <p:sp>
        <p:nvSpPr>
          <p:cNvPr id="30" name="Text 28"/>
          <p:cNvSpPr txBox="1"/>
          <p:nvPr/>
        </p:nvSpPr>
        <p:spPr>
          <a:xfrm>
            <a:off x="5184648" y="4023360"/>
            <a:ext cx="1828800" cy="256032"/>
          </a:xfrm>
          <a:prstGeom prst="rect">
            <a:avLst/>
          </a:prstGeom>
          <a:noFill/>
          <a:ln/>
        </p:spPr>
        <p:txBody>
          <a:bodyPr wrap="square" lIns="0" tIns="0" rIns="0" bIns="0" rtlCol="0" anchor="ctr"/>
          <a:lstStyle/>
          <a:p>
            <a:pPr marL="0" indent="0">
              <a:buNone/>
            </a:pPr>
            <a:r>
              <a:rPr lang="en-US" sz="1200" dirty="0">
                <a:solidFill>
                  <a:schemeClr val="bg1"/>
                </a:solidFill>
              </a:rPr>
              <a:t>Bin 3</a:t>
            </a:r>
            <a:endParaRPr lang="en-US" sz="1200" dirty="0"/>
          </a:p>
        </p:txBody>
      </p:sp>
      <p:sp>
        <p:nvSpPr>
          <p:cNvPr id="31" name="Bin track 3"/>
          <p:cNvSpPr/>
          <p:nvPr/>
        </p:nvSpPr>
        <p:spPr>
          <a:xfrm>
            <a:off x="5184648" y="4315968"/>
            <a:ext cx="1828800" cy="256032"/>
          </a:xfrm>
          <a:prstGeom prst="roundRect">
            <a:avLst>
              <a:gd name="adj" fmla="val 17857"/>
            </a:avLst>
          </a:prstGeom>
          <a:solidFill>
            <a:schemeClr val="tx2"/>
          </a:solidFill>
          <a:ln/>
        </p:spPr>
      </p:sp>
      <p:sp>
        <p:nvSpPr>
          <p:cNvPr id="32" name="Bin fill 3"/>
          <p:cNvSpPr/>
          <p:nvPr/>
        </p:nvSpPr>
        <p:spPr>
          <a:xfrm>
            <a:off x="5184648" y="4315968"/>
            <a:ext cx="1097280" cy="256032"/>
          </a:xfrm>
          <a:prstGeom prst="roundRect">
            <a:avLst>
              <a:gd name="adj" fmla="val 17857"/>
            </a:avLst>
          </a:prstGeom>
          <a:solidFill>
            <a:schemeClr val="accent1"/>
          </a:solidFill>
          <a:ln/>
        </p:spPr>
      </p:sp>
      <p:sp>
        <p:nvSpPr>
          <p:cNvPr id="33" name="Text 31"/>
          <p:cNvSpPr txBox="1"/>
          <p:nvPr/>
        </p:nvSpPr>
        <p:spPr>
          <a:xfrm>
            <a:off x="5184648" y="4800600"/>
            <a:ext cx="1828800" cy="256032"/>
          </a:xfrm>
          <a:prstGeom prst="rect">
            <a:avLst/>
          </a:prstGeom>
          <a:noFill/>
          <a:ln/>
        </p:spPr>
        <p:txBody>
          <a:bodyPr wrap="square" lIns="0" tIns="0" rIns="0" bIns="0" rtlCol="0" anchor="ctr"/>
          <a:lstStyle/>
          <a:p>
            <a:pPr marL="0" indent="0">
              <a:buNone/>
            </a:pPr>
            <a:r>
              <a:rPr lang="en-US" sz="1200" dirty="0">
                <a:solidFill>
                  <a:schemeClr val="bg1"/>
                </a:solidFill>
              </a:rPr>
              <a:t>Bin 4: pickup</a:t>
            </a:r>
            <a:endParaRPr lang="en-US" sz="1200" dirty="0"/>
          </a:p>
        </p:txBody>
      </p:sp>
      <p:sp>
        <p:nvSpPr>
          <p:cNvPr id="34" name="Bin track 4"/>
          <p:cNvSpPr/>
          <p:nvPr/>
        </p:nvSpPr>
        <p:spPr>
          <a:xfrm>
            <a:off x="5184648" y="5093208"/>
            <a:ext cx="1828800" cy="256032"/>
          </a:xfrm>
          <a:prstGeom prst="roundRect">
            <a:avLst>
              <a:gd name="adj" fmla="val 17857"/>
            </a:avLst>
          </a:prstGeom>
          <a:solidFill>
            <a:schemeClr val="tx2"/>
          </a:solidFill>
          <a:ln/>
        </p:spPr>
      </p:sp>
      <p:sp>
        <p:nvSpPr>
          <p:cNvPr id="35" name="Bin fill 4"/>
          <p:cNvSpPr/>
          <p:nvPr/>
        </p:nvSpPr>
        <p:spPr>
          <a:xfrm>
            <a:off x="5184648" y="5093208"/>
            <a:ext cx="1664208" cy="256032"/>
          </a:xfrm>
          <a:prstGeom prst="roundRect">
            <a:avLst>
              <a:gd name="adj" fmla="val 17857"/>
            </a:avLst>
          </a:prstGeom>
          <a:solidFill>
            <a:schemeClr val="accent4"/>
          </a:solidFill>
          <a:ln/>
        </p:spPr>
      </p:sp>
      <p:pic>
        <p:nvPicPr>
          <p:cNvPr id="36" name="Image 0" descr="Trophy"/>
          <p:cNvPicPr>
            <a:picLocks noChangeAspect="1"/>
          </p:cNvPicPr>
          <p:nvPr/>
        </p:nvPicPr>
        <p:blipFill>
          <a:blip r:embed="rId3"/>
          <a:stretch>
            <a:fillRect/>
          </a:stretch>
        </p:blipFill>
        <p:spPr>
          <a:xfrm>
            <a:off x="8842248" y="2011680"/>
            <a:ext cx="274320" cy="274320"/>
          </a:xfrm>
          <a:prstGeom prst="rect">
            <a:avLst/>
          </a:prstGeom>
        </p:spPr>
      </p:pic>
      <p:sp>
        <p:nvSpPr>
          <p:cNvPr id="37" name="Text 34"/>
          <p:cNvSpPr txBox="1"/>
          <p:nvPr/>
        </p:nvSpPr>
        <p:spPr>
          <a:xfrm>
            <a:off x="9189720" y="2011680"/>
            <a:ext cx="1737360" cy="274320"/>
          </a:xfrm>
          <a:prstGeom prst="rect">
            <a:avLst/>
          </a:prstGeom>
          <a:noFill/>
          <a:ln/>
        </p:spPr>
        <p:txBody>
          <a:bodyPr wrap="square" lIns="0" tIns="0" rIns="0" bIns="0" rtlCol="0" anchor="ctr"/>
          <a:lstStyle/>
          <a:p>
            <a:pPr marL="0" indent="0">
              <a:buNone/>
            </a:pPr>
            <a:r>
              <a:rPr lang="en-US" sz="1200" b="1" dirty="0">
                <a:solidFill>
                  <a:schemeClr val="accent2"/>
                </a:solidFill>
              </a:rPr>
              <a:t>Dorm leaderboard</a:t>
            </a:r>
            <a:endParaRPr lang="en-US" sz="1200" dirty="0"/>
          </a:p>
        </p:txBody>
      </p:sp>
      <p:sp>
        <p:nvSpPr>
          <p:cNvPr id="38" name="Text 35"/>
          <p:cNvSpPr txBox="1"/>
          <p:nvPr/>
        </p:nvSpPr>
        <p:spPr>
          <a:xfrm>
            <a:off x="8439912" y="2468880"/>
            <a:ext cx="1828800" cy="256032"/>
          </a:xfrm>
          <a:prstGeom prst="rect">
            <a:avLst/>
          </a:prstGeom>
          <a:noFill/>
          <a:ln/>
        </p:spPr>
        <p:txBody>
          <a:bodyPr wrap="square" lIns="0" tIns="0" rIns="0" bIns="0" rtlCol="0" anchor="ctr"/>
          <a:lstStyle/>
          <a:p>
            <a:pPr marL="0" indent="0">
              <a:buNone/>
            </a:pPr>
            <a:r>
              <a:rPr lang="en-US" sz="1200" dirty="0">
                <a:solidFill>
                  <a:schemeClr val="bg1"/>
                </a:solidFill>
              </a:rPr>
              <a:t>1  Hall A</a:t>
            </a:r>
            <a:endParaRPr lang="en-US" sz="1200" dirty="0"/>
          </a:p>
        </p:txBody>
      </p:sp>
      <p:sp>
        <p:nvSpPr>
          <p:cNvPr id="39" name="Rank track 1"/>
          <p:cNvSpPr/>
          <p:nvPr/>
        </p:nvSpPr>
        <p:spPr>
          <a:xfrm>
            <a:off x="8439912" y="2761488"/>
            <a:ext cx="1828800" cy="256032"/>
          </a:xfrm>
          <a:prstGeom prst="roundRect">
            <a:avLst>
              <a:gd name="adj" fmla="val 17857"/>
            </a:avLst>
          </a:prstGeom>
          <a:solidFill>
            <a:schemeClr val="tx2"/>
          </a:solidFill>
          <a:ln/>
        </p:spPr>
      </p:sp>
      <p:sp>
        <p:nvSpPr>
          <p:cNvPr id="40" name="Rank fill 1"/>
          <p:cNvSpPr/>
          <p:nvPr/>
        </p:nvSpPr>
        <p:spPr>
          <a:xfrm>
            <a:off x="8439912" y="2761488"/>
            <a:ext cx="1828800" cy="256032"/>
          </a:xfrm>
          <a:prstGeom prst="roundRect">
            <a:avLst>
              <a:gd name="adj" fmla="val 17857"/>
            </a:avLst>
          </a:prstGeom>
          <a:solidFill>
            <a:schemeClr val="accent3"/>
          </a:solidFill>
          <a:ln/>
        </p:spPr>
      </p:sp>
      <p:sp>
        <p:nvSpPr>
          <p:cNvPr id="41" name="Text 38"/>
          <p:cNvSpPr txBox="1"/>
          <p:nvPr/>
        </p:nvSpPr>
        <p:spPr>
          <a:xfrm>
            <a:off x="8439912" y="3246120"/>
            <a:ext cx="1828800" cy="256032"/>
          </a:xfrm>
          <a:prstGeom prst="rect">
            <a:avLst/>
          </a:prstGeom>
          <a:noFill/>
          <a:ln/>
        </p:spPr>
        <p:txBody>
          <a:bodyPr wrap="square" lIns="0" tIns="0" rIns="0" bIns="0" rtlCol="0" anchor="ctr"/>
          <a:lstStyle/>
          <a:p>
            <a:pPr marL="0" indent="0">
              <a:buNone/>
            </a:pPr>
            <a:r>
              <a:rPr lang="en-US" sz="1200" dirty="0">
                <a:solidFill>
                  <a:schemeClr val="bg1"/>
                </a:solidFill>
              </a:rPr>
              <a:t>2  Hall B</a:t>
            </a:r>
            <a:endParaRPr lang="en-US" sz="1200" dirty="0"/>
          </a:p>
        </p:txBody>
      </p:sp>
      <p:sp>
        <p:nvSpPr>
          <p:cNvPr id="42" name="Rank track 2"/>
          <p:cNvSpPr/>
          <p:nvPr/>
        </p:nvSpPr>
        <p:spPr>
          <a:xfrm>
            <a:off x="8439912" y="3538728"/>
            <a:ext cx="1828800" cy="256032"/>
          </a:xfrm>
          <a:prstGeom prst="roundRect">
            <a:avLst>
              <a:gd name="adj" fmla="val 17857"/>
            </a:avLst>
          </a:prstGeom>
          <a:solidFill>
            <a:schemeClr val="tx2"/>
          </a:solidFill>
          <a:ln/>
        </p:spPr>
      </p:sp>
      <p:sp>
        <p:nvSpPr>
          <p:cNvPr id="43" name="Rank fill 2"/>
          <p:cNvSpPr/>
          <p:nvPr/>
        </p:nvSpPr>
        <p:spPr>
          <a:xfrm>
            <a:off x="8439912" y="3538728"/>
            <a:ext cx="1499616" cy="256032"/>
          </a:xfrm>
          <a:prstGeom prst="roundRect">
            <a:avLst>
              <a:gd name="adj" fmla="val 17857"/>
            </a:avLst>
          </a:prstGeom>
          <a:solidFill>
            <a:schemeClr val="accent1"/>
          </a:solidFill>
          <a:ln/>
        </p:spPr>
      </p:sp>
      <p:sp>
        <p:nvSpPr>
          <p:cNvPr id="44" name="Text 41"/>
          <p:cNvSpPr txBox="1"/>
          <p:nvPr/>
        </p:nvSpPr>
        <p:spPr>
          <a:xfrm>
            <a:off x="8439912" y="4023360"/>
            <a:ext cx="1828800" cy="256032"/>
          </a:xfrm>
          <a:prstGeom prst="rect">
            <a:avLst/>
          </a:prstGeom>
          <a:noFill/>
          <a:ln/>
        </p:spPr>
        <p:txBody>
          <a:bodyPr wrap="square" lIns="0" tIns="0" rIns="0" bIns="0" rtlCol="0" anchor="ctr"/>
          <a:lstStyle/>
          <a:p>
            <a:pPr marL="0" indent="0">
              <a:buNone/>
            </a:pPr>
            <a:r>
              <a:rPr lang="en-US" sz="1200" dirty="0">
                <a:solidFill>
                  <a:schemeClr val="bg1"/>
                </a:solidFill>
              </a:rPr>
              <a:t>3  Hall C</a:t>
            </a:r>
            <a:endParaRPr lang="en-US" sz="1200" dirty="0"/>
          </a:p>
        </p:txBody>
      </p:sp>
      <p:sp>
        <p:nvSpPr>
          <p:cNvPr id="45" name="Rank track 3"/>
          <p:cNvSpPr/>
          <p:nvPr/>
        </p:nvSpPr>
        <p:spPr>
          <a:xfrm>
            <a:off x="8439912" y="4315968"/>
            <a:ext cx="1828800" cy="256032"/>
          </a:xfrm>
          <a:prstGeom prst="roundRect">
            <a:avLst>
              <a:gd name="adj" fmla="val 17857"/>
            </a:avLst>
          </a:prstGeom>
          <a:solidFill>
            <a:schemeClr val="tx2"/>
          </a:solidFill>
          <a:ln/>
        </p:spPr>
      </p:sp>
      <p:sp>
        <p:nvSpPr>
          <p:cNvPr id="46" name="Rank fill 3"/>
          <p:cNvSpPr/>
          <p:nvPr/>
        </p:nvSpPr>
        <p:spPr>
          <a:xfrm>
            <a:off x="8439912" y="4315968"/>
            <a:ext cx="1170432" cy="256032"/>
          </a:xfrm>
          <a:prstGeom prst="roundRect">
            <a:avLst>
              <a:gd name="adj" fmla="val 17857"/>
            </a:avLst>
          </a:prstGeom>
          <a:solidFill>
            <a:schemeClr val="accent1"/>
          </a:solidFill>
          <a:ln/>
        </p:spPr>
      </p:sp>
      <p:sp>
        <p:nvSpPr>
          <p:cNvPr id="47" name="Text 44"/>
          <p:cNvSpPr txBox="1"/>
          <p:nvPr/>
        </p:nvSpPr>
        <p:spPr>
          <a:xfrm>
            <a:off x="8439912" y="4800600"/>
            <a:ext cx="1828800" cy="256032"/>
          </a:xfrm>
          <a:prstGeom prst="rect">
            <a:avLst/>
          </a:prstGeom>
          <a:noFill/>
          <a:ln/>
        </p:spPr>
        <p:txBody>
          <a:bodyPr wrap="square" lIns="0" tIns="0" rIns="0" bIns="0" rtlCol="0" anchor="ctr"/>
          <a:lstStyle/>
          <a:p>
            <a:pPr marL="0" indent="0">
              <a:buNone/>
            </a:pPr>
            <a:r>
              <a:rPr lang="en-US" sz="1200" dirty="0">
                <a:solidFill>
                  <a:schemeClr val="bg1"/>
                </a:solidFill>
              </a:rPr>
              <a:t>4  Hall D</a:t>
            </a:r>
            <a:endParaRPr lang="en-US" sz="1200" dirty="0"/>
          </a:p>
        </p:txBody>
      </p:sp>
      <p:sp>
        <p:nvSpPr>
          <p:cNvPr id="48" name="Rank track 4"/>
          <p:cNvSpPr/>
          <p:nvPr/>
        </p:nvSpPr>
        <p:spPr>
          <a:xfrm>
            <a:off x="8439912" y="5093208"/>
            <a:ext cx="1828800" cy="256032"/>
          </a:xfrm>
          <a:prstGeom prst="roundRect">
            <a:avLst>
              <a:gd name="adj" fmla="val 17857"/>
            </a:avLst>
          </a:prstGeom>
          <a:solidFill>
            <a:schemeClr val="tx2"/>
          </a:solidFill>
          <a:ln/>
        </p:spPr>
      </p:sp>
      <p:sp>
        <p:nvSpPr>
          <p:cNvPr id="49" name="Rank fill 4"/>
          <p:cNvSpPr/>
          <p:nvPr/>
        </p:nvSpPr>
        <p:spPr>
          <a:xfrm>
            <a:off x="8439912" y="5093208"/>
            <a:ext cx="822960" cy="256032"/>
          </a:xfrm>
          <a:prstGeom prst="roundRect">
            <a:avLst>
              <a:gd name="adj" fmla="val 17857"/>
            </a:avLst>
          </a:prstGeom>
          <a:solidFill>
            <a:schemeClr val="accent1"/>
          </a:solidFill>
          <a:ln/>
        </p:spPr>
      </p:sp>
      <p:sp>
        <p:nvSpPr>
          <p:cNvPr id="50"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93"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83"/>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4" presetID="2" presetClass="entr" presetSubtype="4" fill="hold" grpId="0" nodeType="withEffect">
                                  <p:stCondLst>
                                    <p:cond delay="166"/>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ppt_y</p:attrName>
                                        </p:attrNameLst>
                                      </p:cBhvr>
                                      <p:tavLst>
                                        <p:tav tm="0">
                                          <p:val>
                                            <p:strVal val="#ppt_y+0.07"/>
                                          </p:val>
                                        </p:tav>
                                        <p:tav tm="100000">
                                          <p:val>
                                            <p:strVal val="#ppt_y"/>
                                          </p:val>
                                        </p:tav>
                                      </p:tavLst>
                                    </p:anim>
                                    <p:animEffect transition="in" filter="fade">
                                      <p:cBhvr>
                                        <p:cTn id="13" dur="550"/>
                                        <p:tgtEl>
                                          <p:spTgt spid="4"/>
                                        </p:tgtEl>
                                      </p:cBhvr>
                                    </p:animEffect>
                                  </p:childTnLst>
                                </p:cTn>
                              </p:par>
                              <p:par>
                                <p:cTn id="18" presetID="2" presetClass="entr" presetSubtype="4" fill="hold" grpId="0" nodeType="withEffect">
                                  <p:stCondLst>
                                    <p:cond delay="226"/>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50" fill="hold"/>
                                        <p:tgtEl>
                                          <p:spTgt spid="5"/>
                                        </p:tgtEl>
                                        <p:attrNameLst>
                                          <p:attrName>ppt_y</p:attrName>
                                        </p:attrNameLst>
                                      </p:cBhvr>
                                      <p:tavLst>
                                        <p:tav tm="0">
                                          <p:val>
                                            <p:strVal val="#ppt_y+0.07"/>
                                          </p:val>
                                        </p:tav>
                                        <p:tav tm="100000">
                                          <p:val>
                                            <p:strVal val="#ppt_y"/>
                                          </p:val>
                                        </p:tav>
                                      </p:tavLst>
                                    </p:anim>
                                    <p:animEffect transition="in" filter="fade">
                                      <p:cBhvr>
                                        <p:cTn id="17" dur="550"/>
                                        <p:tgtEl>
                                          <p:spTgt spid="5"/>
                                        </p:tgtEl>
                                      </p:cBhvr>
                                    </p:animEffect>
                                  </p:childTnLst>
                                </p:cTn>
                              </p:par>
                              <p:par>
                                <p:cTn id="22" presetID="2" presetClass="entr" presetSubtype="4" fill="hold" grpId="0" nodeType="withEffect">
                                  <p:stCondLst>
                                    <p:cond delay="249"/>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50" fill="hold"/>
                                        <p:tgtEl>
                                          <p:spTgt spid="6"/>
                                        </p:tgtEl>
                                        <p:attrNameLst>
                                          <p:attrName>ppt_y</p:attrName>
                                        </p:attrNameLst>
                                      </p:cBhvr>
                                      <p:tavLst>
                                        <p:tav tm="0">
                                          <p:val>
                                            <p:strVal val="#ppt_y+0.07"/>
                                          </p:val>
                                        </p:tav>
                                        <p:tav tm="100000">
                                          <p:val>
                                            <p:strVal val="#ppt_y"/>
                                          </p:val>
                                        </p:tav>
                                      </p:tavLst>
                                    </p:anim>
                                    <p:animEffect transition="in" filter="fade">
                                      <p:cBhvr>
                                        <p:cTn id="21" dur="550"/>
                                        <p:tgtEl>
                                          <p:spTgt spid="6"/>
                                        </p:tgtEl>
                                      </p:cBhvr>
                                    </p:animEffect>
                                  </p:childTnLst>
                                </p:cTn>
                              </p:par>
                              <p:par>
                                <p:cTn id="26" presetID="2" presetClass="entr" presetSubtype="4" fill="hold" grpId="0" nodeType="withEffect">
                                  <p:stCondLst>
                                    <p:cond delay="332"/>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50" fill="hold"/>
                                        <p:tgtEl>
                                          <p:spTgt spid="7"/>
                                        </p:tgtEl>
                                        <p:attrNameLst>
                                          <p:attrName>ppt_y</p:attrName>
                                        </p:attrNameLst>
                                      </p:cBhvr>
                                      <p:tavLst>
                                        <p:tav tm="0">
                                          <p:val>
                                            <p:strVal val="#ppt_y+0.07"/>
                                          </p:val>
                                        </p:tav>
                                        <p:tav tm="100000">
                                          <p:val>
                                            <p:strVal val="#ppt_y"/>
                                          </p:val>
                                        </p:tav>
                                      </p:tavLst>
                                    </p:anim>
                                    <p:animEffect transition="in" filter="fade">
                                      <p:cBhvr>
                                        <p:cTn id="25" dur="550"/>
                                        <p:tgtEl>
                                          <p:spTgt spid="7"/>
                                        </p:tgtEl>
                                      </p:cBhvr>
                                    </p:animEffect>
                                  </p:childTnLst>
                                </p:cTn>
                              </p:par>
                              <p:par>
                                <p:cTn id="30" presetID="2" presetClass="entr" presetSubtype="4" fill="hold" grpId="0" nodeType="withEffect">
                                  <p:stCondLst>
                                    <p:cond delay="392"/>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50" fill="hold"/>
                                        <p:tgtEl>
                                          <p:spTgt spid="8"/>
                                        </p:tgtEl>
                                        <p:attrNameLst>
                                          <p:attrName>ppt_y</p:attrName>
                                        </p:attrNameLst>
                                      </p:cBhvr>
                                      <p:tavLst>
                                        <p:tav tm="0">
                                          <p:val>
                                            <p:strVal val="#ppt_y+0.07"/>
                                          </p:val>
                                        </p:tav>
                                        <p:tav tm="100000">
                                          <p:val>
                                            <p:strVal val="#ppt_y"/>
                                          </p:val>
                                        </p:tav>
                                      </p:tavLst>
                                    </p:anim>
                                    <p:animEffect transition="in" filter="fade">
                                      <p:cBhvr>
                                        <p:cTn id="29" dur="550"/>
                                        <p:tgtEl>
                                          <p:spTgt spid="8"/>
                                        </p:tgtEl>
                                      </p:cBhvr>
                                    </p:animEffect>
                                  </p:childTnLst>
                                </p:cTn>
                              </p:par>
                              <p:par>
                                <p:cTn id="34" presetID="2" presetClass="entr" presetSubtype="4" fill="hold" grpId="0" nodeType="withEffect">
                                  <p:stCondLst>
                                    <p:cond delay="415"/>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50" fill="hold"/>
                                        <p:tgtEl>
                                          <p:spTgt spid="9"/>
                                        </p:tgtEl>
                                        <p:attrNameLst>
                                          <p:attrName>ppt_y</p:attrName>
                                        </p:attrNameLst>
                                      </p:cBhvr>
                                      <p:tavLst>
                                        <p:tav tm="0">
                                          <p:val>
                                            <p:strVal val="#ppt_y+0.07"/>
                                          </p:val>
                                        </p:tav>
                                        <p:tav tm="100000">
                                          <p:val>
                                            <p:strVal val="#ppt_y"/>
                                          </p:val>
                                        </p:tav>
                                      </p:tavLst>
                                    </p:anim>
                                    <p:animEffect transition="in" filter="fade">
                                      <p:cBhvr>
                                        <p:cTn id="33" dur="550"/>
                                        <p:tgtEl>
                                          <p:spTgt spid="9"/>
                                        </p:tgtEl>
                                      </p:cBhvr>
                                    </p:animEffect>
                                  </p:childTnLst>
                                </p:cTn>
                              </p:par>
                              <p:par>
                                <p:cTn id="38" presetID="2" presetClass="entr" presetSubtype="4" fill="hold" grpId="0" nodeType="withEffect">
                                  <p:stCondLst>
                                    <p:cond delay="498"/>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50" fill="hold"/>
                                        <p:tgtEl>
                                          <p:spTgt spid="10"/>
                                        </p:tgtEl>
                                        <p:attrNameLst>
                                          <p:attrName>ppt_y</p:attrName>
                                        </p:attrNameLst>
                                      </p:cBhvr>
                                      <p:tavLst>
                                        <p:tav tm="0">
                                          <p:val>
                                            <p:strVal val="#ppt_y+0.07"/>
                                          </p:val>
                                        </p:tav>
                                        <p:tav tm="100000">
                                          <p:val>
                                            <p:strVal val="#ppt_y"/>
                                          </p:val>
                                        </p:tav>
                                      </p:tavLst>
                                    </p:anim>
                                    <p:animEffect transition="in" filter="fade">
                                      <p:cBhvr>
                                        <p:cTn id="37" dur="550"/>
                                        <p:tgtEl>
                                          <p:spTgt spid="10"/>
                                        </p:tgtEl>
                                      </p:cBhvr>
                                    </p:animEffect>
                                  </p:childTnLst>
                                </p:cTn>
                              </p:par>
                              <p:par>
                                <p:cTn id="42" presetID="2" presetClass="entr" presetSubtype="4" fill="hold" grpId="0" nodeType="withEffect">
                                  <p:stCondLst>
                                    <p:cond delay="558"/>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50" fill="hold"/>
                                        <p:tgtEl>
                                          <p:spTgt spid="11"/>
                                        </p:tgtEl>
                                        <p:attrNameLst>
                                          <p:attrName>ppt_y</p:attrName>
                                        </p:attrNameLst>
                                      </p:cBhvr>
                                      <p:tavLst>
                                        <p:tav tm="0">
                                          <p:val>
                                            <p:strVal val="#ppt_y+0.07"/>
                                          </p:val>
                                        </p:tav>
                                        <p:tav tm="100000">
                                          <p:val>
                                            <p:strVal val="#ppt_y"/>
                                          </p:val>
                                        </p:tav>
                                      </p:tavLst>
                                    </p:anim>
                                    <p:animEffect transition="in" filter="fade">
                                      <p:cBhvr>
                                        <p:cTn id="41" dur="550"/>
                                        <p:tgtEl>
                                          <p:spTgt spid="11"/>
                                        </p:tgtEl>
                                      </p:cBhvr>
                                    </p:animEffect>
                                  </p:childTnLst>
                                </p:cTn>
                              </p:par>
                              <p:par>
                                <p:cTn id="46" presetID="2" presetClass="entr" presetSubtype="4" fill="hold" grpId="0" nodeType="withEffect">
                                  <p:stCondLst>
                                    <p:cond delay="581"/>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50" fill="hold"/>
                                        <p:tgtEl>
                                          <p:spTgt spid="12"/>
                                        </p:tgtEl>
                                        <p:attrNameLst>
                                          <p:attrName>ppt_y</p:attrName>
                                        </p:attrNameLst>
                                      </p:cBhvr>
                                      <p:tavLst>
                                        <p:tav tm="0">
                                          <p:val>
                                            <p:strVal val="#ppt_y+0.07"/>
                                          </p:val>
                                        </p:tav>
                                        <p:tav tm="100000">
                                          <p:val>
                                            <p:strVal val="#ppt_y"/>
                                          </p:val>
                                        </p:tav>
                                      </p:tavLst>
                                    </p:anim>
                                    <p:animEffect transition="in" filter="fade">
                                      <p:cBhvr>
                                        <p:cTn id="45" dur="550"/>
                                        <p:tgtEl>
                                          <p:spTgt spid="12"/>
                                        </p:tgtEl>
                                      </p:cBhvr>
                                    </p:animEffect>
                                  </p:childTnLst>
                                </p:cTn>
                              </p:par>
                              <p:par>
                                <p:cTn id="50" presetID="2" presetClass="entr" presetSubtype="4" fill="hold" grpId="0" nodeType="withEffect">
                                  <p:stCondLst>
                                    <p:cond delay="664"/>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50" fill="hold"/>
                                        <p:tgtEl>
                                          <p:spTgt spid="13"/>
                                        </p:tgtEl>
                                        <p:attrNameLst>
                                          <p:attrName>ppt_y</p:attrName>
                                        </p:attrNameLst>
                                      </p:cBhvr>
                                      <p:tavLst>
                                        <p:tav tm="0">
                                          <p:val>
                                            <p:strVal val="#ppt_y+0.07"/>
                                          </p:val>
                                        </p:tav>
                                        <p:tav tm="100000">
                                          <p:val>
                                            <p:strVal val="#ppt_y"/>
                                          </p:val>
                                        </p:tav>
                                      </p:tavLst>
                                    </p:anim>
                                    <p:animEffect transition="in" filter="fade">
                                      <p:cBhvr>
                                        <p:cTn id="49" dur="550"/>
                                        <p:tgtEl>
                                          <p:spTgt spid="13"/>
                                        </p:tgtEl>
                                      </p:cBhvr>
                                    </p:animEffect>
                                  </p:childTnLst>
                                </p:cTn>
                              </p:par>
                              <p:par>
                                <p:cTn id="54" presetID="2" presetClass="entr" presetSubtype="4" fill="hold" grpId="0" nodeType="withEffect">
                                  <p:stCondLst>
                                    <p:cond delay="747"/>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50" fill="hold"/>
                                        <p:tgtEl>
                                          <p:spTgt spid="14"/>
                                        </p:tgtEl>
                                        <p:attrNameLst>
                                          <p:attrName>ppt_y</p:attrName>
                                        </p:attrNameLst>
                                      </p:cBhvr>
                                      <p:tavLst>
                                        <p:tav tm="0">
                                          <p:val>
                                            <p:strVal val="#ppt_y+0.07"/>
                                          </p:val>
                                        </p:tav>
                                        <p:tav tm="100000">
                                          <p:val>
                                            <p:strVal val="#ppt_y"/>
                                          </p:val>
                                        </p:tav>
                                      </p:tavLst>
                                    </p:anim>
                                    <p:animEffect transition="in" filter="fade">
                                      <p:cBhvr>
                                        <p:cTn id="53" dur="550"/>
                                        <p:tgtEl>
                                          <p:spTgt spid="14"/>
                                        </p:tgtEl>
                                      </p:cBhvr>
                                    </p:animEffect>
                                  </p:childTnLst>
                                </p:cTn>
                              </p:par>
                              <p:par>
                                <p:cTn id="58" presetID="2" presetClass="entr" presetSubtype="4" fill="hold" grpId="0" nodeType="withEffect">
                                  <p:stCondLst>
                                    <p:cond delay="807"/>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550" fill="hold"/>
                                        <p:tgtEl>
                                          <p:spTgt spid="15"/>
                                        </p:tgtEl>
                                        <p:attrNameLst>
                                          <p:attrName>ppt_y</p:attrName>
                                        </p:attrNameLst>
                                      </p:cBhvr>
                                      <p:tavLst>
                                        <p:tav tm="0">
                                          <p:val>
                                            <p:strVal val="#ppt_y+0.07"/>
                                          </p:val>
                                        </p:tav>
                                        <p:tav tm="100000">
                                          <p:val>
                                            <p:strVal val="#ppt_y"/>
                                          </p:val>
                                        </p:tav>
                                      </p:tavLst>
                                    </p:anim>
                                    <p:animEffect transition="in" filter="fade">
                                      <p:cBhvr>
                                        <p:cTn id="57" dur="550"/>
                                        <p:tgtEl>
                                          <p:spTgt spid="15"/>
                                        </p:tgtEl>
                                      </p:cBhvr>
                                    </p:animEffect>
                                  </p:childTnLst>
                                </p:cTn>
                              </p:par>
                              <p:par>
                                <p:cTn id="61" presetID="10" presetClass="entr" presetSubtype="0" fill="hold" grpId="0" nodeType="withEffect">
                                  <p:stCondLst>
                                    <p:cond delay="807"/>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50"/>
                                        <p:tgtEl>
                                          <p:spTgt spid="16"/>
                                        </p:tgtEl>
                                      </p:cBhvr>
                                    </p:animEffect>
                                  </p:childTnLst>
                                </p:cTn>
                              </p:par>
                              <p:par>
                                <p:cTn id="65" presetID="2" presetClass="entr" presetSubtype="4" fill="hold" grpId="0" nodeType="withEffect">
                                  <p:stCondLst>
                                    <p:cond delay="83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50" fill="hold"/>
                                        <p:tgtEl>
                                          <p:spTgt spid="17"/>
                                        </p:tgtEl>
                                        <p:attrNameLst>
                                          <p:attrName>ppt_y</p:attrName>
                                        </p:attrNameLst>
                                      </p:cBhvr>
                                      <p:tavLst>
                                        <p:tav tm="0">
                                          <p:val>
                                            <p:strVal val="#ppt_y+0.07"/>
                                          </p:val>
                                        </p:tav>
                                        <p:tav tm="100000">
                                          <p:val>
                                            <p:strVal val="#ppt_y"/>
                                          </p:val>
                                        </p:tav>
                                      </p:tavLst>
                                    </p:anim>
                                    <p:animEffect transition="in" filter="fade">
                                      <p:cBhvr>
                                        <p:cTn id="64" dur="550"/>
                                        <p:tgtEl>
                                          <p:spTgt spid="17"/>
                                        </p:tgtEl>
                                      </p:cBhvr>
                                    </p:animEffect>
                                  </p:childTnLst>
                                </p:cTn>
                              </p:par>
                              <p:par>
                                <p:cTn id="69" presetID="2" presetClass="entr" presetSubtype="4" fill="hold" grpId="0" nodeType="withEffect">
                                  <p:stCondLst>
                                    <p:cond delay="89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50" fill="hold"/>
                                        <p:tgtEl>
                                          <p:spTgt spid="18"/>
                                        </p:tgtEl>
                                        <p:attrNameLst>
                                          <p:attrName>ppt_y</p:attrName>
                                        </p:attrNameLst>
                                      </p:cBhvr>
                                      <p:tavLst>
                                        <p:tav tm="0">
                                          <p:val>
                                            <p:strVal val="#ppt_y+0.07"/>
                                          </p:val>
                                        </p:tav>
                                        <p:tav tm="100000">
                                          <p:val>
                                            <p:strVal val="#ppt_y"/>
                                          </p:val>
                                        </p:tav>
                                      </p:tavLst>
                                    </p:anim>
                                    <p:animEffect transition="in" filter="fade">
                                      <p:cBhvr>
                                        <p:cTn id="68" dur="550"/>
                                        <p:tgtEl>
                                          <p:spTgt spid="18"/>
                                        </p:tgtEl>
                                      </p:cBhvr>
                                    </p:animEffect>
                                  </p:childTnLst>
                                </p:cTn>
                              </p:par>
                              <p:par>
                                <p:cTn id="72" presetID="10" presetClass="entr" presetSubtype="0" fill="hold" grpId="0" nodeType="withEffect">
                                  <p:stCondLst>
                                    <p:cond delay="89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50"/>
                                        <p:tgtEl>
                                          <p:spTgt spid="19"/>
                                        </p:tgtEl>
                                      </p:cBhvr>
                                    </p:animEffect>
                                  </p:childTnLst>
                                </p:cTn>
                              </p:par>
                              <p:par>
                                <p:cTn id="76" presetID="2" presetClass="entr" presetSubtype="4" fill="hold" grpId="0" nodeType="withEffect">
                                  <p:stCondLst>
                                    <p:cond delay="913"/>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50" fill="hold"/>
                                        <p:tgtEl>
                                          <p:spTgt spid="20"/>
                                        </p:tgtEl>
                                        <p:attrNameLst>
                                          <p:attrName>ppt_y</p:attrName>
                                        </p:attrNameLst>
                                      </p:cBhvr>
                                      <p:tavLst>
                                        <p:tav tm="0">
                                          <p:val>
                                            <p:strVal val="#ppt_y+0.07"/>
                                          </p:val>
                                        </p:tav>
                                        <p:tav tm="100000">
                                          <p:val>
                                            <p:strVal val="#ppt_y"/>
                                          </p:val>
                                        </p:tav>
                                      </p:tavLst>
                                    </p:anim>
                                    <p:animEffect transition="in" filter="fade">
                                      <p:cBhvr>
                                        <p:cTn id="75" dur="550"/>
                                        <p:tgtEl>
                                          <p:spTgt spid="20"/>
                                        </p:tgtEl>
                                      </p:cBhvr>
                                    </p:animEffect>
                                  </p:childTnLst>
                                </p:cTn>
                              </p:par>
                              <p:par>
                                <p:cTn id="80" presetID="2" presetClass="entr" presetSubtype="4" fill="hold" grpId="0" nodeType="withEffect">
                                  <p:stCondLst>
                                    <p:cond delay="973"/>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50" fill="hold"/>
                                        <p:tgtEl>
                                          <p:spTgt spid="21"/>
                                        </p:tgtEl>
                                        <p:attrNameLst>
                                          <p:attrName>ppt_y</p:attrName>
                                        </p:attrNameLst>
                                      </p:cBhvr>
                                      <p:tavLst>
                                        <p:tav tm="0">
                                          <p:val>
                                            <p:strVal val="#ppt_y+0.07"/>
                                          </p:val>
                                        </p:tav>
                                        <p:tav tm="100000">
                                          <p:val>
                                            <p:strVal val="#ppt_y"/>
                                          </p:val>
                                        </p:tav>
                                      </p:tavLst>
                                    </p:anim>
                                    <p:animEffect transition="in" filter="fade">
                                      <p:cBhvr>
                                        <p:cTn id="79" dur="550"/>
                                        <p:tgtEl>
                                          <p:spTgt spid="21"/>
                                        </p:tgtEl>
                                      </p:cBhvr>
                                    </p:animEffect>
                                  </p:childTnLst>
                                </p:cTn>
                              </p:par>
                              <p:par>
                                <p:cTn id="83" presetID="10" presetClass="entr" presetSubtype="0" fill="hold" grpId="0" nodeType="withEffect">
                                  <p:stCondLst>
                                    <p:cond delay="973"/>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par>
                                <p:cTn id="87" presetID="2" presetClass="entr" presetSubtype="4" fill="hold" grpId="0" nodeType="withEffect">
                                  <p:stCondLst>
                                    <p:cond delay="996"/>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550" fill="hold"/>
                                        <p:tgtEl>
                                          <p:spTgt spid="23"/>
                                        </p:tgtEl>
                                        <p:attrNameLst>
                                          <p:attrName>ppt_y</p:attrName>
                                        </p:attrNameLst>
                                      </p:cBhvr>
                                      <p:tavLst>
                                        <p:tav tm="0">
                                          <p:val>
                                            <p:strVal val="#ppt_y+0.07"/>
                                          </p:val>
                                        </p:tav>
                                        <p:tav tm="100000">
                                          <p:val>
                                            <p:strVal val="#ppt_y"/>
                                          </p:val>
                                        </p:tav>
                                      </p:tavLst>
                                    </p:anim>
                                    <p:animEffect transition="in" filter="fade">
                                      <p:cBhvr>
                                        <p:cTn id="86" dur="550"/>
                                        <p:tgtEl>
                                          <p:spTgt spid="23"/>
                                        </p:tgtEl>
                                      </p:cBhvr>
                                    </p:animEffect>
                                  </p:childTnLst>
                                </p:cTn>
                              </p:par>
                              <p:par>
                                <p:cTn id="91" presetID="2" presetClass="entr" presetSubtype="4" fill="hold" grpId="0" nodeType="withEffect">
                                  <p:stCondLst>
                                    <p:cond delay="1079"/>
                                  </p:stCondLst>
                                  <p:childTnLst>
                                    <p:set>
                                      <p:cBhvr>
                                        <p:cTn id="88" dur="1" fill="hold">
                                          <p:stCondLst>
                                            <p:cond delay="0"/>
                                          </p:stCondLst>
                                        </p:cTn>
                                        <p:tgtEl>
                                          <p:spTgt spid="24"/>
                                        </p:tgtEl>
                                        <p:attrNameLst>
                                          <p:attrName>style.visibility</p:attrName>
                                        </p:attrNameLst>
                                      </p:cBhvr>
                                      <p:to>
                                        <p:strVal val="visible"/>
                                      </p:to>
                                    </p:set>
                                    <p:anim calcmode="lin" valueType="num">
                                      <p:cBhvr additive="base">
                                        <p:cTn id="89" dur="550" fill="hold"/>
                                        <p:tgtEl>
                                          <p:spTgt spid="24"/>
                                        </p:tgtEl>
                                        <p:attrNameLst>
                                          <p:attrName>ppt_y</p:attrName>
                                        </p:attrNameLst>
                                      </p:cBhvr>
                                      <p:tavLst>
                                        <p:tav tm="0">
                                          <p:val>
                                            <p:strVal val="#ppt_y+0.07"/>
                                          </p:val>
                                        </p:tav>
                                        <p:tav tm="100000">
                                          <p:val>
                                            <p:strVal val="#ppt_y"/>
                                          </p:val>
                                        </p:tav>
                                      </p:tavLst>
                                    </p:anim>
                                    <p:animEffect transition="in" filter="fade">
                                      <p:cBhvr>
                                        <p:cTn id="90" dur="550"/>
                                        <p:tgtEl>
                                          <p:spTgt spid="24"/>
                                        </p:tgtEl>
                                      </p:cBhvr>
                                    </p:animEffect>
                                  </p:childTnLst>
                                </p:cTn>
                              </p:par>
                              <p:par>
                                <p:cTn id="95" presetID="2" presetClass="entr" presetSubtype="4" fill="hold" grpId="0" nodeType="withEffect">
                                  <p:stCondLst>
                                    <p:cond delay="1162"/>
                                  </p:stCondLst>
                                  <p:childTnLst>
                                    <p:set>
                                      <p:cBhvr>
                                        <p:cTn id="92" dur="1" fill="hold">
                                          <p:stCondLst>
                                            <p:cond delay="0"/>
                                          </p:stCondLst>
                                        </p:cTn>
                                        <p:tgtEl>
                                          <p:spTgt spid="25"/>
                                        </p:tgtEl>
                                        <p:attrNameLst>
                                          <p:attrName>style.visibility</p:attrName>
                                        </p:attrNameLst>
                                      </p:cBhvr>
                                      <p:to>
                                        <p:strVal val="visible"/>
                                      </p:to>
                                    </p:set>
                                    <p:anim calcmode="lin" valueType="num">
                                      <p:cBhvr additive="base">
                                        <p:cTn id="93" dur="550" fill="hold"/>
                                        <p:tgtEl>
                                          <p:spTgt spid="25"/>
                                        </p:tgtEl>
                                        <p:attrNameLst>
                                          <p:attrName>ppt_y</p:attrName>
                                        </p:attrNameLst>
                                      </p:cBhvr>
                                      <p:tavLst>
                                        <p:tav tm="0">
                                          <p:val>
                                            <p:strVal val="#ppt_y+0.07"/>
                                          </p:val>
                                        </p:tav>
                                        <p:tav tm="100000">
                                          <p:val>
                                            <p:strVal val="#ppt_y"/>
                                          </p:val>
                                        </p:tav>
                                      </p:tavLst>
                                    </p:anim>
                                    <p:animEffect transition="in" filter="fade">
                                      <p:cBhvr>
                                        <p:cTn id="94" dur="550"/>
                                        <p:tgtEl>
                                          <p:spTgt spid="25"/>
                                        </p:tgtEl>
                                      </p:cBhvr>
                                    </p:animEffect>
                                  </p:childTnLst>
                                </p:cTn>
                              </p:par>
                              <p:par>
                                <p:cTn id="99" presetID="2" presetClass="entr" presetSubtype="4" fill="hold" grpId="0" nodeType="withEffect">
                                  <p:stCondLst>
                                    <p:cond delay="1222"/>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50" fill="hold"/>
                                        <p:tgtEl>
                                          <p:spTgt spid="26"/>
                                        </p:tgtEl>
                                        <p:attrNameLst>
                                          <p:attrName>ppt_y</p:attrName>
                                        </p:attrNameLst>
                                      </p:cBhvr>
                                      <p:tavLst>
                                        <p:tav tm="0">
                                          <p:val>
                                            <p:strVal val="#ppt_y+0.07"/>
                                          </p:val>
                                        </p:tav>
                                        <p:tav tm="100000">
                                          <p:val>
                                            <p:strVal val="#ppt_y"/>
                                          </p:val>
                                        </p:tav>
                                      </p:tavLst>
                                    </p:anim>
                                    <p:animEffect transition="in" filter="fade">
                                      <p:cBhvr>
                                        <p:cTn id="98" dur="550"/>
                                        <p:tgtEl>
                                          <p:spTgt spid="26"/>
                                        </p:tgtEl>
                                      </p:cBhvr>
                                    </p:animEffect>
                                  </p:childTnLst>
                                </p:cTn>
                              </p:par>
                              <p:par>
                                <p:cTn id="103" presetID="2" presetClass="entr" presetSubtype="4" fill="hold" grpId="0" nodeType="withEffect">
                                  <p:stCondLst>
                                    <p:cond delay="1245"/>
                                  </p:stCondLst>
                                  <p:childTnLst>
                                    <p:set>
                                      <p:cBhvr>
                                        <p:cTn id="100" dur="1" fill="hold">
                                          <p:stCondLst>
                                            <p:cond delay="0"/>
                                          </p:stCondLst>
                                        </p:cTn>
                                        <p:tgtEl>
                                          <p:spTgt spid="27"/>
                                        </p:tgtEl>
                                        <p:attrNameLst>
                                          <p:attrName>style.visibility</p:attrName>
                                        </p:attrNameLst>
                                      </p:cBhvr>
                                      <p:to>
                                        <p:strVal val="visible"/>
                                      </p:to>
                                    </p:set>
                                    <p:anim calcmode="lin" valueType="num">
                                      <p:cBhvr additive="base">
                                        <p:cTn id="101" dur="550" fill="hold"/>
                                        <p:tgtEl>
                                          <p:spTgt spid="27"/>
                                        </p:tgtEl>
                                        <p:attrNameLst>
                                          <p:attrName>ppt_y</p:attrName>
                                        </p:attrNameLst>
                                      </p:cBhvr>
                                      <p:tavLst>
                                        <p:tav tm="0">
                                          <p:val>
                                            <p:strVal val="#ppt_y+0.07"/>
                                          </p:val>
                                        </p:tav>
                                        <p:tav tm="100000">
                                          <p:val>
                                            <p:strVal val="#ppt_y"/>
                                          </p:val>
                                        </p:tav>
                                      </p:tavLst>
                                    </p:anim>
                                    <p:animEffect transition="in" filter="fade">
                                      <p:cBhvr>
                                        <p:cTn id="102" dur="550"/>
                                        <p:tgtEl>
                                          <p:spTgt spid="27"/>
                                        </p:tgtEl>
                                      </p:cBhvr>
                                    </p:animEffect>
                                  </p:childTnLst>
                                </p:cTn>
                              </p:par>
                              <p:par>
                                <p:cTn id="107" presetID="2" presetClass="entr" presetSubtype="4" fill="hold" grpId="0" nodeType="withEffect">
                                  <p:stCondLst>
                                    <p:cond delay="1328"/>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50" fill="hold"/>
                                        <p:tgtEl>
                                          <p:spTgt spid="28"/>
                                        </p:tgtEl>
                                        <p:attrNameLst>
                                          <p:attrName>ppt_y</p:attrName>
                                        </p:attrNameLst>
                                      </p:cBhvr>
                                      <p:tavLst>
                                        <p:tav tm="0">
                                          <p:val>
                                            <p:strVal val="#ppt_y+0.07"/>
                                          </p:val>
                                        </p:tav>
                                        <p:tav tm="100000">
                                          <p:val>
                                            <p:strVal val="#ppt_y"/>
                                          </p:val>
                                        </p:tav>
                                      </p:tavLst>
                                    </p:anim>
                                    <p:animEffect transition="in" filter="fade">
                                      <p:cBhvr>
                                        <p:cTn id="106" dur="550"/>
                                        <p:tgtEl>
                                          <p:spTgt spid="28"/>
                                        </p:tgtEl>
                                      </p:cBhvr>
                                    </p:animEffect>
                                  </p:childTnLst>
                                </p:cTn>
                              </p:par>
                              <p:par>
                                <p:cTn id="111" presetID="2" presetClass="entr" presetSubtype="4" fill="hold" grpId="0" nodeType="withEffect">
                                  <p:stCondLst>
                                    <p:cond delay="1388"/>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50" fill="hold"/>
                                        <p:tgtEl>
                                          <p:spTgt spid="29"/>
                                        </p:tgtEl>
                                        <p:attrNameLst>
                                          <p:attrName>ppt_y</p:attrName>
                                        </p:attrNameLst>
                                      </p:cBhvr>
                                      <p:tavLst>
                                        <p:tav tm="0">
                                          <p:val>
                                            <p:strVal val="#ppt_y+0.07"/>
                                          </p:val>
                                        </p:tav>
                                        <p:tav tm="100000">
                                          <p:val>
                                            <p:strVal val="#ppt_y"/>
                                          </p:val>
                                        </p:tav>
                                      </p:tavLst>
                                    </p:anim>
                                    <p:animEffect transition="in" filter="fade">
                                      <p:cBhvr>
                                        <p:cTn id="110" dur="550"/>
                                        <p:tgtEl>
                                          <p:spTgt spid="29"/>
                                        </p:tgtEl>
                                      </p:cBhvr>
                                    </p:animEffect>
                                  </p:childTnLst>
                                </p:cTn>
                              </p:par>
                              <p:par>
                                <p:cTn id="115" presetID="2" presetClass="entr" presetSubtype="4" fill="hold" grpId="0" nodeType="withEffect">
                                  <p:stCondLst>
                                    <p:cond delay="1411"/>
                                  </p:stCondLst>
                                  <p:childTnLst>
                                    <p:set>
                                      <p:cBhvr>
                                        <p:cTn id="112" dur="1" fill="hold">
                                          <p:stCondLst>
                                            <p:cond delay="0"/>
                                          </p:stCondLst>
                                        </p:cTn>
                                        <p:tgtEl>
                                          <p:spTgt spid="30"/>
                                        </p:tgtEl>
                                        <p:attrNameLst>
                                          <p:attrName>style.visibility</p:attrName>
                                        </p:attrNameLst>
                                      </p:cBhvr>
                                      <p:to>
                                        <p:strVal val="visible"/>
                                      </p:to>
                                    </p:set>
                                    <p:anim calcmode="lin" valueType="num">
                                      <p:cBhvr additive="base">
                                        <p:cTn id="113" dur="550" fill="hold"/>
                                        <p:tgtEl>
                                          <p:spTgt spid="30"/>
                                        </p:tgtEl>
                                        <p:attrNameLst>
                                          <p:attrName>ppt_y</p:attrName>
                                        </p:attrNameLst>
                                      </p:cBhvr>
                                      <p:tavLst>
                                        <p:tav tm="0">
                                          <p:val>
                                            <p:strVal val="#ppt_y+0.07"/>
                                          </p:val>
                                        </p:tav>
                                        <p:tav tm="100000">
                                          <p:val>
                                            <p:strVal val="#ppt_y"/>
                                          </p:val>
                                        </p:tav>
                                      </p:tavLst>
                                    </p:anim>
                                    <p:animEffect transition="in" filter="fade">
                                      <p:cBhvr>
                                        <p:cTn id="114" dur="550"/>
                                        <p:tgtEl>
                                          <p:spTgt spid="30"/>
                                        </p:tgtEl>
                                      </p:cBhvr>
                                    </p:animEffect>
                                  </p:childTnLst>
                                </p:cTn>
                              </p:par>
                              <p:par>
                                <p:cTn id="119" presetID="2" presetClass="entr" presetSubtype="4" fill="hold" grpId="0" nodeType="withEffect">
                                  <p:stCondLst>
                                    <p:cond delay="1494"/>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50" fill="hold"/>
                                        <p:tgtEl>
                                          <p:spTgt spid="31"/>
                                        </p:tgtEl>
                                        <p:attrNameLst>
                                          <p:attrName>ppt_y</p:attrName>
                                        </p:attrNameLst>
                                      </p:cBhvr>
                                      <p:tavLst>
                                        <p:tav tm="0">
                                          <p:val>
                                            <p:strVal val="#ppt_y+0.07"/>
                                          </p:val>
                                        </p:tav>
                                        <p:tav tm="100000">
                                          <p:val>
                                            <p:strVal val="#ppt_y"/>
                                          </p:val>
                                        </p:tav>
                                      </p:tavLst>
                                    </p:anim>
                                    <p:animEffect transition="in" filter="fade">
                                      <p:cBhvr>
                                        <p:cTn id="118" dur="550"/>
                                        <p:tgtEl>
                                          <p:spTgt spid="31"/>
                                        </p:tgtEl>
                                      </p:cBhvr>
                                    </p:animEffect>
                                  </p:childTnLst>
                                </p:cTn>
                              </p:par>
                              <p:par>
                                <p:cTn id="123" presetID="2" presetClass="entr" presetSubtype="4" fill="hold" grpId="0" nodeType="withEffect">
                                  <p:stCondLst>
                                    <p:cond delay="1554"/>
                                  </p:stCondLst>
                                  <p:childTnLst>
                                    <p:set>
                                      <p:cBhvr>
                                        <p:cTn id="120" dur="1" fill="hold">
                                          <p:stCondLst>
                                            <p:cond delay="0"/>
                                          </p:stCondLst>
                                        </p:cTn>
                                        <p:tgtEl>
                                          <p:spTgt spid="32"/>
                                        </p:tgtEl>
                                        <p:attrNameLst>
                                          <p:attrName>style.visibility</p:attrName>
                                        </p:attrNameLst>
                                      </p:cBhvr>
                                      <p:to>
                                        <p:strVal val="visible"/>
                                      </p:to>
                                    </p:set>
                                    <p:anim calcmode="lin" valueType="num">
                                      <p:cBhvr additive="base">
                                        <p:cTn id="121" dur="550" fill="hold"/>
                                        <p:tgtEl>
                                          <p:spTgt spid="32"/>
                                        </p:tgtEl>
                                        <p:attrNameLst>
                                          <p:attrName>ppt_y</p:attrName>
                                        </p:attrNameLst>
                                      </p:cBhvr>
                                      <p:tavLst>
                                        <p:tav tm="0">
                                          <p:val>
                                            <p:strVal val="#ppt_y+0.07"/>
                                          </p:val>
                                        </p:tav>
                                        <p:tav tm="100000">
                                          <p:val>
                                            <p:strVal val="#ppt_y"/>
                                          </p:val>
                                        </p:tav>
                                      </p:tavLst>
                                    </p:anim>
                                    <p:animEffect transition="in" filter="fade">
                                      <p:cBhvr>
                                        <p:cTn id="122" dur="550"/>
                                        <p:tgtEl>
                                          <p:spTgt spid="32"/>
                                        </p:tgtEl>
                                      </p:cBhvr>
                                    </p:animEffect>
                                  </p:childTnLst>
                                </p:cTn>
                              </p:par>
                              <p:par>
                                <p:cTn id="127" presetID="2" presetClass="entr" presetSubtype="4" fill="hold" grpId="0" nodeType="withEffect">
                                  <p:stCondLst>
                                    <p:cond delay="1577"/>
                                  </p:stCondLst>
                                  <p:childTnLst>
                                    <p:set>
                                      <p:cBhvr>
                                        <p:cTn id="124" dur="1" fill="hold">
                                          <p:stCondLst>
                                            <p:cond delay="0"/>
                                          </p:stCondLst>
                                        </p:cTn>
                                        <p:tgtEl>
                                          <p:spTgt spid="33"/>
                                        </p:tgtEl>
                                        <p:attrNameLst>
                                          <p:attrName>style.visibility</p:attrName>
                                        </p:attrNameLst>
                                      </p:cBhvr>
                                      <p:to>
                                        <p:strVal val="visible"/>
                                      </p:to>
                                    </p:set>
                                    <p:anim calcmode="lin" valueType="num">
                                      <p:cBhvr additive="base">
                                        <p:cTn id="125" dur="550" fill="hold"/>
                                        <p:tgtEl>
                                          <p:spTgt spid="33"/>
                                        </p:tgtEl>
                                        <p:attrNameLst>
                                          <p:attrName>ppt_y</p:attrName>
                                        </p:attrNameLst>
                                      </p:cBhvr>
                                      <p:tavLst>
                                        <p:tav tm="0">
                                          <p:val>
                                            <p:strVal val="#ppt_y+0.07"/>
                                          </p:val>
                                        </p:tav>
                                        <p:tav tm="100000">
                                          <p:val>
                                            <p:strVal val="#ppt_y"/>
                                          </p:val>
                                        </p:tav>
                                      </p:tavLst>
                                    </p:anim>
                                    <p:animEffect transition="in" filter="fade">
                                      <p:cBhvr>
                                        <p:cTn id="126" dur="550"/>
                                        <p:tgtEl>
                                          <p:spTgt spid="33"/>
                                        </p:tgtEl>
                                      </p:cBhvr>
                                    </p:animEffect>
                                  </p:childTnLst>
                                </p:cTn>
                              </p:par>
                              <p:par>
                                <p:cTn id="131" presetID="2" presetClass="entr" presetSubtype="4" fill="hold" grpId="0" nodeType="withEffect">
                                  <p:stCondLst>
                                    <p:cond delay="1660"/>
                                  </p:stCondLst>
                                  <p:childTnLst>
                                    <p:set>
                                      <p:cBhvr>
                                        <p:cTn id="128" dur="1" fill="hold">
                                          <p:stCondLst>
                                            <p:cond delay="0"/>
                                          </p:stCondLst>
                                        </p:cTn>
                                        <p:tgtEl>
                                          <p:spTgt spid="34"/>
                                        </p:tgtEl>
                                        <p:attrNameLst>
                                          <p:attrName>style.visibility</p:attrName>
                                        </p:attrNameLst>
                                      </p:cBhvr>
                                      <p:to>
                                        <p:strVal val="visible"/>
                                      </p:to>
                                    </p:set>
                                    <p:anim calcmode="lin" valueType="num">
                                      <p:cBhvr additive="base">
                                        <p:cTn id="129" dur="550" fill="hold"/>
                                        <p:tgtEl>
                                          <p:spTgt spid="34"/>
                                        </p:tgtEl>
                                        <p:attrNameLst>
                                          <p:attrName>ppt_y</p:attrName>
                                        </p:attrNameLst>
                                      </p:cBhvr>
                                      <p:tavLst>
                                        <p:tav tm="0">
                                          <p:val>
                                            <p:strVal val="#ppt_y+0.07"/>
                                          </p:val>
                                        </p:tav>
                                        <p:tav tm="100000">
                                          <p:val>
                                            <p:strVal val="#ppt_y"/>
                                          </p:val>
                                        </p:tav>
                                      </p:tavLst>
                                    </p:anim>
                                    <p:animEffect transition="in" filter="fade">
                                      <p:cBhvr>
                                        <p:cTn id="130" dur="550"/>
                                        <p:tgtEl>
                                          <p:spTgt spid="34"/>
                                        </p:tgtEl>
                                      </p:cBhvr>
                                    </p:animEffect>
                                  </p:childTnLst>
                                </p:cTn>
                              </p:par>
                              <p:par>
                                <p:cTn id="135" presetID="2" presetClass="entr" presetSubtype="4" fill="hold" grpId="0" nodeType="withEffect">
                                  <p:stCondLst>
                                    <p:cond delay="1720"/>
                                  </p:stCondLst>
                                  <p:childTnLst>
                                    <p:set>
                                      <p:cBhvr>
                                        <p:cTn id="132" dur="1" fill="hold">
                                          <p:stCondLst>
                                            <p:cond delay="0"/>
                                          </p:stCondLst>
                                        </p:cTn>
                                        <p:tgtEl>
                                          <p:spTgt spid="35"/>
                                        </p:tgtEl>
                                        <p:attrNameLst>
                                          <p:attrName>style.visibility</p:attrName>
                                        </p:attrNameLst>
                                      </p:cBhvr>
                                      <p:to>
                                        <p:strVal val="visible"/>
                                      </p:to>
                                    </p:set>
                                    <p:anim calcmode="lin" valueType="num">
                                      <p:cBhvr additive="base">
                                        <p:cTn id="133" dur="550" fill="hold"/>
                                        <p:tgtEl>
                                          <p:spTgt spid="35"/>
                                        </p:tgtEl>
                                        <p:attrNameLst>
                                          <p:attrName>ppt_y</p:attrName>
                                        </p:attrNameLst>
                                      </p:cBhvr>
                                      <p:tavLst>
                                        <p:tav tm="0">
                                          <p:val>
                                            <p:strVal val="#ppt_y+0.07"/>
                                          </p:val>
                                        </p:tav>
                                        <p:tav tm="100000">
                                          <p:val>
                                            <p:strVal val="#ppt_y"/>
                                          </p:val>
                                        </p:tav>
                                      </p:tavLst>
                                    </p:anim>
                                    <p:animEffect transition="in" filter="fade">
                                      <p:cBhvr>
                                        <p:cTn id="134" dur="550"/>
                                        <p:tgtEl>
                                          <p:spTgt spid="35"/>
                                        </p:tgtEl>
                                      </p:cBhvr>
                                    </p:animEffect>
                                  </p:childTnLst>
                                </p:cTn>
                              </p:par>
                              <p:par>
                                <p:cTn id="140" presetID="53" presetClass="entr" presetSubtype="16" fill="hold" grpId="0" nodeType="withEffect">
                                  <p:stCondLst>
                                    <p:cond delay="1743"/>
                                  </p:stCondLst>
                                  <p:childTnLst>
                                    <p:set>
                                      <p:cBhvr>
                                        <p:cTn id="136" dur="1" fill="hold">
                                          <p:stCondLst>
                                            <p:cond delay="0"/>
                                          </p:stCondLst>
                                        </p:cTn>
                                        <p:tgtEl>
                                          <p:spTgt spid="36"/>
                                        </p:tgtEl>
                                        <p:attrNameLst>
                                          <p:attrName>style.visibility</p:attrName>
                                        </p:attrNameLst>
                                      </p:cBhvr>
                                      <p:to>
                                        <p:strVal val="visible"/>
                                      </p:to>
                                    </p:set>
                                    <p:anim calcmode="lin" valueType="num">
                                      <p:cBhvr additive="base">
                                        <p:cTn id="137" dur="550" fill="hold"/>
                                        <p:tgtEl>
                                          <p:spTgt spid="36"/>
                                        </p:tgtEl>
                                        <p:attrNameLst>
                                          <p:attrName>ppt_w</p:attrName>
                                        </p:attrNameLst>
                                      </p:cBhvr>
                                      <p:tavLst>
                                        <p:tav tm="0">
                                          <p:val>
                                            <p:fltVal val="0"/>
                                          </p:val>
                                        </p:tav>
                                        <p:tav tm="100000">
                                          <p:val>
                                            <p:strVal val="#ppt_w"/>
                                          </p:val>
                                        </p:tav>
                                      </p:tavLst>
                                    </p:anim>
                                    <p:anim calcmode="lin" valueType="num">
                                      <p:cBhvr additive="base">
                                        <p:cTn id="138" dur="550" fill="hold"/>
                                        <p:tgtEl>
                                          <p:spTgt spid="36"/>
                                        </p:tgtEl>
                                        <p:attrNameLst>
                                          <p:attrName>ppt_h</p:attrName>
                                        </p:attrNameLst>
                                      </p:cBhvr>
                                      <p:tavLst>
                                        <p:tav tm="0">
                                          <p:val>
                                            <p:fltVal val="0"/>
                                          </p:val>
                                        </p:tav>
                                        <p:tav tm="100000">
                                          <p:val>
                                            <p:strVal val="#ppt_h"/>
                                          </p:val>
                                        </p:tav>
                                      </p:tavLst>
                                    </p:anim>
                                    <p:animEffect transition="in" filter="fade">
                                      <p:cBhvr>
                                        <p:cTn id="139" dur="550"/>
                                        <p:tgtEl>
                                          <p:spTgt spid="36"/>
                                        </p:tgtEl>
                                      </p:cBhvr>
                                    </p:animEffect>
                                  </p:childTnLst>
                                </p:cTn>
                              </p:par>
                              <p:par>
                                <p:cTn id="144" presetID="2" presetClass="entr" presetSubtype="4" fill="hold" grpId="0" nodeType="withEffect">
                                  <p:stCondLst>
                                    <p:cond delay="1826"/>
                                  </p:stCondLst>
                                  <p:childTnLst>
                                    <p:set>
                                      <p:cBhvr>
                                        <p:cTn id="141" dur="1" fill="hold">
                                          <p:stCondLst>
                                            <p:cond delay="0"/>
                                          </p:stCondLst>
                                        </p:cTn>
                                        <p:tgtEl>
                                          <p:spTgt spid="37"/>
                                        </p:tgtEl>
                                        <p:attrNameLst>
                                          <p:attrName>style.visibility</p:attrName>
                                        </p:attrNameLst>
                                      </p:cBhvr>
                                      <p:to>
                                        <p:strVal val="visible"/>
                                      </p:to>
                                    </p:set>
                                    <p:anim calcmode="lin" valueType="num">
                                      <p:cBhvr additive="base">
                                        <p:cTn id="142" dur="550" fill="hold"/>
                                        <p:tgtEl>
                                          <p:spTgt spid="37"/>
                                        </p:tgtEl>
                                        <p:attrNameLst>
                                          <p:attrName>ppt_y</p:attrName>
                                        </p:attrNameLst>
                                      </p:cBhvr>
                                      <p:tavLst>
                                        <p:tav tm="0">
                                          <p:val>
                                            <p:strVal val="#ppt_y+0.07"/>
                                          </p:val>
                                        </p:tav>
                                        <p:tav tm="100000">
                                          <p:val>
                                            <p:strVal val="#ppt_y"/>
                                          </p:val>
                                        </p:tav>
                                      </p:tavLst>
                                    </p:anim>
                                    <p:animEffect transition="in" filter="fade">
                                      <p:cBhvr>
                                        <p:cTn id="143" dur="550"/>
                                        <p:tgtEl>
                                          <p:spTgt spid="37"/>
                                        </p:tgtEl>
                                      </p:cBhvr>
                                    </p:animEffect>
                                  </p:childTnLst>
                                </p:cTn>
                              </p:par>
                              <p:par>
                                <p:cTn id="148" presetID="2" presetClass="entr" presetSubtype="4" fill="hold" grpId="0" nodeType="withEffect">
                                  <p:stCondLst>
                                    <p:cond delay="1909"/>
                                  </p:stCondLst>
                                  <p:childTnLst>
                                    <p:set>
                                      <p:cBhvr>
                                        <p:cTn id="145" dur="1" fill="hold">
                                          <p:stCondLst>
                                            <p:cond delay="0"/>
                                          </p:stCondLst>
                                        </p:cTn>
                                        <p:tgtEl>
                                          <p:spTgt spid="38"/>
                                        </p:tgtEl>
                                        <p:attrNameLst>
                                          <p:attrName>style.visibility</p:attrName>
                                        </p:attrNameLst>
                                      </p:cBhvr>
                                      <p:to>
                                        <p:strVal val="visible"/>
                                      </p:to>
                                    </p:set>
                                    <p:anim calcmode="lin" valueType="num">
                                      <p:cBhvr additive="base">
                                        <p:cTn id="146" dur="550" fill="hold"/>
                                        <p:tgtEl>
                                          <p:spTgt spid="38"/>
                                        </p:tgtEl>
                                        <p:attrNameLst>
                                          <p:attrName>ppt_y</p:attrName>
                                        </p:attrNameLst>
                                      </p:cBhvr>
                                      <p:tavLst>
                                        <p:tav tm="0">
                                          <p:val>
                                            <p:strVal val="#ppt_y+0.07"/>
                                          </p:val>
                                        </p:tav>
                                        <p:tav tm="100000">
                                          <p:val>
                                            <p:strVal val="#ppt_y"/>
                                          </p:val>
                                        </p:tav>
                                      </p:tavLst>
                                    </p:anim>
                                    <p:animEffect transition="in" filter="fade">
                                      <p:cBhvr>
                                        <p:cTn id="147" dur="550"/>
                                        <p:tgtEl>
                                          <p:spTgt spid="38"/>
                                        </p:tgtEl>
                                      </p:cBhvr>
                                    </p:animEffect>
                                  </p:childTnLst>
                                </p:cTn>
                              </p:par>
                              <p:par>
                                <p:cTn id="152" presetID="2" presetClass="entr" presetSubtype="4" fill="hold" grpId="0" nodeType="withEffect">
                                  <p:stCondLst>
                                    <p:cond delay="1992"/>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50" fill="hold"/>
                                        <p:tgtEl>
                                          <p:spTgt spid="39"/>
                                        </p:tgtEl>
                                        <p:attrNameLst>
                                          <p:attrName>ppt_y</p:attrName>
                                        </p:attrNameLst>
                                      </p:cBhvr>
                                      <p:tavLst>
                                        <p:tav tm="0">
                                          <p:val>
                                            <p:strVal val="#ppt_y+0.07"/>
                                          </p:val>
                                        </p:tav>
                                        <p:tav tm="100000">
                                          <p:val>
                                            <p:strVal val="#ppt_y"/>
                                          </p:val>
                                        </p:tav>
                                      </p:tavLst>
                                    </p:anim>
                                    <p:animEffect transition="in" filter="fade">
                                      <p:cBhvr>
                                        <p:cTn id="151" dur="550"/>
                                        <p:tgtEl>
                                          <p:spTgt spid="39"/>
                                        </p:tgtEl>
                                      </p:cBhvr>
                                    </p:animEffect>
                                  </p:childTnLst>
                                </p:cTn>
                              </p:par>
                              <p:par>
                                <p:cTn id="156" presetID="2" presetClass="entr" presetSubtype="4" fill="hold" grpId="0" nodeType="withEffect">
                                  <p:stCondLst>
                                    <p:cond delay="2052"/>
                                  </p:stCondLst>
                                  <p:childTnLst>
                                    <p:set>
                                      <p:cBhvr>
                                        <p:cTn id="153" dur="1" fill="hold">
                                          <p:stCondLst>
                                            <p:cond delay="0"/>
                                          </p:stCondLst>
                                        </p:cTn>
                                        <p:tgtEl>
                                          <p:spTgt spid="40"/>
                                        </p:tgtEl>
                                        <p:attrNameLst>
                                          <p:attrName>style.visibility</p:attrName>
                                        </p:attrNameLst>
                                      </p:cBhvr>
                                      <p:to>
                                        <p:strVal val="visible"/>
                                      </p:to>
                                    </p:set>
                                    <p:anim calcmode="lin" valueType="num">
                                      <p:cBhvr additive="base">
                                        <p:cTn id="154" dur="550" fill="hold"/>
                                        <p:tgtEl>
                                          <p:spTgt spid="40"/>
                                        </p:tgtEl>
                                        <p:attrNameLst>
                                          <p:attrName>ppt_y</p:attrName>
                                        </p:attrNameLst>
                                      </p:cBhvr>
                                      <p:tavLst>
                                        <p:tav tm="0">
                                          <p:val>
                                            <p:strVal val="#ppt_y+0.07"/>
                                          </p:val>
                                        </p:tav>
                                        <p:tav tm="100000">
                                          <p:val>
                                            <p:strVal val="#ppt_y"/>
                                          </p:val>
                                        </p:tav>
                                      </p:tavLst>
                                    </p:anim>
                                    <p:animEffect transition="in" filter="fade">
                                      <p:cBhvr>
                                        <p:cTn id="155" dur="550"/>
                                        <p:tgtEl>
                                          <p:spTgt spid="40"/>
                                        </p:tgtEl>
                                      </p:cBhvr>
                                    </p:animEffect>
                                  </p:childTnLst>
                                </p:cTn>
                              </p:par>
                              <p:par>
                                <p:cTn id="160" presetID="2" presetClass="entr" presetSubtype="4" fill="hold" grpId="0" nodeType="withEffect">
                                  <p:stCondLst>
                                    <p:cond delay="2075"/>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50" fill="hold"/>
                                        <p:tgtEl>
                                          <p:spTgt spid="41"/>
                                        </p:tgtEl>
                                        <p:attrNameLst>
                                          <p:attrName>ppt_y</p:attrName>
                                        </p:attrNameLst>
                                      </p:cBhvr>
                                      <p:tavLst>
                                        <p:tav tm="0">
                                          <p:val>
                                            <p:strVal val="#ppt_y+0.07"/>
                                          </p:val>
                                        </p:tav>
                                        <p:tav tm="100000">
                                          <p:val>
                                            <p:strVal val="#ppt_y"/>
                                          </p:val>
                                        </p:tav>
                                      </p:tavLst>
                                    </p:anim>
                                    <p:animEffect transition="in" filter="fade">
                                      <p:cBhvr>
                                        <p:cTn id="159" dur="550"/>
                                        <p:tgtEl>
                                          <p:spTgt spid="41"/>
                                        </p:tgtEl>
                                      </p:cBhvr>
                                    </p:animEffect>
                                  </p:childTnLst>
                                </p:cTn>
                              </p:par>
                              <p:par>
                                <p:cTn id="164" presetID="2" presetClass="entr" presetSubtype="4" fill="hold" grpId="0" nodeType="withEffect">
                                  <p:stCondLst>
                                    <p:cond delay="2158"/>
                                  </p:stCondLst>
                                  <p:childTnLst>
                                    <p:set>
                                      <p:cBhvr>
                                        <p:cTn id="161" dur="1" fill="hold">
                                          <p:stCondLst>
                                            <p:cond delay="0"/>
                                          </p:stCondLst>
                                        </p:cTn>
                                        <p:tgtEl>
                                          <p:spTgt spid="42"/>
                                        </p:tgtEl>
                                        <p:attrNameLst>
                                          <p:attrName>style.visibility</p:attrName>
                                        </p:attrNameLst>
                                      </p:cBhvr>
                                      <p:to>
                                        <p:strVal val="visible"/>
                                      </p:to>
                                    </p:set>
                                    <p:anim calcmode="lin" valueType="num">
                                      <p:cBhvr additive="base">
                                        <p:cTn id="162" dur="550" fill="hold"/>
                                        <p:tgtEl>
                                          <p:spTgt spid="42"/>
                                        </p:tgtEl>
                                        <p:attrNameLst>
                                          <p:attrName>ppt_y</p:attrName>
                                        </p:attrNameLst>
                                      </p:cBhvr>
                                      <p:tavLst>
                                        <p:tav tm="0">
                                          <p:val>
                                            <p:strVal val="#ppt_y+0.07"/>
                                          </p:val>
                                        </p:tav>
                                        <p:tav tm="100000">
                                          <p:val>
                                            <p:strVal val="#ppt_y"/>
                                          </p:val>
                                        </p:tav>
                                      </p:tavLst>
                                    </p:anim>
                                    <p:animEffect transition="in" filter="fade">
                                      <p:cBhvr>
                                        <p:cTn id="163" dur="550"/>
                                        <p:tgtEl>
                                          <p:spTgt spid="42"/>
                                        </p:tgtEl>
                                      </p:cBhvr>
                                    </p:animEffect>
                                  </p:childTnLst>
                                </p:cTn>
                              </p:par>
                              <p:par>
                                <p:cTn id="168" presetID="2" presetClass="entr" presetSubtype="4" fill="hold" grpId="0" nodeType="withEffect">
                                  <p:stCondLst>
                                    <p:cond delay="2218"/>
                                  </p:stCondLst>
                                  <p:childTnLst>
                                    <p:set>
                                      <p:cBhvr>
                                        <p:cTn id="165" dur="1" fill="hold">
                                          <p:stCondLst>
                                            <p:cond delay="0"/>
                                          </p:stCondLst>
                                        </p:cTn>
                                        <p:tgtEl>
                                          <p:spTgt spid="43"/>
                                        </p:tgtEl>
                                        <p:attrNameLst>
                                          <p:attrName>style.visibility</p:attrName>
                                        </p:attrNameLst>
                                      </p:cBhvr>
                                      <p:to>
                                        <p:strVal val="visible"/>
                                      </p:to>
                                    </p:set>
                                    <p:anim calcmode="lin" valueType="num">
                                      <p:cBhvr additive="base">
                                        <p:cTn id="166" dur="550" fill="hold"/>
                                        <p:tgtEl>
                                          <p:spTgt spid="43"/>
                                        </p:tgtEl>
                                        <p:attrNameLst>
                                          <p:attrName>ppt_y</p:attrName>
                                        </p:attrNameLst>
                                      </p:cBhvr>
                                      <p:tavLst>
                                        <p:tav tm="0">
                                          <p:val>
                                            <p:strVal val="#ppt_y+0.07"/>
                                          </p:val>
                                        </p:tav>
                                        <p:tav tm="100000">
                                          <p:val>
                                            <p:strVal val="#ppt_y"/>
                                          </p:val>
                                        </p:tav>
                                      </p:tavLst>
                                    </p:anim>
                                    <p:animEffect transition="in" filter="fade">
                                      <p:cBhvr>
                                        <p:cTn id="167" dur="550"/>
                                        <p:tgtEl>
                                          <p:spTgt spid="43"/>
                                        </p:tgtEl>
                                      </p:cBhvr>
                                    </p:animEffect>
                                  </p:childTnLst>
                                </p:cTn>
                              </p:par>
                              <p:par>
                                <p:cTn id="172" presetID="2" presetClass="entr" presetSubtype="4" fill="hold" grpId="0" nodeType="withEffect">
                                  <p:stCondLst>
                                    <p:cond delay="2241"/>
                                  </p:stCondLst>
                                  <p:childTnLst>
                                    <p:set>
                                      <p:cBhvr>
                                        <p:cTn id="169" dur="1" fill="hold">
                                          <p:stCondLst>
                                            <p:cond delay="0"/>
                                          </p:stCondLst>
                                        </p:cTn>
                                        <p:tgtEl>
                                          <p:spTgt spid="44"/>
                                        </p:tgtEl>
                                        <p:attrNameLst>
                                          <p:attrName>style.visibility</p:attrName>
                                        </p:attrNameLst>
                                      </p:cBhvr>
                                      <p:to>
                                        <p:strVal val="visible"/>
                                      </p:to>
                                    </p:set>
                                    <p:anim calcmode="lin" valueType="num">
                                      <p:cBhvr additive="base">
                                        <p:cTn id="170" dur="550" fill="hold"/>
                                        <p:tgtEl>
                                          <p:spTgt spid="44"/>
                                        </p:tgtEl>
                                        <p:attrNameLst>
                                          <p:attrName>ppt_y</p:attrName>
                                        </p:attrNameLst>
                                      </p:cBhvr>
                                      <p:tavLst>
                                        <p:tav tm="0">
                                          <p:val>
                                            <p:strVal val="#ppt_y+0.07"/>
                                          </p:val>
                                        </p:tav>
                                        <p:tav tm="100000">
                                          <p:val>
                                            <p:strVal val="#ppt_y"/>
                                          </p:val>
                                        </p:tav>
                                      </p:tavLst>
                                    </p:anim>
                                    <p:animEffect transition="in" filter="fade">
                                      <p:cBhvr>
                                        <p:cTn id="171" dur="550"/>
                                        <p:tgtEl>
                                          <p:spTgt spid="44"/>
                                        </p:tgtEl>
                                      </p:cBhvr>
                                    </p:animEffect>
                                  </p:childTnLst>
                                </p:cTn>
                              </p:par>
                              <p:par>
                                <p:cTn id="176" presetID="2" presetClass="entr" presetSubtype="4" fill="hold" grpId="0" nodeType="withEffect">
                                  <p:stCondLst>
                                    <p:cond delay="2324"/>
                                  </p:stCondLst>
                                  <p:childTnLst>
                                    <p:set>
                                      <p:cBhvr>
                                        <p:cTn id="173" dur="1" fill="hold">
                                          <p:stCondLst>
                                            <p:cond delay="0"/>
                                          </p:stCondLst>
                                        </p:cTn>
                                        <p:tgtEl>
                                          <p:spTgt spid="45"/>
                                        </p:tgtEl>
                                        <p:attrNameLst>
                                          <p:attrName>style.visibility</p:attrName>
                                        </p:attrNameLst>
                                      </p:cBhvr>
                                      <p:to>
                                        <p:strVal val="visible"/>
                                      </p:to>
                                    </p:set>
                                    <p:anim calcmode="lin" valueType="num">
                                      <p:cBhvr additive="base">
                                        <p:cTn id="174" dur="550" fill="hold"/>
                                        <p:tgtEl>
                                          <p:spTgt spid="45"/>
                                        </p:tgtEl>
                                        <p:attrNameLst>
                                          <p:attrName>ppt_y</p:attrName>
                                        </p:attrNameLst>
                                      </p:cBhvr>
                                      <p:tavLst>
                                        <p:tav tm="0">
                                          <p:val>
                                            <p:strVal val="#ppt_y+0.07"/>
                                          </p:val>
                                        </p:tav>
                                        <p:tav tm="100000">
                                          <p:val>
                                            <p:strVal val="#ppt_y"/>
                                          </p:val>
                                        </p:tav>
                                      </p:tavLst>
                                    </p:anim>
                                    <p:animEffect transition="in" filter="fade">
                                      <p:cBhvr>
                                        <p:cTn id="175" dur="550"/>
                                        <p:tgtEl>
                                          <p:spTgt spid="45"/>
                                        </p:tgtEl>
                                      </p:cBhvr>
                                    </p:animEffect>
                                  </p:childTnLst>
                                </p:cTn>
                              </p:par>
                              <p:par>
                                <p:cTn id="180" presetID="2" presetClass="entr" presetSubtype="4" fill="hold" grpId="0" nodeType="withEffect">
                                  <p:stCondLst>
                                    <p:cond delay="2384"/>
                                  </p:stCondLst>
                                  <p:childTnLst>
                                    <p:set>
                                      <p:cBhvr>
                                        <p:cTn id="177" dur="1" fill="hold">
                                          <p:stCondLst>
                                            <p:cond delay="0"/>
                                          </p:stCondLst>
                                        </p:cTn>
                                        <p:tgtEl>
                                          <p:spTgt spid="46"/>
                                        </p:tgtEl>
                                        <p:attrNameLst>
                                          <p:attrName>style.visibility</p:attrName>
                                        </p:attrNameLst>
                                      </p:cBhvr>
                                      <p:to>
                                        <p:strVal val="visible"/>
                                      </p:to>
                                    </p:set>
                                    <p:anim calcmode="lin" valueType="num">
                                      <p:cBhvr additive="base">
                                        <p:cTn id="178" dur="550" fill="hold"/>
                                        <p:tgtEl>
                                          <p:spTgt spid="46"/>
                                        </p:tgtEl>
                                        <p:attrNameLst>
                                          <p:attrName>ppt_y</p:attrName>
                                        </p:attrNameLst>
                                      </p:cBhvr>
                                      <p:tavLst>
                                        <p:tav tm="0">
                                          <p:val>
                                            <p:strVal val="#ppt_y+0.07"/>
                                          </p:val>
                                        </p:tav>
                                        <p:tav tm="100000">
                                          <p:val>
                                            <p:strVal val="#ppt_y"/>
                                          </p:val>
                                        </p:tav>
                                      </p:tavLst>
                                    </p:anim>
                                    <p:animEffect transition="in" filter="fade">
                                      <p:cBhvr>
                                        <p:cTn id="179" dur="550"/>
                                        <p:tgtEl>
                                          <p:spTgt spid="46"/>
                                        </p:tgtEl>
                                      </p:cBhvr>
                                    </p:animEffect>
                                  </p:childTnLst>
                                </p:cTn>
                              </p:par>
                              <p:par>
                                <p:cTn id="184" presetID="2" presetClass="entr" presetSubtype="4" fill="hold" grpId="0" nodeType="withEffect">
                                  <p:stCondLst>
                                    <p:cond delay="2407"/>
                                  </p:stCondLst>
                                  <p:childTnLst>
                                    <p:set>
                                      <p:cBhvr>
                                        <p:cTn id="181" dur="1" fill="hold">
                                          <p:stCondLst>
                                            <p:cond delay="0"/>
                                          </p:stCondLst>
                                        </p:cTn>
                                        <p:tgtEl>
                                          <p:spTgt spid="47"/>
                                        </p:tgtEl>
                                        <p:attrNameLst>
                                          <p:attrName>style.visibility</p:attrName>
                                        </p:attrNameLst>
                                      </p:cBhvr>
                                      <p:to>
                                        <p:strVal val="visible"/>
                                      </p:to>
                                    </p:set>
                                    <p:anim calcmode="lin" valueType="num">
                                      <p:cBhvr additive="base">
                                        <p:cTn id="182" dur="550" fill="hold"/>
                                        <p:tgtEl>
                                          <p:spTgt spid="47"/>
                                        </p:tgtEl>
                                        <p:attrNameLst>
                                          <p:attrName>ppt_y</p:attrName>
                                        </p:attrNameLst>
                                      </p:cBhvr>
                                      <p:tavLst>
                                        <p:tav tm="0">
                                          <p:val>
                                            <p:strVal val="#ppt_y+0.07"/>
                                          </p:val>
                                        </p:tav>
                                        <p:tav tm="100000">
                                          <p:val>
                                            <p:strVal val="#ppt_y"/>
                                          </p:val>
                                        </p:tav>
                                      </p:tavLst>
                                    </p:anim>
                                    <p:animEffect transition="in" filter="fade">
                                      <p:cBhvr>
                                        <p:cTn id="183" dur="550"/>
                                        <p:tgtEl>
                                          <p:spTgt spid="47"/>
                                        </p:tgtEl>
                                      </p:cBhvr>
                                    </p:animEffect>
                                  </p:childTnLst>
                                </p:cTn>
                              </p:par>
                              <p:par>
                                <p:cTn id="188" presetID="2" presetClass="entr" presetSubtype="4" fill="hold" grpId="0" nodeType="withEffect">
                                  <p:stCondLst>
                                    <p:cond delay="2490"/>
                                  </p:stCondLst>
                                  <p:childTnLst>
                                    <p:set>
                                      <p:cBhvr>
                                        <p:cTn id="185" dur="1" fill="hold">
                                          <p:stCondLst>
                                            <p:cond delay="0"/>
                                          </p:stCondLst>
                                        </p:cTn>
                                        <p:tgtEl>
                                          <p:spTgt spid="48"/>
                                        </p:tgtEl>
                                        <p:attrNameLst>
                                          <p:attrName>style.visibility</p:attrName>
                                        </p:attrNameLst>
                                      </p:cBhvr>
                                      <p:to>
                                        <p:strVal val="visible"/>
                                      </p:to>
                                    </p:set>
                                    <p:anim calcmode="lin" valueType="num">
                                      <p:cBhvr additive="base">
                                        <p:cTn id="186" dur="550" fill="hold"/>
                                        <p:tgtEl>
                                          <p:spTgt spid="48"/>
                                        </p:tgtEl>
                                        <p:attrNameLst>
                                          <p:attrName>ppt_y</p:attrName>
                                        </p:attrNameLst>
                                      </p:cBhvr>
                                      <p:tavLst>
                                        <p:tav tm="0">
                                          <p:val>
                                            <p:strVal val="#ppt_y+0.07"/>
                                          </p:val>
                                        </p:tav>
                                        <p:tav tm="100000">
                                          <p:val>
                                            <p:strVal val="#ppt_y"/>
                                          </p:val>
                                        </p:tav>
                                      </p:tavLst>
                                    </p:anim>
                                    <p:animEffect transition="in" filter="fade">
                                      <p:cBhvr>
                                        <p:cTn id="187" dur="550"/>
                                        <p:tgtEl>
                                          <p:spTgt spid="48"/>
                                        </p:tgtEl>
                                      </p:cBhvr>
                                    </p:animEffect>
                                  </p:childTnLst>
                                </p:cTn>
                              </p:par>
                              <p:par>
                                <p:cTn id="192" presetID="2" presetClass="entr" presetSubtype="4" fill="hold" grpId="0" nodeType="withEffect">
                                  <p:stCondLst>
                                    <p:cond delay="2550"/>
                                  </p:stCondLst>
                                  <p:childTnLst>
                                    <p:set>
                                      <p:cBhvr>
                                        <p:cTn id="189" dur="1" fill="hold">
                                          <p:stCondLst>
                                            <p:cond delay="0"/>
                                          </p:stCondLst>
                                        </p:cTn>
                                        <p:tgtEl>
                                          <p:spTgt spid="49"/>
                                        </p:tgtEl>
                                        <p:attrNameLst>
                                          <p:attrName>style.visibility</p:attrName>
                                        </p:attrNameLst>
                                      </p:cBhvr>
                                      <p:to>
                                        <p:strVal val="visible"/>
                                      </p:to>
                                    </p:set>
                                    <p:anim calcmode="lin" valueType="num">
                                      <p:cBhvr additive="base">
                                        <p:cTn id="190" dur="550" fill="hold"/>
                                        <p:tgtEl>
                                          <p:spTgt spid="49"/>
                                        </p:tgtEl>
                                        <p:attrNameLst>
                                          <p:attrName>ppt_y</p:attrName>
                                        </p:attrNameLst>
                                      </p:cBhvr>
                                      <p:tavLst>
                                        <p:tav tm="0">
                                          <p:val>
                                            <p:strVal val="#ppt_y+0.07"/>
                                          </p:val>
                                        </p:tav>
                                        <p:tav tm="100000">
                                          <p:val>
                                            <p:strVal val="#ppt_y"/>
                                          </p:val>
                                        </p:tav>
                                      </p:tavLst>
                                    </p:anim>
                                    <p:animEffect transition="in" filter="fade">
                                      <p:cBhvr>
                                        <p:cTn id="191" dur="5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tx1"/>
                </a:solidFill>
              </a:rPr>
              <a:t>Impact &amp; future scope</a:t>
            </a:r>
            <a:endParaRPr lang="en-US" sz="3600" dirty="0"/>
          </a:p>
        </p:txBody>
      </p:sp>
      <p:sp>
        <p:nvSpPr>
          <p:cNvPr id="3" name="Text 1"/>
          <p:cNvSpPr txBox="1"/>
          <p:nvPr/>
        </p:nvSpPr>
        <p:spPr>
          <a:xfrm>
            <a:off x="640080" y="1554480"/>
            <a:ext cx="6309360" cy="411480"/>
          </a:xfrm>
          <a:prstGeom prst="rect">
            <a:avLst/>
          </a:prstGeom>
          <a:noFill/>
          <a:ln/>
        </p:spPr>
        <p:txBody>
          <a:bodyPr wrap="square" lIns="0" tIns="0" rIns="0" bIns="0" rtlCol="0" anchor="ctr"/>
          <a:lstStyle/>
          <a:p>
            <a:pPr marL="0" indent="0">
              <a:buNone/>
            </a:pPr>
            <a:r>
              <a:rPr lang="en-US" sz="2200" b="1" dirty="0">
                <a:solidFill>
                  <a:schemeClr val="accent1"/>
                </a:solidFill>
                <a:latin typeface="Arial" pitchFamily="34" charset="0"/>
                <a:ea typeface="Arial" pitchFamily="34" charset="-122"/>
                <a:cs typeface="Arial" pitchFamily="34" charset="-120"/>
              </a:rPr>
              <a:t>Impact</a:t>
            </a:r>
            <a:endParaRPr lang="en-US" sz="2200" dirty="0"/>
          </a:p>
        </p:txBody>
      </p:sp>
      <p:sp>
        <p:nvSpPr>
          <p:cNvPr id="4" name="Less waste row"/>
          <p:cNvSpPr/>
          <p:nvPr/>
        </p:nvSpPr>
        <p:spPr>
          <a:xfrm>
            <a:off x="640080" y="2103120"/>
            <a:ext cx="6309360" cy="1143000"/>
          </a:xfrm>
          <a:prstGeom prst="roundRect">
            <a:avLst>
              <a:gd name="adj" fmla="val 9600"/>
            </a:avLst>
          </a:prstGeom>
          <a:solidFill>
            <a:schemeClr val="bg2"/>
          </a:solidFill>
          <a:ln/>
        </p:spPr>
      </p:sp>
      <p:sp>
        <p:nvSpPr>
          <p:cNvPr id="5" name="Less waste circle"/>
          <p:cNvSpPr/>
          <p:nvPr/>
        </p:nvSpPr>
        <p:spPr>
          <a:xfrm>
            <a:off x="960120" y="2308860"/>
            <a:ext cx="731520" cy="731520"/>
          </a:xfrm>
          <a:prstGeom prst="ellipse">
            <a:avLst/>
          </a:prstGeom>
          <a:solidFill>
            <a:schemeClr val="accent1"/>
          </a:solidFill>
          <a:ln/>
        </p:spPr>
      </p:sp>
      <p:pic>
        <p:nvPicPr>
          <p:cNvPr id="6" name="Image 0" descr="Less waste"/>
          <p:cNvPicPr>
            <a:picLocks noChangeAspect="1"/>
          </p:cNvPicPr>
          <p:nvPr/>
        </p:nvPicPr>
        <p:blipFill>
          <a:blip r:embed="rId3"/>
          <a:stretch>
            <a:fillRect/>
          </a:stretch>
        </p:blipFill>
        <p:spPr>
          <a:xfrm>
            <a:off x="1143000" y="2491740"/>
            <a:ext cx="365760" cy="365760"/>
          </a:xfrm>
          <a:prstGeom prst="rect">
            <a:avLst/>
          </a:prstGeom>
        </p:spPr>
      </p:pic>
      <p:sp>
        <p:nvSpPr>
          <p:cNvPr id="7" name="Text 4"/>
          <p:cNvSpPr txBox="1"/>
          <p:nvPr/>
        </p:nvSpPr>
        <p:spPr>
          <a:xfrm>
            <a:off x="1965960" y="2240280"/>
            <a:ext cx="4754880" cy="411480"/>
          </a:xfrm>
          <a:prstGeom prst="rect">
            <a:avLst/>
          </a:prstGeom>
          <a:noFill/>
          <a:ln/>
        </p:spPr>
        <p:txBody>
          <a:bodyPr wrap="square" lIns="0" tIns="0" rIns="0" bIns="0" rtlCol="0" anchor="ctr"/>
          <a:lstStyle/>
          <a:p>
            <a:pPr marL="0" indent="0">
              <a:buNone/>
            </a:pPr>
            <a:r>
              <a:rPr lang="en-US" sz="2000" b="1" dirty="0">
                <a:solidFill>
                  <a:schemeClr val="tx1"/>
                </a:solidFill>
                <a:latin typeface="Arial" pitchFamily="34" charset="0"/>
                <a:ea typeface="Arial" pitchFamily="34" charset="-122"/>
                <a:cs typeface="Arial" pitchFamily="34" charset="-120"/>
              </a:rPr>
              <a:t>Less waste</a:t>
            </a:r>
            <a:endParaRPr lang="en-US" sz="2000" dirty="0"/>
          </a:p>
        </p:txBody>
      </p:sp>
      <p:sp>
        <p:nvSpPr>
          <p:cNvPr id="8" name="Text 5"/>
          <p:cNvSpPr txBox="1"/>
          <p:nvPr/>
        </p:nvSpPr>
        <p:spPr>
          <a:xfrm>
            <a:off x="1965960" y="2670048"/>
            <a:ext cx="4754880" cy="457200"/>
          </a:xfrm>
          <a:prstGeom prst="rect">
            <a:avLst/>
          </a:prstGeom>
          <a:noFill/>
          <a:ln/>
        </p:spPr>
        <p:txBody>
          <a:bodyPr wrap="square" lIns="0" tIns="0" rIns="0" bIns="0" rtlCol="0" anchor="t"/>
          <a:lstStyle/>
          <a:p>
            <a:pPr marL="0" indent="0">
              <a:buNone/>
            </a:pPr>
            <a:r>
              <a:rPr lang="en-US" sz="1600" dirty="0">
                <a:solidFill>
                  <a:schemeClr val="tx2"/>
                </a:solidFill>
              </a:rPr>
              <a:t>Energy follows real occupancy, not fixed schedules</a:t>
            </a:r>
            <a:endParaRPr lang="en-US" sz="1600" dirty="0"/>
          </a:p>
        </p:txBody>
      </p:sp>
      <p:sp>
        <p:nvSpPr>
          <p:cNvPr id="9" name="Lower costs row"/>
          <p:cNvSpPr/>
          <p:nvPr/>
        </p:nvSpPr>
        <p:spPr>
          <a:xfrm>
            <a:off x="640080" y="3429000"/>
            <a:ext cx="6309360" cy="1143000"/>
          </a:xfrm>
          <a:prstGeom prst="roundRect">
            <a:avLst>
              <a:gd name="adj" fmla="val 9600"/>
            </a:avLst>
          </a:prstGeom>
          <a:solidFill>
            <a:schemeClr val="bg2"/>
          </a:solidFill>
          <a:ln/>
        </p:spPr>
      </p:sp>
      <p:sp>
        <p:nvSpPr>
          <p:cNvPr id="10" name="Lower costs circle"/>
          <p:cNvSpPr/>
          <p:nvPr/>
        </p:nvSpPr>
        <p:spPr>
          <a:xfrm>
            <a:off x="960120" y="3634740"/>
            <a:ext cx="731520" cy="731520"/>
          </a:xfrm>
          <a:prstGeom prst="ellipse">
            <a:avLst/>
          </a:prstGeom>
          <a:solidFill>
            <a:schemeClr val="accent1"/>
          </a:solidFill>
          <a:ln/>
        </p:spPr>
      </p:sp>
      <p:pic>
        <p:nvPicPr>
          <p:cNvPr id="11" name="Image 1" descr="Lower costs"/>
          <p:cNvPicPr>
            <a:picLocks noChangeAspect="1"/>
          </p:cNvPicPr>
          <p:nvPr/>
        </p:nvPicPr>
        <p:blipFill>
          <a:blip r:embed="rId4"/>
          <a:stretch>
            <a:fillRect/>
          </a:stretch>
        </p:blipFill>
        <p:spPr>
          <a:xfrm>
            <a:off x="1143000" y="3817620"/>
            <a:ext cx="365760" cy="365760"/>
          </a:xfrm>
          <a:prstGeom prst="rect">
            <a:avLst/>
          </a:prstGeom>
        </p:spPr>
      </p:pic>
      <p:sp>
        <p:nvSpPr>
          <p:cNvPr id="12" name="Text 8"/>
          <p:cNvSpPr txBox="1"/>
          <p:nvPr/>
        </p:nvSpPr>
        <p:spPr>
          <a:xfrm>
            <a:off x="1965960" y="3566160"/>
            <a:ext cx="4754880" cy="411480"/>
          </a:xfrm>
          <a:prstGeom prst="rect">
            <a:avLst/>
          </a:prstGeom>
          <a:noFill/>
          <a:ln/>
        </p:spPr>
        <p:txBody>
          <a:bodyPr wrap="square" lIns="0" tIns="0" rIns="0" bIns="0" rtlCol="0" anchor="ctr"/>
          <a:lstStyle/>
          <a:p>
            <a:pPr marL="0" indent="0">
              <a:buNone/>
            </a:pPr>
            <a:r>
              <a:rPr lang="en-US" sz="2000" b="1" dirty="0">
                <a:solidFill>
                  <a:schemeClr val="tx1"/>
                </a:solidFill>
                <a:latin typeface="Arial" pitchFamily="34" charset="0"/>
                <a:ea typeface="Arial" pitchFamily="34" charset="-122"/>
                <a:cs typeface="Arial" pitchFamily="34" charset="-120"/>
              </a:rPr>
              <a:t>Lower costs</a:t>
            </a:r>
            <a:endParaRPr lang="en-US" sz="2000" dirty="0"/>
          </a:p>
        </p:txBody>
      </p:sp>
      <p:sp>
        <p:nvSpPr>
          <p:cNvPr id="13" name="Text 9"/>
          <p:cNvSpPr txBox="1"/>
          <p:nvPr/>
        </p:nvSpPr>
        <p:spPr>
          <a:xfrm>
            <a:off x="1965960" y="3995928"/>
            <a:ext cx="4754880" cy="457200"/>
          </a:xfrm>
          <a:prstGeom prst="rect">
            <a:avLst/>
          </a:prstGeom>
          <a:noFill/>
          <a:ln/>
        </p:spPr>
        <p:txBody>
          <a:bodyPr wrap="square" lIns="0" tIns="0" rIns="0" bIns="0" rtlCol="0" anchor="t"/>
          <a:lstStyle/>
          <a:p>
            <a:pPr marL="0" indent="0">
              <a:buNone/>
            </a:pPr>
            <a:r>
              <a:rPr lang="en-US" sz="1600" dirty="0">
                <a:solidFill>
                  <a:schemeClr val="tx2"/>
                </a:solidFill>
              </a:rPr>
              <a:t>Fewer failures and fewer unnecessary bin pickups</a:t>
            </a:r>
            <a:endParaRPr lang="en-US" sz="1600" dirty="0"/>
          </a:p>
        </p:txBody>
      </p:sp>
      <p:sp>
        <p:nvSpPr>
          <p:cNvPr id="14" name="Greener campus row"/>
          <p:cNvSpPr/>
          <p:nvPr/>
        </p:nvSpPr>
        <p:spPr>
          <a:xfrm>
            <a:off x="640080" y="4754880"/>
            <a:ext cx="6309360" cy="1143000"/>
          </a:xfrm>
          <a:prstGeom prst="roundRect">
            <a:avLst>
              <a:gd name="adj" fmla="val 9600"/>
            </a:avLst>
          </a:prstGeom>
          <a:solidFill>
            <a:schemeClr val="bg2"/>
          </a:solidFill>
          <a:ln/>
        </p:spPr>
      </p:sp>
      <p:sp>
        <p:nvSpPr>
          <p:cNvPr id="15" name="Greener campus circle"/>
          <p:cNvSpPr/>
          <p:nvPr/>
        </p:nvSpPr>
        <p:spPr>
          <a:xfrm>
            <a:off x="960120" y="4960620"/>
            <a:ext cx="731520" cy="731520"/>
          </a:xfrm>
          <a:prstGeom prst="ellipse">
            <a:avLst/>
          </a:prstGeom>
          <a:solidFill>
            <a:schemeClr val="accent1"/>
          </a:solidFill>
          <a:ln/>
        </p:spPr>
      </p:sp>
      <p:pic>
        <p:nvPicPr>
          <p:cNvPr id="16" name="Image 2" descr="Greener campus"/>
          <p:cNvPicPr>
            <a:picLocks noChangeAspect="1"/>
          </p:cNvPicPr>
          <p:nvPr/>
        </p:nvPicPr>
        <p:blipFill>
          <a:blip r:embed="rId5"/>
          <a:stretch>
            <a:fillRect/>
          </a:stretch>
        </p:blipFill>
        <p:spPr>
          <a:xfrm>
            <a:off x="1143000" y="5143500"/>
            <a:ext cx="365760" cy="365760"/>
          </a:xfrm>
          <a:prstGeom prst="rect">
            <a:avLst/>
          </a:prstGeom>
        </p:spPr>
      </p:pic>
      <p:sp>
        <p:nvSpPr>
          <p:cNvPr id="17" name="Text 12"/>
          <p:cNvSpPr txBox="1"/>
          <p:nvPr/>
        </p:nvSpPr>
        <p:spPr>
          <a:xfrm>
            <a:off x="1965960" y="4892040"/>
            <a:ext cx="4754880" cy="411480"/>
          </a:xfrm>
          <a:prstGeom prst="rect">
            <a:avLst/>
          </a:prstGeom>
          <a:noFill/>
          <a:ln/>
        </p:spPr>
        <p:txBody>
          <a:bodyPr wrap="square" lIns="0" tIns="0" rIns="0" bIns="0" rtlCol="0" anchor="ctr"/>
          <a:lstStyle/>
          <a:p>
            <a:pPr marL="0" indent="0">
              <a:buNone/>
            </a:pPr>
            <a:r>
              <a:rPr lang="en-US" sz="2000" b="1" dirty="0">
                <a:solidFill>
                  <a:schemeClr val="tx1"/>
                </a:solidFill>
                <a:latin typeface="Arial" pitchFamily="34" charset="0"/>
                <a:ea typeface="Arial" pitchFamily="34" charset="-122"/>
                <a:cs typeface="Arial" pitchFamily="34" charset="-120"/>
              </a:rPr>
              <a:t>Greener campus</a:t>
            </a:r>
            <a:endParaRPr lang="en-US" sz="2000" dirty="0"/>
          </a:p>
        </p:txBody>
      </p:sp>
      <p:sp>
        <p:nvSpPr>
          <p:cNvPr id="18" name="Text 13"/>
          <p:cNvSpPr txBox="1"/>
          <p:nvPr/>
        </p:nvSpPr>
        <p:spPr>
          <a:xfrm>
            <a:off x="1965960" y="5321808"/>
            <a:ext cx="4754880" cy="457200"/>
          </a:xfrm>
          <a:prstGeom prst="rect">
            <a:avLst/>
          </a:prstGeom>
          <a:noFill/>
          <a:ln/>
        </p:spPr>
        <p:txBody>
          <a:bodyPr wrap="square" lIns="0" tIns="0" rIns="0" bIns="0" rtlCol="0" anchor="t"/>
          <a:lstStyle/>
          <a:p>
            <a:pPr marL="0" indent="0">
              <a:buNone/>
            </a:pPr>
            <a:r>
              <a:rPr lang="en-US" sz="1600" dirty="0">
                <a:solidFill>
                  <a:schemeClr val="tx2"/>
                </a:solidFill>
              </a:rPr>
              <a:t>Students compete to cut dorm energy use</a:t>
            </a:r>
            <a:endParaRPr lang="en-US" sz="1600" dirty="0"/>
          </a:p>
        </p:txBody>
      </p:sp>
      <p:sp>
        <p:nvSpPr>
          <p:cNvPr id="19" name="Future card"/>
          <p:cNvSpPr/>
          <p:nvPr/>
        </p:nvSpPr>
        <p:spPr>
          <a:xfrm>
            <a:off x="7406640" y="1554480"/>
            <a:ext cx="4142232" cy="4526280"/>
          </a:xfrm>
          <a:prstGeom prst="roundRect">
            <a:avLst>
              <a:gd name="adj" fmla="val 3311"/>
            </a:avLst>
          </a:prstGeom>
          <a:solidFill>
            <a:schemeClr val="tx1"/>
          </a:solidFill>
          <a:ln/>
        </p:spPr>
      </p:sp>
      <p:sp>
        <p:nvSpPr>
          <p:cNvPr id="20" name="Roadmap circle"/>
          <p:cNvSpPr/>
          <p:nvPr/>
        </p:nvSpPr>
        <p:spPr>
          <a:xfrm>
            <a:off x="7818120" y="1874520"/>
            <a:ext cx="822960" cy="822960"/>
          </a:xfrm>
          <a:prstGeom prst="ellipse">
            <a:avLst/>
          </a:prstGeom>
          <a:solidFill>
            <a:schemeClr val="accent1"/>
          </a:solidFill>
          <a:ln/>
        </p:spPr>
      </p:sp>
      <p:pic>
        <p:nvPicPr>
          <p:cNvPr id="21" name="Image 3" descr="Roadmap"/>
          <p:cNvPicPr>
            <a:picLocks noChangeAspect="1"/>
          </p:cNvPicPr>
          <p:nvPr/>
        </p:nvPicPr>
        <p:blipFill>
          <a:blip r:embed="rId6"/>
          <a:stretch>
            <a:fillRect/>
          </a:stretch>
        </p:blipFill>
        <p:spPr>
          <a:xfrm>
            <a:off x="8023860" y="2080260"/>
            <a:ext cx="411480" cy="411480"/>
          </a:xfrm>
          <a:prstGeom prst="rect">
            <a:avLst/>
          </a:prstGeom>
        </p:spPr>
      </p:pic>
      <p:sp>
        <p:nvSpPr>
          <p:cNvPr id="22" name="Text 16"/>
          <p:cNvSpPr txBox="1"/>
          <p:nvPr/>
        </p:nvSpPr>
        <p:spPr>
          <a:xfrm>
            <a:off x="7726680" y="2880360"/>
            <a:ext cx="3566160" cy="457200"/>
          </a:xfrm>
          <a:prstGeom prst="rect">
            <a:avLst/>
          </a:prstGeom>
          <a:noFill/>
          <a:ln/>
        </p:spPr>
        <p:txBody>
          <a:bodyPr wrap="square" lIns="0" tIns="0" rIns="0" bIns="0" rtlCol="0" anchor="ctr"/>
          <a:lstStyle/>
          <a:p>
            <a:pPr marL="0" indent="0">
              <a:buNone/>
            </a:pPr>
            <a:r>
              <a:rPr lang="en-US" sz="2200" b="1" dirty="0">
                <a:solidFill>
                  <a:schemeClr val="bg1"/>
                </a:solidFill>
                <a:latin typeface="Arial" pitchFamily="34" charset="0"/>
                <a:ea typeface="Arial" pitchFamily="34" charset="-122"/>
                <a:cs typeface="Arial" pitchFamily="34" charset="-120"/>
              </a:rPr>
              <a:t>Future scope</a:t>
            </a:r>
            <a:endParaRPr lang="en-US" sz="2200" dirty="0"/>
          </a:p>
        </p:txBody>
      </p:sp>
      <p:sp>
        <p:nvSpPr>
          <p:cNvPr id="23" name="Text 17"/>
          <p:cNvSpPr txBox="1"/>
          <p:nvPr/>
        </p:nvSpPr>
        <p:spPr>
          <a:xfrm>
            <a:off x="7726680" y="3474720"/>
            <a:ext cx="3520440" cy="23774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Scale to multi-campus and smart-city districts</a:t>
            </a:r>
            <a:endParaRPr lang="en-US" sz="1800" dirty="0"/>
          </a:p>
          <a:p>
            <a:pPr marL="342900" indent="-342900">
              <a:spcAft>
                <a:spcPts val="1400"/>
              </a:spcAft>
              <a:buSzPct val="100000"/>
              <a:buChar char="•"/>
            </a:pPr>
            <a:r>
              <a:rPr lang="en-US" sz="1800" dirty="0">
                <a:solidFill>
                  <a:schemeClr val="bg1"/>
                </a:solidFill>
              </a:rPr>
              <a:t>Extend to water and renewable-energy optimization</a:t>
            </a:r>
            <a:endParaRPr lang="en-US" sz="1800" dirty="0"/>
          </a:p>
        </p:txBody>
      </p:sp>
      <p:sp>
        <p:nvSpPr>
          <p:cNvPr id="2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1"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4" presetID="2" presetClass="entr" presetSubtype="4" fill="hold" grpId="0" nodeType="withEffect">
                                  <p:stCondLst>
                                    <p:cond delay="3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ppt_y</p:attrName>
                                        </p:attrNameLst>
                                      </p:cBhvr>
                                      <p:tavLst>
                                        <p:tav tm="0">
                                          <p:val>
                                            <p:strVal val="#ppt_y+0.07"/>
                                          </p:val>
                                        </p:tav>
                                        <p:tav tm="100000">
                                          <p:val>
                                            <p:strVal val="#ppt_y"/>
                                          </p:val>
                                        </p:tav>
                                      </p:tavLst>
                                    </p:anim>
                                    <p:animEffect transition="in" filter="fade">
                                      <p:cBhvr>
                                        <p:cTn id="13" dur="550"/>
                                        <p:tgtEl>
                                          <p:spTgt spid="4"/>
                                        </p:tgtEl>
                                      </p:cBhvr>
                                    </p:animEffect>
                                  </p:childTnLst>
                                </p:cTn>
                              </p:par>
                              <p:par>
                                <p:cTn id="19" presetID="53" presetClass="entr" presetSubtype="16" fill="hold" grpId="0" nodeType="withEffect">
                                  <p:stCondLst>
                                    <p:cond delay="36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50" fill="hold"/>
                                        <p:tgtEl>
                                          <p:spTgt spid="5"/>
                                        </p:tgtEl>
                                        <p:attrNameLst>
                                          <p:attrName>ppt_w</p:attrName>
                                        </p:attrNameLst>
                                      </p:cBhvr>
                                      <p:tavLst>
                                        <p:tav tm="0">
                                          <p:val>
                                            <p:fltVal val="0"/>
                                          </p:val>
                                        </p:tav>
                                        <p:tav tm="100000">
                                          <p:val>
                                            <p:strVal val="#ppt_w"/>
                                          </p:val>
                                        </p:tav>
                                      </p:tavLst>
                                    </p:anim>
                                    <p:anim calcmode="lin" valueType="num">
                                      <p:cBhvr additive="base">
                                        <p:cTn id="17" dur="550" fill="hold"/>
                                        <p:tgtEl>
                                          <p:spTgt spid="5"/>
                                        </p:tgtEl>
                                        <p:attrNameLst>
                                          <p:attrName>ppt_h</p:attrName>
                                        </p:attrNameLst>
                                      </p:cBhvr>
                                      <p:tavLst>
                                        <p:tav tm="0">
                                          <p:val>
                                            <p:fltVal val="0"/>
                                          </p:val>
                                        </p:tav>
                                        <p:tav tm="100000">
                                          <p:val>
                                            <p:strVal val="#ppt_h"/>
                                          </p:val>
                                        </p:tav>
                                      </p:tavLst>
                                    </p:anim>
                                    <p:animEffect transition="in" filter="fade">
                                      <p:cBhvr>
                                        <p:cTn id="18" dur="550"/>
                                        <p:tgtEl>
                                          <p:spTgt spid="5"/>
                                        </p:tgtEl>
                                      </p:cBhvr>
                                    </p:animEffect>
                                  </p:childTnLst>
                                </p:cTn>
                              </p:par>
                              <p:par>
                                <p:cTn id="24" presetID="53" presetClass="entr" presetSubtype="16" fill="hold" grpId="0" nodeType="withEffect">
                                  <p:stCondLst>
                                    <p:cond delay="36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50" fill="hold"/>
                                        <p:tgtEl>
                                          <p:spTgt spid="6"/>
                                        </p:tgtEl>
                                        <p:attrNameLst>
                                          <p:attrName>ppt_w</p:attrName>
                                        </p:attrNameLst>
                                      </p:cBhvr>
                                      <p:tavLst>
                                        <p:tav tm="0">
                                          <p:val>
                                            <p:fltVal val="0"/>
                                          </p:val>
                                        </p:tav>
                                        <p:tav tm="100000">
                                          <p:val>
                                            <p:strVal val="#ppt_w"/>
                                          </p:val>
                                        </p:tav>
                                      </p:tavLst>
                                    </p:anim>
                                    <p:anim calcmode="lin" valueType="num">
                                      <p:cBhvr additive="base">
                                        <p:cTn id="22" dur="550" fill="hold"/>
                                        <p:tgtEl>
                                          <p:spTgt spid="6"/>
                                        </p:tgtEl>
                                        <p:attrNameLst>
                                          <p:attrName>ppt_h</p:attrName>
                                        </p:attrNameLst>
                                      </p:cBhvr>
                                      <p:tavLst>
                                        <p:tav tm="0">
                                          <p:val>
                                            <p:fltVal val="0"/>
                                          </p:val>
                                        </p:tav>
                                        <p:tav tm="100000">
                                          <p:val>
                                            <p:strVal val="#ppt_h"/>
                                          </p:val>
                                        </p:tav>
                                      </p:tavLst>
                                    </p:anim>
                                    <p:animEffect transition="in" filter="fade">
                                      <p:cBhvr>
                                        <p:cTn id="23" dur="550"/>
                                        <p:tgtEl>
                                          <p:spTgt spid="6"/>
                                        </p:tgtEl>
                                      </p:cBhvr>
                                    </p:animEffect>
                                  </p:childTnLst>
                                </p:cTn>
                              </p:par>
                              <p:par>
                                <p:cTn id="27" presetID="10" presetClass="entr" presetSubtype="0" fill="hold" grpId="0" nodeType="withEffect">
                                  <p:stCondLst>
                                    <p:cond delay="36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50"/>
                                        <p:tgtEl>
                                          <p:spTgt spid="7"/>
                                        </p:tgtEl>
                                      </p:cBhvr>
                                    </p:animEffect>
                                  </p:childTnLst>
                                </p:cTn>
                              </p:par>
                              <p:par>
                                <p:cTn id="30" presetID="10" presetClass="entr" presetSubtype="0" fill="hold" grpId="0" nodeType="withEffect">
                                  <p:stCondLst>
                                    <p:cond delay="36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childTnLst>
                                </p:cTn>
                              </p:par>
                              <p:par>
                                <p:cTn id="34" presetID="2" presetClass="entr" presetSubtype="4" fill="hold" grpId="0" nodeType="withEffect">
                                  <p:stCondLst>
                                    <p:cond delay="45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50" fill="hold"/>
                                        <p:tgtEl>
                                          <p:spTgt spid="9"/>
                                        </p:tgtEl>
                                        <p:attrNameLst>
                                          <p:attrName>ppt_y</p:attrName>
                                        </p:attrNameLst>
                                      </p:cBhvr>
                                      <p:tavLst>
                                        <p:tav tm="0">
                                          <p:val>
                                            <p:strVal val="#ppt_y+0.07"/>
                                          </p:val>
                                        </p:tav>
                                        <p:tav tm="100000">
                                          <p:val>
                                            <p:strVal val="#ppt_y"/>
                                          </p:val>
                                        </p:tav>
                                      </p:tavLst>
                                    </p:anim>
                                    <p:animEffect transition="in" filter="fade">
                                      <p:cBhvr>
                                        <p:cTn id="33" dur="550"/>
                                        <p:tgtEl>
                                          <p:spTgt spid="9"/>
                                        </p:tgtEl>
                                      </p:cBhvr>
                                    </p:animEffect>
                                  </p:childTnLst>
                                </p:cTn>
                              </p:par>
                              <p:par>
                                <p:cTn id="39" presetID="53" presetClass="entr" presetSubtype="16" fill="hold" grpId="0" nodeType="withEffect">
                                  <p:stCondLst>
                                    <p:cond delay="51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50" fill="hold"/>
                                        <p:tgtEl>
                                          <p:spTgt spid="10"/>
                                        </p:tgtEl>
                                        <p:attrNameLst>
                                          <p:attrName>ppt_w</p:attrName>
                                        </p:attrNameLst>
                                      </p:cBhvr>
                                      <p:tavLst>
                                        <p:tav tm="0">
                                          <p:val>
                                            <p:fltVal val="0"/>
                                          </p:val>
                                        </p:tav>
                                        <p:tav tm="100000">
                                          <p:val>
                                            <p:strVal val="#ppt_w"/>
                                          </p:val>
                                        </p:tav>
                                      </p:tavLst>
                                    </p:anim>
                                    <p:anim calcmode="lin" valueType="num">
                                      <p:cBhvr additive="base">
                                        <p:cTn id="37" dur="550" fill="hold"/>
                                        <p:tgtEl>
                                          <p:spTgt spid="10"/>
                                        </p:tgtEl>
                                        <p:attrNameLst>
                                          <p:attrName>ppt_h</p:attrName>
                                        </p:attrNameLst>
                                      </p:cBhvr>
                                      <p:tavLst>
                                        <p:tav tm="0">
                                          <p:val>
                                            <p:fltVal val="0"/>
                                          </p:val>
                                        </p:tav>
                                        <p:tav tm="100000">
                                          <p:val>
                                            <p:strVal val="#ppt_h"/>
                                          </p:val>
                                        </p:tav>
                                      </p:tavLst>
                                    </p:anim>
                                    <p:animEffect transition="in" filter="fade">
                                      <p:cBhvr>
                                        <p:cTn id="38" dur="550"/>
                                        <p:tgtEl>
                                          <p:spTgt spid="10"/>
                                        </p:tgtEl>
                                      </p:cBhvr>
                                    </p:animEffect>
                                  </p:childTnLst>
                                </p:cTn>
                              </p:par>
                              <p:par>
                                <p:cTn id="44" presetID="53" presetClass="entr" presetSubtype="16" fill="hold" grpId="0" nodeType="withEffect">
                                  <p:stCondLst>
                                    <p:cond delay="51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50" fill="hold"/>
                                        <p:tgtEl>
                                          <p:spTgt spid="11"/>
                                        </p:tgtEl>
                                        <p:attrNameLst>
                                          <p:attrName>ppt_w</p:attrName>
                                        </p:attrNameLst>
                                      </p:cBhvr>
                                      <p:tavLst>
                                        <p:tav tm="0">
                                          <p:val>
                                            <p:fltVal val="0"/>
                                          </p:val>
                                        </p:tav>
                                        <p:tav tm="100000">
                                          <p:val>
                                            <p:strVal val="#ppt_w"/>
                                          </p:val>
                                        </p:tav>
                                      </p:tavLst>
                                    </p:anim>
                                    <p:anim calcmode="lin" valueType="num">
                                      <p:cBhvr additive="base">
                                        <p:cTn id="42" dur="550" fill="hold"/>
                                        <p:tgtEl>
                                          <p:spTgt spid="11"/>
                                        </p:tgtEl>
                                        <p:attrNameLst>
                                          <p:attrName>ppt_h</p:attrName>
                                        </p:attrNameLst>
                                      </p:cBhvr>
                                      <p:tavLst>
                                        <p:tav tm="0">
                                          <p:val>
                                            <p:fltVal val="0"/>
                                          </p:val>
                                        </p:tav>
                                        <p:tav tm="100000">
                                          <p:val>
                                            <p:strVal val="#ppt_h"/>
                                          </p:val>
                                        </p:tav>
                                      </p:tavLst>
                                    </p:anim>
                                    <p:animEffect transition="in" filter="fade">
                                      <p:cBhvr>
                                        <p:cTn id="43" dur="550"/>
                                        <p:tgtEl>
                                          <p:spTgt spid="11"/>
                                        </p:tgtEl>
                                      </p:cBhvr>
                                    </p:animEffect>
                                  </p:childTnLst>
                                </p:cTn>
                              </p:par>
                              <p:par>
                                <p:cTn id="47" presetID="10" presetClass="entr" presetSubtype="0" fill="hold" grpId="0" nodeType="withEffect">
                                  <p:stCondLst>
                                    <p:cond delay="51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50"/>
                                        <p:tgtEl>
                                          <p:spTgt spid="12"/>
                                        </p:tgtEl>
                                      </p:cBhvr>
                                    </p:animEffect>
                                  </p:childTnLst>
                                </p:cTn>
                              </p:par>
                              <p:par>
                                <p:cTn id="50" presetID="10" presetClass="entr" presetSubtype="0" fill="hold" grpId="0" nodeType="withEffect">
                                  <p:stCondLst>
                                    <p:cond delay="51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50"/>
                                        <p:tgtEl>
                                          <p:spTgt spid="13"/>
                                        </p:tgtEl>
                                      </p:cBhvr>
                                    </p:animEffect>
                                  </p:childTnLst>
                                </p:cTn>
                              </p:par>
                              <p:par>
                                <p:cTn id="54" presetID="2" presetClass="entr" presetSubtype="4" fill="hold" grpId="0" nodeType="withEffect">
                                  <p:stCondLst>
                                    <p:cond delay="60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50" fill="hold"/>
                                        <p:tgtEl>
                                          <p:spTgt spid="14"/>
                                        </p:tgtEl>
                                        <p:attrNameLst>
                                          <p:attrName>ppt_y</p:attrName>
                                        </p:attrNameLst>
                                      </p:cBhvr>
                                      <p:tavLst>
                                        <p:tav tm="0">
                                          <p:val>
                                            <p:strVal val="#ppt_y+0.07"/>
                                          </p:val>
                                        </p:tav>
                                        <p:tav tm="100000">
                                          <p:val>
                                            <p:strVal val="#ppt_y"/>
                                          </p:val>
                                        </p:tav>
                                      </p:tavLst>
                                    </p:anim>
                                    <p:animEffect transition="in" filter="fade">
                                      <p:cBhvr>
                                        <p:cTn id="53" dur="550"/>
                                        <p:tgtEl>
                                          <p:spTgt spid="14"/>
                                        </p:tgtEl>
                                      </p:cBhvr>
                                    </p:animEffect>
                                  </p:childTnLst>
                                </p:cTn>
                              </p:par>
                              <p:par>
                                <p:cTn id="59" presetID="53" presetClass="entr" presetSubtype="16" fill="hold" grpId="0" nodeType="withEffect">
                                  <p:stCondLst>
                                    <p:cond delay="66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550" fill="hold"/>
                                        <p:tgtEl>
                                          <p:spTgt spid="15"/>
                                        </p:tgtEl>
                                        <p:attrNameLst>
                                          <p:attrName>ppt_w</p:attrName>
                                        </p:attrNameLst>
                                      </p:cBhvr>
                                      <p:tavLst>
                                        <p:tav tm="0">
                                          <p:val>
                                            <p:fltVal val="0"/>
                                          </p:val>
                                        </p:tav>
                                        <p:tav tm="100000">
                                          <p:val>
                                            <p:strVal val="#ppt_w"/>
                                          </p:val>
                                        </p:tav>
                                      </p:tavLst>
                                    </p:anim>
                                    <p:anim calcmode="lin" valueType="num">
                                      <p:cBhvr additive="base">
                                        <p:cTn id="57" dur="550" fill="hold"/>
                                        <p:tgtEl>
                                          <p:spTgt spid="15"/>
                                        </p:tgtEl>
                                        <p:attrNameLst>
                                          <p:attrName>ppt_h</p:attrName>
                                        </p:attrNameLst>
                                      </p:cBhvr>
                                      <p:tavLst>
                                        <p:tav tm="0">
                                          <p:val>
                                            <p:fltVal val="0"/>
                                          </p:val>
                                        </p:tav>
                                        <p:tav tm="100000">
                                          <p:val>
                                            <p:strVal val="#ppt_h"/>
                                          </p:val>
                                        </p:tav>
                                      </p:tavLst>
                                    </p:anim>
                                    <p:animEffect transition="in" filter="fade">
                                      <p:cBhvr>
                                        <p:cTn id="58" dur="550"/>
                                        <p:tgtEl>
                                          <p:spTgt spid="15"/>
                                        </p:tgtEl>
                                      </p:cBhvr>
                                    </p:animEffect>
                                  </p:childTnLst>
                                </p:cTn>
                              </p:par>
                              <p:par>
                                <p:cTn id="64" presetID="53" presetClass="entr" presetSubtype="16" fill="hold" grpId="0" nodeType="withEffect">
                                  <p:stCondLst>
                                    <p:cond delay="66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50" fill="hold"/>
                                        <p:tgtEl>
                                          <p:spTgt spid="16"/>
                                        </p:tgtEl>
                                        <p:attrNameLst>
                                          <p:attrName>ppt_w</p:attrName>
                                        </p:attrNameLst>
                                      </p:cBhvr>
                                      <p:tavLst>
                                        <p:tav tm="0">
                                          <p:val>
                                            <p:fltVal val="0"/>
                                          </p:val>
                                        </p:tav>
                                        <p:tav tm="100000">
                                          <p:val>
                                            <p:strVal val="#ppt_w"/>
                                          </p:val>
                                        </p:tav>
                                      </p:tavLst>
                                    </p:anim>
                                    <p:anim calcmode="lin" valueType="num">
                                      <p:cBhvr additive="base">
                                        <p:cTn id="62" dur="550" fill="hold"/>
                                        <p:tgtEl>
                                          <p:spTgt spid="16"/>
                                        </p:tgtEl>
                                        <p:attrNameLst>
                                          <p:attrName>ppt_h</p:attrName>
                                        </p:attrNameLst>
                                      </p:cBhvr>
                                      <p:tavLst>
                                        <p:tav tm="0">
                                          <p:val>
                                            <p:fltVal val="0"/>
                                          </p:val>
                                        </p:tav>
                                        <p:tav tm="100000">
                                          <p:val>
                                            <p:strVal val="#ppt_h"/>
                                          </p:val>
                                        </p:tav>
                                      </p:tavLst>
                                    </p:anim>
                                    <p:animEffect transition="in" filter="fade">
                                      <p:cBhvr>
                                        <p:cTn id="63" dur="550"/>
                                        <p:tgtEl>
                                          <p:spTgt spid="16"/>
                                        </p:tgtEl>
                                      </p:cBhvr>
                                    </p:animEffect>
                                  </p:childTnLst>
                                </p:cTn>
                              </p:par>
                              <p:par>
                                <p:cTn id="67" presetID="10" presetClass="entr" presetSubtype="0" fill="hold" grpId="0" nodeType="withEffect">
                                  <p:stCondLst>
                                    <p:cond delay="66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50"/>
                                        <p:tgtEl>
                                          <p:spTgt spid="17"/>
                                        </p:tgtEl>
                                      </p:cBhvr>
                                    </p:animEffect>
                                  </p:childTnLst>
                                </p:cTn>
                              </p:par>
                              <p:par>
                                <p:cTn id="70" presetID="10" presetClass="entr" presetSubtype="0" fill="hold" grpId="0" nodeType="withEffect">
                                  <p:stCondLst>
                                    <p:cond delay="66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50"/>
                                        <p:tgtEl>
                                          <p:spTgt spid="18"/>
                                        </p:tgtEl>
                                      </p:cBhvr>
                                    </p:animEffect>
                                  </p:childTnLst>
                                </p:cTn>
                              </p:par>
                              <p:par>
                                <p:cTn id="74" presetID="2" presetClass="entr" presetSubtype="4" fill="hold" grpId="0" nodeType="withEffect">
                                  <p:stCondLst>
                                    <p:cond delay="75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550" fill="hold"/>
                                        <p:tgtEl>
                                          <p:spTgt spid="19"/>
                                        </p:tgtEl>
                                        <p:attrNameLst>
                                          <p:attrName>ppt_y</p:attrName>
                                        </p:attrNameLst>
                                      </p:cBhvr>
                                      <p:tavLst>
                                        <p:tav tm="0">
                                          <p:val>
                                            <p:strVal val="#ppt_y+0.07"/>
                                          </p:val>
                                        </p:tav>
                                        <p:tav tm="100000">
                                          <p:val>
                                            <p:strVal val="#ppt_y"/>
                                          </p:val>
                                        </p:tav>
                                      </p:tavLst>
                                    </p:anim>
                                    <p:animEffect transition="in" filter="fade">
                                      <p:cBhvr>
                                        <p:cTn id="73" dur="550"/>
                                        <p:tgtEl>
                                          <p:spTgt spid="19"/>
                                        </p:tgtEl>
                                      </p:cBhvr>
                                    </p:animEffect>
                                  </p:childTnLst>
                                </p:cTn>
                              </p:par>
                              <p:par>
                                <p:cTn id="79" presetID="53" presetClass="entr" presetSubtype="16" fill="hold" grpId="0" nodeType="withEffect">
                                  <p:stCondLst>
                                    <p:cond delay="81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50" fill="hold"/>
                                        <p:tgtEl>
                                          <p:spTgt spid="20"/>
                                        </p:tgtEl>
                                        <p:attrNameLst>
                                          <p:attrName>ppt_w</p:attrName>
                                        </p:attrNameLst>
                                      </p:cBhvr>
                                      <p:tavLst>
                                        <p:tav tm="0">
                                          <p:val>
                                            <p:fltVal val="0"/>
                                          </p:val>
                                        </p:tav>
                                        <p:tav tm="100000">
                                          <p:val>
                                            <p:strVal val="#ppt_w"/>
                                          </p:val>
                                        </p:tav>
                                      </p:tavLst>
                                    </p:anim>
                                    <p:anim calcmode="lin" valueType="num">
                                      <p:cBhvr additive="base">
                                        <p:cTn id="77" dur="550" fill="hold"/>
                                        <p:tgtEl>
                                          <p:spTgt spid="20"/>
                                        </p:tgtEl>
                                        <p:attrNameLst>
                                          <p:attrName>ppt_h</p:attrName>
                                        </p:attrNameLst>
                                      </p:cBhvr>
                                      <p:tavLst>
                                        <p:tav tm="0">
                                          <p:val>
                                            <p:fltVal val="0"/>
                                          </p:val>
                                        </p:tav>
                                        <p:tav tm="100000">
                                          <p:val>
                                            <p:strVal val="#ppt_h"/>
                                          </p:val>
                                        </p:tav>
                                      </p:tavLst>
                                    </p:anim>
                                    <p:animEffect transition="in" filter="fade">
                                      <p:cBhvr>
                                        <p:cTn id="78" dur="550"/>
                                        <p:tgtEl>
                                          <p:spTgt spid="20"/>
                                        </p:tgtEl>
                                      </p:cBhvr>
                                    </p:animEffect>
                                  </p:childTnLst>
                                </p:cTn>
                              </p:par>
                              <p:par>
                                <p:cTn id="84" presetID="53" presetClass="entr" presetSubtype="16" fill="hold" grpId="0" nodeType="withEffect">
                                  <p:stCondLst>
                                    <p:cond delay="81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550" fill="hold"/>
                                        <p:tgtEl>
                                          <p:spTgt spid="21"/>
                                        </p:tgtEl>
                                        <p:attrNameLst>
                                          <p:attrName>ppt_w</p:attrName>
                                        </p:attrNameLst>
                                      </p:cBhvr>
                                      <p:tavLst>
                                        <p:tav tm="0">
                                          <p:val>
                                            <p:fltVal val="0"/>
                                          </p:val>
                                        </p:tav>
                                        <p:tav tm="100000">
                                          <p:val>
                                            <p:strVal val="#ppt_w"/>
                                          </p:val>
                                        </p:tav>
                                      </p:tavLst>
                                    </p:anim>
                                    <p:anim calcmode="lin" valueType="num">
                                      <p:cBhvr additive="base">
                                        <p:cTn id="82" dur="550" fill="hold"/>
                                        <p:tgtEl>
                                          <p:spTgt spid="21"/>
                                        </p:tgtEl>
                                        <p:attrNameLst>
                                          <p:attrName>ppt_h</p:attrName>
                                        </p:attrNameLst>
                                      </p:cBhvr>
                                      <p:tavLst>
                                        <p:tav tm="0">
                                          <p:val>
                                            <p:fltVal val="0"/>
                                          </p:val>
                                        </p:tav>
                                        <p:tav tm="100000">
                                          <p:val>
                                            <p:strVal val="#ppt_h"/>
                                          </p:val>
                                        </p:tav>
                                      </p:tavLst>
                                    </p:anim>
                                    <p:animEffect transition="in" filter="fade">
                                      <p:cBhvr>
                                        <p:cTn id="83" dur="550"/>
                                        <p:tgtEl>
                                          <p:spTgt spid="21"/>
                                        </p:tgtEl>
                                      </p:cBhvr>
                                    </p:animEffect>
                                  </p:childTnLst>
                                </p:cTn>
                              </p:par>
                              <p:par>
                                <p:cTn id="87" presetID="10" presetClass="entr" presetSubtype="0" fill="hold" grpId="0" nodeType="withEffect">
                                  <p:stCondLst>
                                    <p:cond delay="81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50"/>
                                        <p:tgtEl>
                                          <p:spTgt spid="22"/>
                                        </p:tgtEl>
                                      </p:cBhvr>
                                    </p:animEffect>
                                  </p:childTnLst>
                                </p:cTn>
                              </p:par>
                              <p:par>
                                <p:cTn id="90" presetID="10" presetClass="entr" presetSubtype="0" fill="hold" grpId="0" nodeType="withEffect">
                                  <p:stCondLst>
                                    <p:cond delay="81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tx1"/>
                </a:solidFill>
              </a:rPr>
              <a:t>Who we build for</a:t>
            </a:r>
            <a:endParaRPr lang="en-US" sz="3600" dirty="0"/>
          </a:p>
        </p:txBody>
      </p:sp>
      <p:sp>
        <p:nvSpPr>
          <p:cNvPr id="3" name="Facility Directors card"/>
          <p:cNvSpPr/>
          <p:nvPr/>
        </p:nvSpPr>
        <p:spPr>
          <a:xfrm>
            <a:off x="640080" y="1600200"/>
            <a:ext cx="3429000" cy="4480560"/>
          </a:xfrm>
          <a:prstGeom prst="roundRect">
            <a:avLst>
              <a:gd name="adj" fmla="val 4000"/>
            </a:avLst>
          </a:prstGeom>
          <a:solidFill>
            <a:schemeClr val="bg2"/>
          </a:solidFill>
          <a:ln/>
        </p:spPr>
      </p:sp>
      <p:sp>
        <p:nvSpPr>
          <p:cNvPr id="4" name="Facility Directors circle"/>
          <p:cNvSpPr/>
          <p:nvPr/>
        </p:nvSpPr>
        <p:spPr>
          <a:xfrm>
            <a:off x="960120" y="1874520"/>
            <a:ext cx="914400" cy="914400"/>
          </a:xfrm>
          <a:prstGeom prst="ellipse">
            <a:avLst/>
          </a:prstGeom>
          <a:solidFill>
            <a:schemeClr val="accent1"/>
          </a:solidFill>
          <a:ln/>
        </p:spPr>
      </p:sp>
      <p:pic>
        <p:nvPicPr>
          <p:cNvPr id="5" name="Image 0" descr="Facility Directors"/>
          <p:cNvPicPr>
            <a:picLocks noChangeAspect="1"/>
          </p:cNvPicPr>
          <p:nvPr/>
        </p:nvPicPr>
        <p:blipFill>
          <a:blip r:embed="rId3"/>
          <a:stretch>
            <a:fillRect/>
          </a:stretch>
        </p:blipFill>
        <p:spPr>
          <a:xfrm>
            <a:off x="1188720" y="2103120"/>
            <a:ext cx="457200" cy="457200"/>
          </a:xfrm>
          <a:prstGeom prst="rect">
            <a:avLst/>
          </a:prstGeom>
        </p:spPr>
      </p:pic>
      <p:sp>
        <p:nvSpPr>
          <p:cNvPr id="6" name="Text 3"/>
          <p:cNvSpPr txBox="1"/>
          <p:nvPr/>
        </p:nvSpPr>
        <p:spPr>
          <a:xfrm>
            <a:off x="960120" y="3017520"/>
            <a:ext cx="2788920" cy="457200"/>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Facility Directors</a:t>
            </a:r>
            <a:endParaRPr lang="en-US" sz="2200" dirty="0"/>
          </a:p>
        </p:txBody>
      </p:sp>
      <p:sp>
        <p:nvSpPr>
          <p:cNvPr id="7" name="Text 4"/>
          <p:cNvSpPr txBox="1"/>
          <p:nvPr/>
        </p:nvSpPr>
        <p:spPr>
          <a:xfrm>
            <a:off x="960120" y="3611880"/>
            <a:ext cx="2788920" cy="274320"/>
          </a:xfrm>
          <a:prstGeom prst="rect">
            <a:avLst/>
          </a:prstGeom>
          <a:noFill/>
          <a:ln/>
        </p:spPr>
        <p:txBody>
          <a:bodyPr wrap="square" lIns="0" tIns="0" rIns="0" bIns="0" rtlCol="0" anchor="ctr"/>
          <a:lstStyle/>
          <a:p>
            <a:pPr marL="0" indent="0">
              <a:buNone/>
            </a:pPr>
            <a:r>
              <a:rPr lang="en-US" sz="1200" b="1" dirty="0">
                <a:solidFill>
                  <a:schemeClr val="accent6"/>
                </a:solidFill>
              </a:rPr>
              <a:t>NEEDS</a:t>
            </a:r>
            <a:endParaRPr lang="en-US" sz="1200" dirty="0"/>
          </a:p>
        </p:txBody>
      </p:sp>
      <p:sp>
        <p:nvSpPr>
          <p:cNvPr id="8" name="Text 5"/>
          <p:cNvSpPr txBox="1"/>
          <p:nvPr/>
        </p:nvSpPr>
        <p:spPr>
          <a:xfrm>
            <a:off x="960120" y="3886200"/>
            <a:ext cx="2788920" cy="685800"/>
          </a:xfrm>
          <a:prstGeom prst="rect">
            <a:avLst/>
          </a:prstGeom>
          <a:noFill/>
          <a:ln/>
        </p:spPr>
        <p:txBody>
          <a:bodyPr wrap="square" lIns="0" tIns="0" rIns="0" bIns="0" rtlCol="0" anchor="t"/>
          <a:lstStyle/>
          <a:p>
            <a:pPr marL="0" indent="0">
              <a:buNone/>
            </a:pPr>
            <a:r>
              <a:rPr lang="en-US" sz="1600" dirty="0">
                <a:solidFill>
                  <a:schemeClr val="tx2"/>
                </a:solidFill>
              </a:rPr>
              <a:t>Lower energy bills and fewer breakdowns</a:t>
            </a:r>
            <a:endParaRPr lang="en-US" sz="1600" dirty="0"/>
          </a:p>
        </p:txBody>
      </p:sp>
      <p:sp>
        <p:nvSpPr>
          <p:cNvPr id="9" name="Text 6"/>
          <p:cNvSpPr txBox="1"/>
          <p:nvPr/>
        </p:nvSpPr>
        <p:spPr>
          <a:xfrm>
            <a:off x="960120" y="4617720"/>
            <a:ext cx="2788920" cy="274320"/>
          </a:xfrm>
          <a:prstGeom prst="rect">
            <a:avLst/>
          </a:prstGeom>
          <a:noFill/>
          <a:ln/>
        </p:spPr>
        <p:txBody>
          <a:bodyPr wrap="square" lIns="0" tIns="0" rIns="0" bIns="0" rtlCol="0" anchor="ctr"/>
          <a:lstStyle/>
          <a:p>
            <a:pPr marL="0" indent="0">
              <a:buNone/>
            </a:pPr>
            <a:r>
              <a:rPr lang="en-US" sz="1200" b="1" dirty="0">
                <a:solidFill>
                  <a:schemeClr val="accent1"/>
                </a:solidFill>
              </a:rPr>
              <a:t>GETS</a:t>
            </a:r>
            <a:endParaRPr lang="en-US" sz="1200" dirty="0"/>
          </a:p>
        </p:txBody>
      </p:sp>
      <p:sp>
        <p:nvSpPr>
          <p:cNvPr id="10" name="Text 7"/>
          <p:cNvSpPr txBox="1"/>
          <p:nvPr/>
        </p:nvSpPr>
        <p:spPr>
          <a:xfrm>
            <a:off x="960120" y="4892040"/>
            <a:ext cx="2788920" cy="822960"/>
          </a:xfrm>
          <a:prstGeom prst="rect">
            <a:avLst/>
          </a:prstGeom>
          <a:noFill/>
          <a:ln/>
        </p:spPr>
        <p:txBody>
          <a:bodyPr wrap="square" lIns="0" tIns="0" rIns="0" bIns="0" rtlCol="0" anchor="t"/>
          <a:lstStyle/>
          <a:p>
            <a:pPr marL="0" indent="0">
              <a:buNone/>
            </a:pPr>
            <a:r>
              <a:rPr lang="en-US" sz="1600" b="1" dirty="0">
                <a:solidFill>
                  <a:schemeClr val="tx1"/>
                </a:solidFill>
              </a:rPr>
              <a:t>Automated control and early fault alerts</a:t>
            </a:r>
            <a:endParaRPr lang="en-US" sz="1600" dirty="0"/>
          </a:p>
        </p:txBody>
      </p:sp>
      <p:sp>
        <p:nvSpPr>
          <p:cNvPr id="11" name="Sustainability Officers card"/>
          <p:cNvSpPr/>
          <p:nvPr/>
        </p:nvSpPr>
        <p:spPr>
          <a:xfrm>
            <a:off x="4379976" y="1600200"/>
            <a:ext cx="3429000" cy="4480560"/>
          </a:xfrm>
          <a:prstGeom prst="roundRect">
            <a:avLst>
              <a:gd name="adj" fmla="val 4000"/>
            </a:avLst>
          </a:prstGeom>
          <a:solidFill>
            <a:schemeClr val="bg2"/>
          </a:solidFill>
          <a:ln/>
        </p:spPr>
      </p:sp>
      <p:sp>
        <p:nvSpPr>
          <p:cNvPr id="12" name="Sustainability Officers circle"/>
          <p:cNvSpPr/>
          <p:nvPr/>
        </p:nvSpPr>
        <p:spPr>
          <a:xfrm>
            <a:off x="4700016" y="1874520"/>
            <a:ext cx="914400" cy="914400"/>
          </a:xfrm>
          <a:prstGeom prst="ellipse">
            <a:avLst/>
          </a:prstGeom>
          <a:solidFill>
            <a:schemeClr val="accent1"/>
          </a:solidFill>
          <a:ln/>
        </p:spPr>
      </p:sp>
      <p:pic>
        <p:nvPicPr>
          <p:cNvPr id="13" name="Image 1" descr="Sustainability Officers"/>
          <p:cNvPicPr>
            <a:picLocks noChangeAspect="1"/>
          </p:cNvPicPr>
          <p:nvPr/>
        </p:nvPicPr>
        <p:blipFill>
          <a:blip r:embed="rId4"/>
          <a:stretch>
            <a:fillRect/>
          </a:stretch>
        </p:blipFill>
        <p:spPr>
          <a:xfrm>
            <a:off x="4928616" y="2103120"/>
            <a:ext cx="457200" cy="457200"/>
          </a:xfrm>
          <a:prstGeom prst="rect">
            <a:avLst/>
          </a:prstGeom>
        </p:spPr>
      </p:pic>
      <p:sp>
        <p:nvSpPr>
          <p:cNvPr id="14" name="Text 10"/>
          <p:cNvSpPr txBox="1"/>
          <p:nvPr/>
        </p:nvSpPr>
        <p:spPr>
          <a:xfrm>
            <a:off x="4700016" y="3017520"/>
            <a:ext cx="2788920" cy="457200"/>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Sustainability Officers</a:t>
            </a:r>
            <a:endParaRPr lang="en-US" sz="2200" dirty="0"/>
          </a:p>
        </p:txBody>
      </p:sp>
      <p:sp>
        <p:nvSpPr>
          <p:cNvPr id="15" name="Text 11"/>
          <p:cNvSpPr txBox="1"/>
          <p:nvPr/>
        </p:nvSpPr>
        <p:spPr>
          <a:xfrm>
            <a:off x="4700016" y="3611880"/>
            <a:ext cx="2788920" cy="274320"/>
          </a:xfrm>
          <a:prstGeom prst="rect">
            <a:avLst/>
          </a:prstGeom>
          <a:noFill/>
          <a:ln/>
        </p:spPr>
        <p:txBody>
          <a:bodyPr wrap="square" lIns="0" tIns="0" rIns="0" bIns="0" rtlCol="0" anchor="ctr"/>
          <a:lstStyle/>
          <a:p>
            <a:pPr marL="0" indent="0">
              <a:buNone/>
            </a:pPr>
            <a:r>
              <a:rPr lang="en-US" sz="1200" b="1" dirty="0">
                <a:solidFill>
                  <a:schemeClr val="accent6"/>
                </a:solidFill>
              </a:rPr>
              <a:t>NEEDS</a:t>
            </a:r>
            <a:endParaRPr lang="en-US" sz="1200" dirty="0"/>
          </a:p>
        </p:txBody>
      </p:sp>
      <p:sp>
        <p:nvSpPr>
          <p:cNvPr id="16" name="Text 12"/>
          <p:cNvSpPr txBox="1"/>
          <p:nvPr/>
        </p:nvSpPr>
        <p:spPr>
          <a:xfrm>
            <a:off x="4700016" y="3886200"/>
            <a:ext cx="2788920" cy="685800"/>
          </a:xfrm>
          <a:prstGeom prst="rect">
            <a:avLst/>
          </a:prstGeom>
          <a:noFill/>
          <a:ln/>
        </p:spPr>
        <p:txBody>
          <a:bodyPr wrap="square" lIns="0" tIns="0" rIns="0" bIns="0" rtlCol="0" anchor="t"/>
          <a:lstStyle/>
          <a:p>
            <a:pPr marL="0" indent="0">
              <a:buNone/>
            </a:pPr>
            <a:r>
              <a:rPr lang="en-US" sz="1600" dirty="0">
                <a:solidFill>
                  <a:schemeClr val="tx2"/>
                </a:solidFill>
              </a:rPr>
              <a:t>Proof of progress toward emission goals</a:t>
            </a:r>
            <a:endParaRPr lang="en-US" sz="1600" dirty="0"/>
          </a:p>
        </p:txBody>
      </p:sp>
      <p:sp>
        <p:nvSpPr>
          <p:cNvPr id="17" name="Text 13"/>
          <p:cNvSpPr txBox="1"/>
          <p:nvPr/>
        </p:nvSpPr>
        <p:spPr>
          <a:xfrm>
            <a:off x="4700016" y="4617720"/>
            <a:ext cx="2788920" cy="274320"/>
          </a:xfrm>
          <a:prstGeom prst="rect">
            <a:avLst/>
          </a:prstGeom>
          <a:noFill/>
          <a:ln/>
        </p:spPr>
        <p:txBody>
          <a:bodyPr wrap="square" lIns="0" tIns="0" rIns="0" bIns="0" rtlCol="0" anchor="ctr"/>
          <a:lstStyle/>
          <a:p>
            <a:pPr marL="0" indent="0">
              <a:buNone/>
            </a:pPr>
            <a:r>
              <a:rPr lang="en-US" sz="1200" b="1" dirty="0">
                <a:solidFill>
                  <a:schemeClr val="accent1"/>
                </a:solidFill>
              </a:rPr>
              <a:t>GETS</a:t>
            </a:r>
            <a:endParaRPr lang="en-US" sz="1200" dirty="0"/>
          </a:p>
        </p:txBody>
      </p:sp>
      <p:sp>
        <p:nvSpPr>
          <p:cNvPr id="18" name="Text 14"/>
          <p:cNvSpPr txBox="1"/>
          <p:nvPr/>
        </p:nvSpPr>
        <p:spPr>
          <a:xfrm>
            <a:off x="4700016" y="4892040"/>
            <a:ext cx="2788920" cy="822960"/>
          </a:xfrm>
          <a:prstGeom prst="rect">
            <a:avLst/>
          </a:prstGeom>
          <a:noFill/>
          <a:ln/>
        </p:spPr>
        <p:txBody>
          <a:bodyPr wrap="square" lIns="0" tIns="0" rIns="0" bIns="0" rtlCol="0" anchor="t"/>
          <a:lstStyle/>
          <a:p>
            <a:pPr marL="0" indent="0">
              <a:buNone/>
            </a:pPr>
            <a:r>
              <a:rPr lang="en-US" sz="1600" b="1" dirty="0">
                <a:solidFill>
                  <a:schemeClr val="tx1"/>
                </a:solidFill>
              </a:rPr>
              <a:t>Campus-wide usage data in one view</a:t>
            </a:r>
            <a:endParaRPr lang="en-US" sz="1600" dirty="0"/>
          </a:p>
        </p:txBody>
      </p:sp>
      <p:sp>
        <p:nvSpPr>
          <p:cNvPr id="19" name="University Students card"/>
          <p:cNvSpPr/>
          <p:nvPr/>
        </p:nvSpPr>
        <p:spPr>
          <a:xfrm>
            <a:off x="8119872" y="1600200"/>
            <a:ext cx="3429000" cy="4480560"/>
          </a:xfrm>
          <a:prstGeom prst="roundRect">
            <a:avLst>
              <a:gd name="adj" fmla="val 4000"/>
            </a:avLst>
          </a:prstGeom>
          <a:solidFill>
            <a:schemeClr val="bg2"/>
          </a:solidFill>
          <a:ln/>
        </p:spPr>
      </p:sp>
      <p:sp>
        <p:nvSpPr>
          <p:cNvPr id="20" name="University Students circle"/>
          <p:cNvSpPr/>
          <p:nvPr/>
        </p:nvSpPr>
        <p:spPr>
          <a:xfrm>
            <a:off x="8439912" y="1874520"/>
            <a:ext cx="914400" cy="914400"/>
          </a:xfrm>
          <a:prstGeom prst="ellipse">
            <a:avLst/>
          </a:prstGeom>
          <a:solidFill>
            <a:schemeClr val="accent1"/>
          </a:solidFill>
          <a:ln/>
        </p:spPr>
      </p:sp>
      <p:pic>
        <p:nvPicPr>
          <p:cNvPr id="21" name="Image 2" descr="University Students"/>
          <p:cNvPicPr>
            <a:picLocks noChangeAspect="1"/>
          </p:cNvPicPr>
          <p:nvPr/>
        </p:nvPicPr>
        <p:blipFill>
          <a:blip r:embed="rId5"/>
          <a:stretch>
            <a:fillRect/>
          </a:stretch>
        </p:blipFill>
        <p:spPr>
          <a:xfrm>
            <a:off x="8668512" y="2103120"/>
            <a:ext cx="457200" cy="457200"/>
          </a:xfrm>
          <a:prstGeom prst="rect">
            <a:avLst/>
          </a:prstGeom>
        </p:spPr>
      </p:pic>
      <p:sp>
        <p:nvSpPr>
          <p:cNvPr id="22" name="Text 17"/>
          <p:cNvSpPr txBox="1"/>
          <p:nvPr/>
        </p:nvSpPr>
        <p:spPr>
          <a:xfrm>
            <a:off x="8439912" y="3017520"/>
            <a:ext cx="2788920" cy="457200"/>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University Students</a:t>
            </a:r>
            <a:endParaRPr lang="en-US" sz="2200" dirty="0"/>
          </a:p>
        </p:txBody>
      </p:sp>
      <p:sp>
        <p:nvSpPr>
          <p:cNvPr id="23" name="Text 18"/>
          <p:cNvSpPr txBox="1"/>
          <p:nvPr/>
        </p:nvSpPr>
        <p:spPr>
          <a:xfrm>
            <a:off x="8439912" y="3611880"/>
            <a:ext cx="2788920" cy="274320"/>
          </a:xfrm>
          <a:prstGeom prst="rect">
            <a:avLst/>
          </a:prstGeom>
          <a:noFill/>
          <a:ln/>
        </p:spPr>
        <p:txBody>
          <a:bodyPr wrap="square" lIns="0" tIns="0" rIns="0" bIns="0" rtlCol="0" anchor="ctr"/>
          <a:lstStyle/>
          <a:p>
            <a:pPr marL="0" indent="0">
              <a:buNone/>
            </a:pPr>
            <a:r>
              <a:rPr lang="en-US" sz="1200" b="1" dirty="0">
                <a:solidFill>
                  <a:schemeClr val="accent6"/>
                </a:solidFill>
              </a:rPr>
              <a:t>NEEDS</a:t>
            </a:r>
            <a:endParaRPr lang="en-US" sz="1200" dirty="0"/>
          </a:p>
        </p:txBody>
      </p:sp>
      <p:sp>
        <p:nvSpPr>
          <p:cNvPr id="24" name="Text 19"/>
          <p:cNvSpPr txBox="1"/>
          <p:nvPr/>
        </p:nvSpPr>
        <p:spPr>
          <a:xfrm>
            <a:off x="8439912" y="3886200"/>
            <a:ext cx="2788920" cy="685800"/>
          </a:xfrm>
          <a:prstGeom prst="rect">
            <a:avLst/>
          </a:prstGeom>
          <a:noFill/>
          <a:ln/>
        </p:spPr>
        <p:txBody>
          <a:bodyPr wrap="square" lIns="0" tIns="0" rIns="0" bIns="0" rtlCol="0" anchor="t"/>
          <a:lstStyle/>
          <a:p>
            <a:pPr marL="0" indent="0">
              <a:buNone/>
            </a:pPr>
            <a:r>
              <a:rPr lang="en-US" sz="1600" dirty="0">
                <a:solidFill>
                  <a:schemeClr val="tx2"/>
                </a:solidFill>
              </a:rPr>
              <a:t>A visible way to make a difference</a:t>
            </a:r>
            <a:endParaRPr lang="en-US" sz="1600" dirty="0"/>
          </a:p>
        </p:txBody>
      </p:sp>
      <p:sp>
        <p:nvSpPr>
          <p:cNvPr id="25" name="Text 20"/>
          <p:cNvSpPr txBox="1"/>
          <p:nvPr/>
        </p:nvSpPr>
        <p:spPr>
          <a:xfrm>
            <a:off x="8439912" y="4617720"/>
            <a:ext cx="2788920" cy="274320"/>
          </a:xfrm>
          <a:prstGeom prst="rect">
            <a:avLst/>
          </a:prstGeom>
          <a:noFill/>
          <a:ln/>
        </p:spPr>
        <p:txBody>
          <a:bodyPr wrap="square" lIns="0" tIns="0" rIns="0" bIns="0" rtlCol="0" anchor="ctr"/>
          <a:lstStyle/>
          <a:p>
            <a:pPr marL="0" indent="0">
              <a:buNone/>
            </a:pPr>
            <a:r>
              <a:rPr lang="en-US" sz="1200" b="1" dirty="0">
                <a:solidFill>
                  <a:schemeClr val="accent1"/>
                </a:solidFill>
              </a:rPr>
              <a:t>GETS</a:t>
            </a:r>
            <a:endParaRPr lang="en-US" sz="1200" dirty="0"/>
          </a:p>
        </p:txBody>
      </p:sp>
      <p:sp>
        <p:nvSpPr>
          <p:cNvPr id="26" name="Text 21"/>
          <p:cNvSpPr txBox="1"/>
          <p:nvPr/>
        </p:nvSpPr>
        <p:spPr>
          <a:xfrm>
            <a:off x="8439912" y="4892040"/>
            <a:ext cx="2788920" cy="822960"/>
          </a:xfrm>
          <a:prstGeom prst="rect">
            <a:avLst/>
          </a:prstGeom>
          <a:noFill/>
          <a:ln/>
        </p:spPr>
        <p:txBody>
          <a:bodyPr wrap="square" lIns="0" tIns="0" rIns="0" bIns="0" rtlCol="0" anchor="t"/>
          <a:lstStyle/>
          <a:p>
            <a:pPr marL="0" indent="0">
              <a:buNone/>
            </a:pPr>
            <a:r>
              <a:rPr lang="en-US" sz="1600" b="1" dirty="0">
                <a:solidFill>
                  <a:schemeClr val="tx1"/>
                </a:solidFill>
              </a:rPr>
              <a:t>Dorm rankings and rewards for saving</a:t>
            </a:r>
            <a:endParaRPr lang="en-US" sz="1600" dirty="0"/>
          </a:p>
        </p:txBody>
      </p:sp>
      <p:sp>
        <p:nvSpPr>
          <p:cNvPr id="27"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4"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5" presetID="53" presetClass="entr" presetSubtype="16" fill="hold" grpId="0" nodeType="withEffect">
                                  <p:stCondLst>
                                    <p:cond delay="21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ppt_w</p:attrName>
                                        </p:attrNameLst>
                                      </p:cBhvr>
                                      <p:tavLst>
                                        <p:tav tm="0">
                                          <p:val>
                                            <p:fltVal val="0"/>
                                          </p:val>
                                        </p:tav>
                                        <p:tav tm="100000">
                                          <p:val>
                                            <p:strVal val="#ppt_w"/>
                                          </p:val>
                                        </p:tav>
                                      </p:tavLst>
                                    </p:anim>
                                    <p:anim calcmode="lin" valueType="num">
                                      <p:cBhvr additive="base">
                                        <p:cTn id="13" dur="550" fill="hold"/>
                                        <p:tgtEl>
                                          <p:spTgt spid="4"/>
                                        </p:tgtEl>
                                        <p:attrNameLst>
                                          <p:attrName>ppt_h</p:attrName>
                                        </p:attrNameLst>
                                      </p:cBhvr>
                                      <p:tavLst>
                                        <p:tav tm="0">
                                          <p:val>
                                            <p:fltVal val="0"/>
                                          </p:val>
                                        </p:tav>
                                        <p:tav tm="100000">
                                          <p:val>
                                            <p:strVal val="#ppt_h"/>
                                          </p:val>
                                        </p:tav>
                                      </p:tavLst>
                                    </p:anim>
                                    <p:animEffect transition="in" filter="fade">
                                      <p:cBhvr>
                                        <p:cTn id="14" dur="550"/>
                                        <p:tgtEl>
                                          <p:spTgt spid="4"/>
                                        </p:tgtEl>
                                      </p:cBhvr>
                                    </p:animEffect>
                                  </p:childTnLst>
                                </p:cTn>
                              </p:par>
                              <p:par>
                                <p:cTn id="20" presetID="53" presetClass="entr" presetSubtype="16" fill="hold" grpId="0" nodeType="withEffect">
                                  <p:stCondLst>
                                    <p:cond delay="21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3" presetID="10" presetClass="entr" presetSubtype="0" fill="hold" grpId="0" nodeType="withEffect">
                                  <p:stCondLst>
                                    <p:cond delay="2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childTnLst>
                                </p:cTn>
                              </p:par>
                              <p:par>
                                <p:cTn id="26" presetID="10" presetClass="entr" presetSubtype="0" fill="hold" grpId="0" nodeType="withEffect">
                                  <p:stCondLst>
                                    <p:cond delay="21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50"/>
                                        <p:tgtEl>
                                          <p:spTgt spid="7"/>
                                        </p:tgtEl>
                                      </p:cBhvr>
                                    </p:animEffect>
                                  </p:childTnLst>
                                </p:cTn>
                              </p:par>
                              <p:par>
                                <p:cTn id="29" presetID="10" presetClass="entr" presetSubtype="0" fill="hold" grpId="0" nodeType="withEffect">
                                  <p:stCondLst>
                                    <p:cond delay="21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50"/>
                                        <p:tgtEl>
                                          <p:spTgt spid="8"/>
                                        </p:tgtEl>
                                      </p:cBhvr>
                                    </p:animEffect>
                                  </p:childTnLst>
                                </p:cTn>
                              </p:par>
                              <p:par>
                                <p:cTn id="32" presetID="10" presetClass="entr" presetSubtype="0" fill="hold" grpId="0" nodeType="withEffect">
                                  <p:stCondLst>
                                    <p:cond delay="21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50"/>
                                        <p:tgtEl>
                                          <p:spTgt spid="9"/>
                                        </p:tgtEl>
                                      </p:cBhvr>
                                    </p:animEffect>
                                  </p:childTnLst>
                                </p:cTn>
                              </p:par>
                              <p:par>
                                <p:cTn id="35" presetID="10" presetClass="entr" presetSubtype="0" fill="hold" grpId="0" nodeType="withEffect">
                                  <p:stCondLst>
                                    <p:cond delay="21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par>
                                <p:cTn id="39" presetID="2" presetClass="entr" presetSubtype="4" fill="hold" grpId="0" nodeType="withEffect">
                                  <p:stCondLst>
                                    <p:cond delay="30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50" fill="hold"/>
                                        <p:tgtEl>
                                          <p:spTgt spid="11"/>
                                        </p:tgtEl>
                                        <p:attrNameLst>
                                          <p:attrName>ppt_y</p:attrName>
                                        </p:attrNameLst>
                                      </p:cBhvr>
                                      <p:tavLst>
                                        <p:tav tm="0">
                                          <p:val>
                                            <p:strVal val="#ppt_y+0.07"/>
                                          </p:val>
                                        </p:tav>
                                        <p:tav tm="100000">
                                          <p:val>
                                            <p:strVal val="#ppt_y"/>
                                          </p:val>
                                        </p:tav>
                                      </p:tavLst>
                                    </p:anim>
                                    <p:animEffect transition="in" filter="fade">
                                      <p:cBhvr>
                                        <p:cTn id="38" dur="550"/>
                                        <p:tgtEl>
                                          <p:spTgt spid="11"/>
                                        </p:tgtEl>
                                      </p:cBhvr>
                                    </p:animEffect>
                                  </p:childTnLst>
                                </p:cTn>
                              </p:par>
                              <p:par>
                                <p:cTn id="44" presetID="53" presetClass="entr" presetSubtype="16" fill="hold" grpId="0" nodeType="withEffect">
                                  <p:stCondLst>
                                    <p:cond delay="36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50" fill="hold"/>
                                        <p:tgtEl>
                                          <p:spTgt spid="12"/>
                                        </p:tgtEl>
                                        <p:attrNameLst>
                                          <p:attrName>ppt_w</p:attrName>
                                        </p:attrNameLst>
                                      </p:cBhvr>
                                      <p:tavLst>
                                        <p:tav tm="0">
                                          <p:val>
                                            <p:fltVal val="0"/>
                                          </p:val>
                                        </p:tav>
                                        <p:tav tm="100000">
                                          <p:val>
                                            <p:strVal val="#ppt_w"/>
                                          </p:val>
                                        </p:tav>
                                      </p:tavLst>
                                    </p:anim>
                                    <p:anim calcmode="lin" valueType="num">
                                      <p:cBhvr additive="base">
                                        <p:cTn id="42" dur="550" fill="hold"/>
                                        <p:tgtEl>
                                          <p:spTgt spid="12"/>
                                        </p:tgtEl>
                                        <p:attrNameLst>
                                          <p:attrName>ppt_h</p:attrName>
                                        </p:attrNameLst>
                                      </p:cBhvr>
                                      <p:tavLst>
                                        <p:tav tm="0">
                                          <p:val>
                                            <p:fltVal val="0"/>
                                          </p:val>
                                        </p:tav>
                                        <p:tav tm="100000">
                                          <p:val>
                                            <p:strVal val="#ppt_h"/>
                                          </p:val>
                                        </p:tav>
                                      </p:tavLst>
                                    </p:anim>
                                    <p:animEffect transition="in" filter="fade">
                                      <p:cBhvr>
                                        <p:cTn id="43" dur="550"/>
                                        <p:tgtEl>
                                          <p:spTgt spid="12"/>
                                        </p:tgtEl>
                                      </p:cBhvr>
                                    </p:animEffect>
                                  </p:childTnLst>
                                </p:cTn>
                              </p:par>
                              <p:par>
                                <p:cTn id="49" presetID="53" presetClass="entr" presetSubtype="16" fill="hold" grpId="0" nodeType="withEffect">
                                  <p:stCondLst>
                                    <p:cond delay="36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50" fill="hold"/>
                                        <p:tgtEl>
                                          <p:spTgt spid="13"/>
                                        </p:tgtEl>
                                        <p:attrNameLst>
                                          <p:attrName>ppt_w</p:attrName>
                                        </p:attrNameLst>
                                      </p:cBhvr>
                                      <p:tavLst>
                                        <p:tav tm="0">
                                          <p:val>
                                            <p:fltVal val="0"/>
                                          </p:val>
                                        </p:tav>
                                        <p:tav tm="100000">
                                          <p:val>
                                            <p:strVal val="#ppt_w"/>
                                          </p:val>
                                        </p:tav>
                                      </p:tavLst>
                                    </p:anim>
                                    <p:anim calcmode="lin" valueType="num">
                                      <p:cBhvr additive="base">
                                        <p:cTn id="47" dur="550" fill="hold"/>
                                        <p:tgtEl>
                                          <p:spTgt spid="13"/>
                                        </p:tgtEl>
                                        <p:attrNameLst>
                                          <p:attrName>ppt_h</p:attrName>
                                        </p:attrNameLst>
                                      </p:cBhvr>
                                      <p:tavLst>
                                        <p:tav tm="0">
                                          <p:val>
                                            <p:fltVal val="0"/>
                                          </p:val>
                                        </p:tav>
                                        <p:tav tm="100000">
                                          <p:val>
                                            <p:strVal val="#ppt_h"/>
                                          </p:val>
                                        </p:tav>
                                      </p:tavLst>
                                    </p:anim>
                                    <p:animEffect transition="in" filter="fade">
                                      <p:cBhvr>
                                        <p:cTn id="48" dur="550"/>
                                        <p:tgtEl>
                                          <p:spTgt spid="13"/>
                                        </p:tgtEl>
                                      </p:cBhvr>
                                    </p:animEffect>
                                  </p:childTnLst>
                                </p:cTn>
                              </p:par>
                              <p:par>
                                <p:cTn id="52" presetID="10" presetClass="entr" presetSubtype="0" fill="hold" grpId="0" nodeType="withEffect">
                                  <p:stCondLst>
                                    <p:cond delay="36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50"/>
                                        <p:tgtEl>
                                          <p:spTgt spid="14"/>
                                        </p:tgtEl>
                                      </p:cBhvr>
                                    </p:animEffect>
                                  </p:childTnLst>
                                </p:cTn>
                              </p:par>
                              <p:par>
                                <p:cTn id="55" presetID="10" presetClass="entr" presetSubtype="0" fill="hold" grpId="0" nodeType="withEffect">
                                  <p:stCondLst>
                                    <p:cond delay="36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par>
                                <p:cTn id="58" presetID="10" presetClass="entr" presetSubtype="0" fill="hold" grpId="0" nodeType="withEffect">
                                  <p:stCondLst>
                                    <p:cond delay="36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50"/>
                                        <p:tgtEl>
                                          <p:spTgt spid="16"/>
                                        </p:tgtEl>
                                      </p:cBhvr>
                                    </p:animEffect>
                                  </p:childTnLst>
                                </p:cTn>
                              </p:par>
                              <p:par>
                                <p:cTn id="61" presetID="10" presetClass="entr" presetSubtype="0" fill="hold" grpId="0" nodeType="withEffect">
                                  <p:stCondLst>
                                    <p:cond delay="36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50"/>
                                        <p:tgtEl>
                                          <p:spTgt spid="17"/>
                                        </p:tgtEl>
                                      </p:cBhvr>
                                    </p:animEffect>
                                  </p:childTnLst>
                                </p:cTn>
                              </p:par>
                              <p:par>
                                <p:cTn id="64" presetID="10" presetClass="entr" presetSubtype="0" fill="hold" grpId="0" nodeType="withEffect">
                                  <p:stCondLst>
                                    <p:cond delay="36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50"/>
                                        <p:tgtEl>
                                          <p:spTgt spid="18"/>
                                        </p:tgtEl>
                                      </p:cBhvr>
                                    </p:animEffect>
                                  </p:childTnLst>
                                </p:cTn>
                              </p:par>
                              <p:par>
                                <p:cTn id="68" presetID="2" presetClass="entr" presetSubtype="4" fill="hold" grpId="0" nodeType="withEffect">
                                  <p:stCondLst>
                                    <p:cond delay="450"/>
                                  </p:stCondLst>
                                  <p:childTnLst>
                                    <p:set>
                                      <p:cBhvr>
                                        <p:cTn id="65" dur="1" fill="hold">
                                          <p:stCondLst>
                                            <p:cond delay="0"/>
                                          </p:stCondLst>
                                        </p:cTn>
                                        <p:tgtEl>
                                          <p:spTgt spid="19"/>
                                        </p:tgtEl>
                                        <p:attrNameLst>
                                          <p:attrName>style.visibility</p:attrName>
                                        </p:attrNameLst>
                                      </p:cBhvr>
                                      <p:to>
                                        <p:strVal val="visible"/>
                                      </p:to>
                                    </p:set>
                                    <p:anim calcmode="lin" valueType="num">
                                      <p:cBhvr additive="base">
                                        <p:cTn id="66" dur="550" fill="hold"/>
                                        <p:tgtEl>
                                          <p:spTgt spid="19"/>
                                        </p:tgtEl>
                                        <p:attrNameLst>
                                          <p:attrName>ppt_y</p:attrName>
                                        </p:attrNameLst>
                                      </p:cBhvr>
                                      <p:tavLst>
                                        <p:tav tm="0">
                                          <p:val>
                                            <p:strVal val="#ppt_y+0.07"/>
                                          </p:val>
                                        </p:tav>
                                        <p:tav tm="100000">
                                          <p:val>
                                            <p:strVal val="#ppt_y"/>
                                          </p:val>
                                        </p:tav>
                                      </p:tavLst>
                                    </p:anim>
                                    <p:animEffect transition="in" filter="fade">
                                      <p:cBhvr>
                                        <p:cTn id="67" dur="550"/>
                                        <p:tgtEl>
                                          <p:spTgt spid="19"/>
                                        </p:tgtEl>
                                      </p:cBhvr>
                                    </p:animEffect>
                                  </p:childTnLst>
                                </p:cTn>
                              </p:par>
                              <p:par>
                                <p:cTn id="73" presetID="53" presetClass="entr" presetSubtype="16" fill="hold" grpId="0" nodeType="withEffect">
                                  <p:stCondLst>
                                    <p:cond delay="51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550" fill="hold"/>
                                        <p:tgtEl>
                                          <p:spTgt spid="20"/>
                                        </p:tgtEl>
                                        <p:attrNameLst>
                                          <p:attrName>ppt_w</p:attrName>
                                        </p:attrNameLst>
                                      </p:cBhvr>
                                      <p:tavLst>
                                        <p:tav tm="0">
                                          <p:val>
                                            <p:fltVal val="0"/>
                                          </p:val>
                                        </p:tav>
                                        <p:tav tm="100000">
                                          <p:val>
                                            <p:strVal val="#ppt_w"/>
                                          </p:val>
                                        </p:tav>
                                      </p:tavLst>
                                    </p:anim>
                                    <p:anim calcmode="lin" valueType="num">
                                      <p:cBhvr additive="base">
                                        <p:cTn id="71" dur="550" fill="hold"/>
                                        <p:tgtEl>
                                          <p:spTgt spid="20"/>
                                        </p:tgtEl>
                                        <p:attrNameLst>
                                          <p:attrName>ppt_h</p:attrName>
                                        </p:attrNameLst>
                                      </p:cBhvr>
                                      <p:tavLst>
                                        <p:tav tm="0">
                                          <p:val>
                                            <p:fltVal val="0"/>
                                          </p:val>
                                        </p:tav>
                                        <p:tav tm="100000">
                                          <p:val>
                                            <p:strVal val="#ppt_h"/>
                                          </p:val>
                                        </p:tav>
                                      </p:tavLst>
                                    </p:anim>
                                    <p:animEffect transition="in" filter="fade">
                                      <p:cBhvr>
                                        <p:cTn id="72" dur="550"/>
                                        <p:tgtEl>
                                          <p:spTgt spid="20"/>
                                        </p:tgtEl>
                                      </p:cBhvr>
                                    </p:animEffect>
                                  </p:childTnLst>
                                </p:cTn>
                              </p:par>
                              <p:par>
                                <p:cTn id="78" presetID="53" presetClass="entr" presetSubtype="16" fill="hold" grpId="0" nodeType="withEffect">
                                  <p:stCondLst>
                                    <p:cond delay="51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50" fill="hold"/>
                                        <p:tgtEl>
                                          <p:spTgt spid="21"/>
                                        </p:tgtEl>
                                        <p:attrNameLst>
                                          <p:attrName>ppt_w</p:attrName>
                                        </p:attrNameLst>
                                      </p:cBhvr>
                                      <p:tavLst>
                                        <p:tav tm="0">
                                          <p:val>
                                            <p:fltVal val="0"/>
                                          </p:val>
                                        </p:tav>
                                        <p:tav tm="100000">
                                          <p:val>
                                            <p:strVal val="#ppt_w"/>
                                          </p:val>
                                        </p:tav>
                                      </p:tavLst>
                                    </p:anim>
                                    <p:anim calcmode="lin" valueType="num">
                                      <p:cBhvr additive="base">
                                        <p:cTn id="76" dur="550" fill="hold"/>
                                        <p:tgtEl>
                                          <p:spTgt spid="21"/>
                                        </p:tgtEl>
                                        <p:attrNameLst>
                                          <p:attrName>ppt_h</p:attrName>
                                        </p:attrNameLst>
                                      </p:cBhvr>
                                      <p:tavLst>
                                        <p:tav tm="0">
                                          <p:val>
                                            <p:fltVal val="0"/>
                                          </p:val>
                                        </p:tav>
                                        <p:tav tm="100000">
                                          <p:val>
                                            <p:strVal val="#ppt_h"/>
                                          </p:val>
                                        </p:tav>
                                      </p:tavLst>
                                    </p:anim>
                                    <p:animEffect transition="in" filter="fade">
                                      <p:cBhvr>
                                        <p:cTn id="77" dur="550"/>
                                        <p:tgtEl>
                                          <p:spTgt spid="21"/>
                                        </p:tgtEl>
                                      </p:cBhvr>
                                    </p:animEffect>
                                  </p:childTnLst>
                                </p:cTn>
                              </p:par>
                              <p:par>
                                <p:cTn id="81" presetID="10" presetClass="entr" presetSubtype="0" fill="hold" grpId="0" nodeType="withEffect">
                                  <p:stCondLst>
                                    <p:cond delay="51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50"/>
                                        <p:tgtEl>
                                          <p:spTgt spid="22"/>
                                        </p:tgtEl>
                                      </p:cBhvr>
                                    </p:animEffect>
                                  </p:childTnLst>
                                </p:cTn>
                              </p:par>
                              <p:par>
                                <p:cTn id="84" presetID="10" presetClass="entr" presetSubtype="0" fill="hold" grpId="0" nodeType="withEffect">
                                  <p:stCondLst>
                                    <p:cond delay="51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550"/>
                                        <p:tgtEl>
                                          <p:spTgt spid="23"/>
                                        </p:tgtEl>
                                      </p:cBhvr>
                                    </p:animEffect>
                                  </p:childTnLst>
                                </p:cTn>
                              </p:par>
                              <p:par>
                                <p:cTn id="87" presetID="10" presetClass="entr" presetSubtype="0" fill="hold" grpId="0" nodeType="withEffect">
                                  <p:stCondLst>
                                    <p:cond delay="51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50"/>
                                        <p:tgtEl>
                                          <p:spTgt spid="24"/>
                                        </p:tgtEl>
                                      </p:cBhvr>
                                    </p:animEffect>
                                  </p:childTnLst>
                                </p:cTn>
                              </p:par>
                              <p:par>
                                <p:cTn id="90" presetID="10" presetClass="entr" presetSubtype="0" fill="hold" grpId="0" nodeType="withEffect">
                                  <p:stCondLst>
                                    <p:cond delay="51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550"/>
                                        <p:tgtEl>
                                          <p:spTgt spid="25"/>
                                        </p:tgtEl>
                                      </p:cBhvr>
                                    </p:animEffect>
                                  </p:childTnLst>
                                </p:cTn>
                              </p:par>
                              <p:par>
                                <p:cTn id="93" presetID="10" presetClass="entr" presetSubtype="0" fill="hold" grpId="0" nodeType="withEffect">
                                  <p:stCondLst>
                                    <p:cond delay="51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5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900" name="Background art" descr="Decorative illustration"/>
          <p:cNvPicPr>
            <a:picLocks noChangeAspect="1"/>
          </p:cNvPicPr>
          <p:nvPr/>
        </p:nvPicPr>
        <p:blipFill>
          <a:blip r:embed="rId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bg1"/>
                </a:solidFill>
              </a:rPr>
              <a:t>A day on an EcoCampus</a:t>
            </a:r>
            <a:endParaRPr lang="en-US" sz="3600" dirty="0"/>
          </a:p>
        </p:txBody>
      </p:sp>
      <p:sp>
        <p:nvSpPr>
          <p:cNvPr id="3" name="Timeline rail"/>
          <p:cNvSpPr/>
          <p:nvPr/>
        </p:nvSpPr>
        <p:spPr>
          <a:xfrm>
            <a:off x="1645920" y="2176272"/>
            <a:ext cx="8869680" cy="45720"/>
          </a:xfrm>
          <a:prstGeom prst="rect">
            <a:avLst/>
          </a:prstGeom>
          <a:solidFill>
            <a:schemeClr val="accent1"/>
          </a:solidFill>
          <a:ln/>
        </p:spPr>
      </p:sp>
      <p:sp>
        <p:nvSpPr>
          <p:cNvPr id="4" name="Node 1"/>
          <p:cNvSpPr/>
          <p:nvPr/>
        </p:nvSpPr>
        <p:spPr>
          <a:xfrm>
            <a:off x="1463040" y="2011680"/>
            <a:ext cx="365760" cy="365760"/>
          </a:xfrm>
          <a:prstGeom prst="ellipse">
            <a:avLst/>
          </a:prstGeom>
          <a:solidFill>
            <a:schemeClr val="accent2"/>
          </a:solidFill>
          <a:ln w="38100">
            <a:solidFill>
              <a:schemeClr val="tx1"/>
            </a:solidFill>
            <a:prstDash val="solid"/>
          </a:ln>
        </p:spPr>
      </p:sp>
      <p:sp>
        <p:nvSpPr>
          <p:cNvPr id="5" name="Step 1 card"/>
          <p:cNvSpPr/>
          <p:nvPr/>
        </p:nvSpPr>
        <p:spPr>
          <a:xfrm>
            <a:off x="640080" y="2743200"/>
            <a:ext cx="2011680" cy="2743200"/>
          </a:xfrm>
          <a:prstGeom prst="roundRect">
            <a:avLst>
              <a:gd name="adj" fmla="val 5455"/>
            </a:avLst>
          </a:prstGeom>
          <a:solidFill>
            <a:schemeClr val="tx2"/>
          </a:solidFill>
          <a:ln/>
        </p:spPr>
      </p:sp>
      <p:sp>
        <p:nvSpPr>
          <p:cNvPr id="6" name="Text 4"/>
          <p:cNvSpPr txBox="1"/>
          <p:nvPr/>
        </p:nvSpPr>
        <p:spPr>
          <a:xfrm>
            <a:off x="640080" y="2880360"/>
            <a:ext cx="2011680" cy="457200"/>
          </a:xfrm>
          <a:prstGeom prst="rect">
            <a:avLst/>
          </a:prstGeom>
          <a:noFill/>
          <a:ln/>
        </p:spPr>
        <p:txBody>
          <a:bodyPr wrap="square" lIns="0" tIns="0" rIns="0" bIns="0" rtlCol="0" anchor="ctr"/>
          <a:lstStyle/>
          <a:p>
            <a:pPr marL="0" indent="0" algn="ctr">
              <a:buNone/>
            </a:pPr>
            <a:r>
              <a:rPr lang="en-US" sz="2400" b="1" dirty="0">
                <a:solidFill>
                  <a:schemeClr val="accent2"/>
                </a:solidFill>
                <a:latin typeface="Arial" pitchFamily="34" charset="0"/>
                <a:ea typeface="Arial" pitchFamily="34" charset="-122"/>
                <a:cs typeface="Arial" pitchFamily="34" charset="-120"/>
              </a:rPr>
              <a:t>09:50</a:t>
            </a:r>
            <a:endParaRPr lang="en-US" sz="2400" dirty="0"/>
          </a:p>
        </p:txBody>
      </p:sp>
      <p:sp>
        <p:nvSpPr>
          <p:cNvPr id="7" name="Lecture cancelled in the timetable circle"/>
          <p:cNvSpPr/>
          <p:nvPr/>
        </p:nvSpPr>
        <p:spPr>
          <a:xfrm>
            <a:off x="1280160" y="3474720"/>
            <a:ext cx="731520" cy="731520"/>
          </a:xfrm>
          <a:prstGeom prst="ellipse">
            <a:avLst/>
          </a:prstGeom>
          <a:solidFill>
            <a:schemeClr val="accent1"/>
          </a:solidFill>
          <a:ln/>
        </p:spPr>
      </p:sp>
      <p:pic>
        <p:nvPicPr>
          <p:cNvPr id="8" name="Image 0" descr="Lecture cancelled in the timetable"/>
          <p:cNvPicPr>
            <a:picLocks noChangeAspect="1"/>
          </p:cNvPicPr>
          <p:nvPr/>
        </p:nvPicPr>
        <p:blipFill>
          <a:blip r:embed="rId3"/>
          <a:stretch>
            <a:fillRect/>
          </a:stretch>
        </p:blipFill>
        <p:spPr>
          <a:xfrm>
            <a:off x="1463040" y="3657600"/>
            <a:ext cx="365760" cy="365760"/>
          </a:xfrm>
          <a:prstGeom prst="rect">
            <a:avLst/>
          </a:prstGeom>
        </p:spPr>
      </p:pic>
      <p:sp>
        <p:nvSpPr>
          <p:cNvPr id="9" name="Text 6"/>
          <p:cNvSpPr txBox="1"/>
          <p:nvPr/>
        </p:nvSpPr>
        <p:spPr>
          <a:xfrm>
            <a:off x="777240" y="4389120"/>
            <a:ext cx="1737360" cy="914400"/>
          </a:xfrm>
          <a:prstGeom prst="rect">
            <a:avLst/>
          </a:prstGeom>
          <a:noFill/>
          <a:ln/>
        </p:spPr>
        <p:txBody>
          <a:bodyPr wrap="square" lIns="0" tIns="0" rIns="0" bIns="0" rtlCol="0" anchor="t"/>
          <a:lstStyle/>
          <a:p>
            <a:pPr marL="0" indent="0" algn="ctr">
              <a:buNone/>
            </a:pPr>
            <a:r>
              <a:rPr lang="en-US" sz="1500" dirty="0">
                <a:solidFill>
                  <a:schemeClr val="bg1"/>
                </a:solidFill>
              </a:rPr>
              <a:t>Lecture cancelled in the timetable</a:t>
            </a:r>
            <a:endParaRPr lang="en-US" sz="1500" dirty="0"/>
          </a:p>
        </p:txBody>
      </p:sp>
      <p:sp>
        <p:nvSpPr>
          <p:cNvPr id="10" name="Node 2"/>
          <p:cNvSpPr/>
          <p:nvPr/>
        </p:nvSpPr>
        <p:spPr>
          <a:xfrm>
            <a:off x="3687318" y="2011680"/>
            <a:ext cx="365760" cy="365760"/>
          </a:xfrm>
          <a:prstGeom prst="ellipse">
            <a:avLst/>
          </a:prstGeom>
          <a:solidFill>
            <a:schemeClr val="accent2"/>
          </a:solidFill>
          <a:ln w="38100">
            <a:solidFill>
              <a:schemeClr val="tx1"/>
            </a:solidFill>
            <a:prstDash val="solid"/>
          </a:ln>
        </p:spPr>
      </p:sp>
      <p:sp>
        <p:nvSpPr>
          <p:cNvPr id="11" name="Step 2 card"/>
          <p:cNvSpPr/>
          <p:nvPr/>
        </p:nvSpPr>
        <p:spPr>
          <a:xfrm>
            <a:off x="2864358" y="2743200"/>
            <a:ext cx="2011680" cy="2743200"/>
          </a:xfrm>
          <a:prstGeom prst="roundRect">
            <a:avLst>
              <a:gd name="adj" fmla="val 5455"/>
            </a:avLst>
          </a:prstGeom>
          <a:solidFill>
            <a:schemeClr val="tx2"/>
          </a:solidFill>
          <a:ln/>
        </p:spPr>
      </p:sp>
      <p:sp>
        <p:nvSpPr>
          <p:cNvPr id="12" name="Text 9"/>
          <p:cNvSpPr txBox="1"/>
          <p:nvPr/>
        </p:nvSpPr>
        <p:spPr>
          <a:xfrm>
            <a:off x="2864358" y="2880360"/>
            <a:ext cx="2011680" cy="457200"/>
          </a:xfrm>
          <a:prstGeom prst="rect">
            <a:avLst/>
          </a:prstGeom>
          <a:noFill/>
          <a:ln/>
        </p:spPr>
        <p:txBody>
          <a:bodyPr wrap="square" lIns="0" tIns="0" rIns="0" bIns="0" rtlCol="0" anchor="ctr"/>
          <a:lstStyle/>
          <a:p>
            <a:pPr marL="0" indent="0" algn="ctr">
              <a:buNone/>
            </a:pPr>
            <a:r>
              <a:rPr lang="en-US" sz="2400" b="1" dirty="0">
                <a:solidFill>
                  <a:schemeClr val="accent2"/>
                </a:solidFill>
                <a:latin typeface="Arial" pitchFamily="34" charset="0"/>
                <a:ea typeface="Arial" pitchFamily="34" charset="-122"/>
                <a:cs typeface="Arial" pitchFamily="34" charset="-120"/>
              </a:rPr>
              <a:t>10:00</a:t>
            </a:r>
            <a:endParaRPr lang="en-US" sz="2400" dirty="0"/>
          </a:p>
        </p:txBody>
      </p:sp>
      <p:sp>
        <p:nvSpPr>
          <p:cNvPr id="13" name="Edge camera confirms the room is empty circle"/>
          <p:cNvSpPr/>
          <p:nvPr/>
        </p:nvSpPr>
        <p:spPr>
          <a:xfrm>
            <a:off x="3504438" y="3474720"/>
            <a:ext cx="731520" cy="731520"/>
          </a:xfrm>
          <a:prstGeom prst="ellipse">
            <a:avLst/>
          </a:prstGeom>
          <a:solidFill>
            <a:schemeClr val="accent1"/>
          </a:solidFill>
          <a:ln/>
        </p:spPr>
      </p:sp>
      <p:pic>
        <p:nvPicPr>
          <p:cNvPr id="14" name="Image 1" descr="Edge camera confirms the room is empty"/>
          <p:cNvPicPr>
            <a:picLocks noChangeAspect="1"/>
          </p:cNvPicPr>
          <p:nvPr/>
        </p:nvPicPr>
        <p:blipFill>
          <a:blip r:embed="rId4"/>
          <a:stretch>
            <a:fillRect/>
          </a:stretch>
        </p:blipFill>
        <p:spPr>
          <a:xfrm>
            <a:off x="3687318" y="3657600"/>
            <a:ext cx="365760" cy="365760"/>
          </a:xfrm>
          <a:prstGeom prst="rect">
            <a:avLst/>
          </a:prstGeom>
        </p:spPr>
      </p:pic>
      <p:sp>
        <p:nvSpPr>
          <p:cNvPr id="15" name="Text 11"/>
          <p:cNvSpPr txBox="1"/>
          <p:nvPr/>
        </p:nvSpPr>
        <p:spPr>
          <a:xfrm>
            <a:off x="3001518" y="4389120"/>
            <a:ext cx="1737360" cy="914400"/>
          </a:xfrm>
          <a:prstGeom prst="rect">
            <a:avLst/>
          </a:prstGeom>
          <a:noFill/>
          <a:ln/>
        </p:spPr>
        <p:txBody>
          <a:bodyPr wrap="square" lIns="0" tIns="0" rIns="0" bIns="0" rtlCol="0" anchor="t"/>
          <a:lstStyle/>
          <a:p>
            <a:pPr marL="0" indent="0" algn="ctr">
              <a:buNone/>
            </a:pPr>
            <a:r>
              <a:rPr lang="en-US" sz="1500" dirty="0">
                <a:solidFill>
                  <a:schemeClr val="bg1"/>
                </a:solidFill>
              </a:rPr>
              <a:t>Edge camera confirms the room is empty</a:t>
            </a:r>
            <a:endParaRPr lang="en-US" sz="1500" dirty="0"/>
          </a:p>
        </p:txBody>
      </p:sp>
      <p:sp>
        <p:nvSpPr>
          <p:cNvPr id="16" name="Node 3"/>
          <p:cNvSpPr/>
          <p:nvPr/>
        </p:nvSpPr>
        <p:spPr>
          <a:xfrm>
            <a:off x="5911596" y="2011680"/>
            <a:ext cx="365760" cy="365760"/>
          </a:xfrm>
          <a:prstGeom prst="ellipse">
            <a:avLst/>
          </a:prstGeom>
          <a:solidFill>
            <a:schemeClr val="accent2"/>
          </a:solidFill>
          <a:ln w="38100">
            <a:solidFill>
              <a:schemeClr val="tx1"/>
            </a:solidFill>
            <a:prstDash val="solid"/>
          </a:ln>
        </p:spPr>
      </p:sp>
      <p:sp>
        <p:nvSpPr>
          <p:cNvPr id="17" name="Step 3 card"/>
          <p:cNvSpPr/>
          <p:nvPr/>
        </p:nvSpPr>
        <p:spPr>
          <a:xfrm>
            <a:off x="5088636" y="2743200"/>
            <a:ext cx="2011680" cy="2743200"/>
          </a:xfrm>
          <a:prstGeom prst="roundRect">
            <a:avLst>
              <a:gd name="adj" fmla="val 5455"/>
            </a:avLst>
          </a:prstGeom>
          <a:solidFill>
            <a:schemeClr val="tx2"/>
          </a:solidFill>
          <a:ln/>
        </p:spPr>
      </p:sp>
      <p:sp>
        <p:nvSpPr>
          <p:cNvPr id="18" name="Text 14"/>
          <p:cNvSpPr txBox="1"/>
          <p:nvPr/>
        </p:nvSpPr>
        <p:spPr>
          <a:xfrm>
            <a:off x="5088636" y="2880360"/>
            <a:ext cx="2011680" cy="457200"/>
          </a:xfrm>
          <a:prstGeom prst="rect">
            <a:avLst/>
          </a:prstGeom>
          <a:noFill/>
          <a:ln/>
        </p:spPr>
        <p:txBody>
          <a:bodyPr wrap="square" lIns="0" tIns="0" rIns="0" bIns="0" rtlCol="0" anchor="ctr"/>
          <a:lstStyle/>
          <a:p>
            <a:pPr marL="0" indent="0" algn="ctr">
              <a:buNone/>
            </a:pPr>
            <a:r>
              <a:rPr lang="en-US" sz="2400" b="1" dirty="0">
                <a:solidFill>
                  <a:schemeClr val="accent2"/>
                </a:solidFill>
                <a:latin typeface="Arial" pitchFamily="34" charset="0"/>
                <a:ea typeface="Arial" pitchFamily="34" charset="-122"/>
                <a:cs typeface="Arial" pitchFamily="34" charset="-120"/>
              </a:rPr>
              <a:t>10:01</a:t>
            </a:r>
            <a:endParaRPr lang="en-US" sz="2400" dirty="0"/>
          </a:p>
        </p:txBody>
      </p:sp>
      <p:sp>
        <p:nvSpPr>
          <p:cNvPr id="19" name="AI switches HVAC and lights to saving mode circle"/>
          <p:cNvSpPr/>
          <p:nvPr/>
        </p:nvSpPr>
        <p:spPr>
          <a:xfrm>
            <a:off x="5728716" y="3474720"/>
            <a:ext cx="731520" cy="731520"/>
          </a:xfrm>
          <a:prstGeom prst="ellipse">
            <a:avLst/>
          </a:prstGeom>
          <a:solidFill>
            <a:schemeClr val="accent1"/>
          </a:solidFill>
          <a:ln/>
        </p:spPr>
      </p:sp>
      <p:pic>
        <p:nvPicPr>
          <p:cNvPr id="20" name="Image 2" descr="AI switches HVAC and lights to saving mode"/>
          <p:cNvPicPr>
            <a:picLocks noChangeAspect="1"/>
          </p:cNvPicPr>
          <p:nvPr/>
        </p:nvPicPr>
        <p:blipFill>
          <a:blip r:embed="rId5"/>
          <a:stretch>
            <a:fillRect/>
          </a:stretch>
        </p:blipFill>
        <p:spPr>
          <a:xfrm>
            <a:off x="5911596" y="3657600"/>
            <a:ext cx="365760" cy="365760"/>
          </a:xfrm>
          <a:prstGeom prst="rect">
            <a:avLst/>
          </a:prstGeom>
        </p:spPr>
      </p:pic>
      <p:sp>
        <p:nvSpPr>
          <p:cNvPr id="21" name="Text 16"/>
          <p:cNvSpPr txBox="1"/>
          <p:nvPr/>
        </p:nvSpPr>
        <p:spPr>
          <a:xfrm>
            <a:off x="5225796" y="4389120"/>
            <a:ext cx="1737360" cy="914400"/>
          </a:xfrm>
          <a:prstGeom prst="rect">
            <a:avLst/>
          </a:prstGeom>
          <a:noFill/>
          <a:ln/>
        </p:spPr>
        <p:txBody>
          <a:bodyPr wrap="square" lIns="0" tIns="0" rIns="0" bIns="0" rtlCol="0" anchor="t"/>
          <a:lstStyle/>
          <a:p>
            <a:pPr marL="0" indent="0" algn="ctr">
              <a:buNone/>
            </a:pPr>
            <a:r>
              <a:rPr lang="en-US" sz="1500" dirty="0">
                <a:solidFill>
                  <a:schemeClr val="bg1"/>
                </a:solidFill>
              </a:rPr>
              <a:t>AI switches HVAC and lights to saving mode</a:t>
            </a:r>
            <a:endParaRPr lang="en-US" sz="1500" dirty="0"/>
          </a:p>
        </p:txBody>
      </p:sp>
      <p:sp>
        <p:nvSpPr>
          <p:cNvPr id="22" name="Node 4"/>
          <p:cNvSpPr/>
          <p:nvPr/>
        </p:nvSpPr>
        <p:spPr>
          <a:xfrm>
            <a:off x="8135874" y="2011680"/>
            <a:ext cx="365760" cy="365760"/>
          </a:xfrm>
          <a:prstGeom prst="ellipse">
            <a:avLst/>
          </a:prstGeom>
          <a:solidFill>
            <a:schemeClr val="accent2"/>
          </a:solidFill>
          <a:ln w="38100">
            <a:solidFill>
              <a:schemeClr val="tx1"/>
            </a:solidFill>
            <a:prstDash val="solid"/>
          </a:ln>
        </p:spPr>
      </p:sp>
      <p:sp>
        <p:nvSpPr>
          <p:cNvPr id="23" name="Step 4 card"/>
          <p:cNvSpPr/>
          <p:nvPr/>
        </p:nvSpPr>
        <p:spPr>
          <a:xfrm>
            <a:off x="7312914" y="2743200"/>
            <a:ext cx="2011680" cy="2743200"/>
          </a:xfrm>
          <a:prstGeom prst="roundRect">
            <a:avLst>
              <a:gd name="adj" fmla="val 5455"/>
            </a:avLst>
          </a:prstGeom>
          <a:solidFill>
            <a:schemeClr val="tx2"/>
          </a:solidFill>
          <a:ln/>
        </p:spPr>
      </p:sp>
      <p:sp>
        <p:nvSpPr>
          <p:cNvPr id="24" name="Text 19"/>
          <p:cNvSpPr txBox="1"/>
          <p:nvPr/>
        </p:nvSpPr>
        <p:spPr>
          <a:xfrm>
            <a:off x="7312914" y="2880360"/>
            <a:ext cx="2011680" cy="457200"/>
          </a:xfrm>
          <a:prstGeom prst="rect">
            <a:avLst/>
          </a:prstGeom>
          <a:noFill/>
          <a:ln/>
        </p:spPr>
        <p:txBody>
          <a:bodyPr wrap="square" lIns="0" tIns="0" rIns="0" bIns="0" rtlCol="0" anchor="ctr"/>
          <a:lstStyle/>
          <a:p>
            <a:pPr marL="0" indent="0" algn="ctr">
              <a:buNone/>
            </a:pPr>
            <a:r>
              <a:rPr lang="en-US" sz="2400" b="1" dirty="0">
                <a:solidFill>
                  <a:schemeClr val="accent2"/>
                </a:solidFill>
                <a:latin typeface="Arial" pitchFamily="34" charset="0"/>
                <a:ea typeface="Arial" pitchFamily="34" charset="-122"/>
                <a:cs typeface="Arial" pitchFamily="34" charset="-120"/>
              </a:rPr>
              <a:t>12:30</a:t>
            </a:r>
            <a:endParaRPr lang="en-US" sz="2400" dirty="0"/>
          </a:p>
        </p:txBody>
      </p:sp>
      <p:sp>
        <p:nvSpPr>
          <p:cNvPr id="25" name="Bin hits 80%; janitorial staff alerted circle"/>
          <p:cNvSpPr/>
          <p:nvPr/>
        </p:nvSpPr>
        <p:spPr>
          <a:xfrm>
            <a:off x="7952994" y="3474720"/>
            <a:ext cx="731520" cy="731520"/>
          </a:xfrm>
          <a:prstGeom prst="ellipse">
            <a:avLst/>
          </a:prstGeom>
          <a:solidFill>
            <a:schemeClr val="accent1"/>
          </a:solidFill>
          <a:ln/>
        </p:spPr>
      </p:sp>
      <p:pic>
        <p:nvPicPr>
          <p:cNvPr id="26" name="Image 3" descr="Bin hits 80%; janitorial staff alerted"/>
          <p:cNvPicPr>
            <a:picLocks noChangeAspect="1"/>
          </p:cNvPicPr>
          <p:nvPr/>
        </p:nvPicPr>
        <p:blipFill>
          <a:blip r:embed="rId6"/>
          <a:stretch>
            <a:fillRect/>
          </a:stretch>
        </p:blipFill>
        <p:spPr>
          <a:xfrm>
            <a:off x="8135874" y="3657600"/>
            <a:ext cx="365760" cy="365760"/>
          </a:xfrm>
          <a:prstGeom prst="rect">
            <a:avLst/>
          </a:prstGeom>
        </p:spPr>
      </p:pic>
      <p:sp>
        <p:nvSpPr>
          <p:cNvPr id="27" name="Text 21"/>
          <p:cNvSpPr txBox="1"/>
          <p:nvPr/>
        </p:nvSpPr>
        <p:spPr>
          <a:xfrm>
            <a:off x="7450074" y="4389120"/>
            <a:ext cx="1737360" cy="914400"/>
          </a:xfrm>
          <a:prstGeom prst="rect">
            <a:avLst/>
          </a:prstGeom>
          <a:noFill/>
          <a:ln/>
        </p:spPr>
        <p:txBody>
          <a:bodyPr wrap="square" lIns="0" tIns="0" rIns="0" bIns="0" rtlCol="0" anchor="t"/>
          <a:lstStyle/>
          <a:p>
            <a:pPr marL="0" indent="0" algn="ctr">
              <a:buNone/>
            </a:pPr>
            <a:r>
              <a:rPr lang="en-US" sz="1500" dirty="0">
                <a:solidFill>
                  <a:schemeClr val="bg1"/>
                </a:solidFill>
              </a:rPr>
              <a:t>Bin hits 80%; janitorial staff alerted</a:t>
            </a:r>
            <a:endParaRPr lang="en-US" sz="1500" dirty="0"/>
          </a:p>
        </p:txBody>
      </p:sp>
      <p:sp>
        <p:nvSpPr>
          <p:cNvPr id="28" name="Node 5"/>
          <p:cNvSpPr/>
          <p:nvPr/>
        </p:nvSpPr>
        <p:spPr>
          <a:xfrm>
            <a:off x="10360152" y="2011680"/>
            <a:ext cx="365760" cy="365760"/>
          </a:xfrm>
          <a:prstGeom prst="ellipse">
            <a:avLst/>
          </a:prstGeom>
          <a:solidFill>
            <a:schemeClr val="accent2"/>
          </a:solidFill>
          <a:ln w="38100">
            <a:solidFill>
              <a:schemeClr val="tx1"/>
            </a:solidFill>
            <a:prstDash val="solid"/>
          </a:ln>
        </p:spPr>
      </p:sp>
      <p:sp>
        <p:nvSpPr>
          <p:cNvPr id="29" name="Step 5 card"/>
          <p:cNvSpPr/>
          <p:nvPr/>
        </p:nvSpPr>
        <p:spPr>
          <a:xfrm>
            <a:off x="9537192" y="2743200"/>
            <a:ext cx="2011680" cy="2743200"/>
          </a:xfrm>
          <a:prstGeom prst="roundRect">
            <a:avLst>
              <a:gd name="adj" fmla="val 5455"/>
            </a:avLst>
          </a:prstGeom>
          <a:solidFill>
            <a:schemeClr val="tx2"/>
          </a:solidFill>
          <a:ln/>
        </p:spPr>
      </p:sp>
      <p:sp>
        <p:nvSpPr>
          <p:cNvPr id="30" name="Text 24"/>
          <p:cNvSpPr txBox="1"/>
          <p:nvPr/>
        </p:nvSpPr>
        <p:spPr>
          <a:xfrm>
            <a:off x="9537192" y="2880360"/>
            <a:ext cx="2011680" cy="457200"/>
          </a:xfrm>
          <a:prstGeom prst="rect">
            <a:avLst/>
          </a:prstGeom>
          <a:noFill/>
          <a:ln/>
        </p:spPr>
        <p:txBody>
          <a:bodyPr wrap="square" lIns="0" tIns="0" rIns="0" bIns="0" rtlCol="0" anchor="ctr"/>
          <a:lstStyle/>
          <a:p>
            <a:pPr marL="0" indent="0" algn="ctr">
              <a:buNone/>
            </a:pPr>
            <a:r>
              <a:rPr lang="en-US" sz="2400" b="1" dirty="0">
                <a:solidFill>
                  <a:schemeClr val="accent2"/>
                </a:solidFill>
                <a:latin typeface="Arial" pitchFamily="34" charset="0"/>
                <a:ea typeface="Arial" pitchFamily="34" charset="-122"/>
                <a:cs typeface="Arial" pitchFamily="34" charset="-120"/>
              </a:rPr>
              <a:t>Night</a:t>
            </a:r>
            <a:endParaRPr lang="en-US" sz="2400" dirty="0"/>
          </a:p>
        </p:txBody>
      </p:sp>
      <p:sp>
        <p:nvSpPr>
          <p:cNvPr id="31" name="Dorm leaderboard updates with the savings circle"/>
          <p:cNvSpPr/>
          <p:nvPr/>
        </p:nvSpPr>
        <p:spPr>
          <a:xfrm>
            <a:off x="10177272" y="3474720"/>
            <a:ext cx="731520" cy="731520"/>
          </a:xfrm>
          <a:prstGeom prst="ellipse">
            <a:avLst/>
          </a:prstGeom>
          <a:solidFill>
            <a:schemeClr val="accent1"/>
          </a:solidFill>
          <a:ln/>
        </p:spPr>
      </p:sp>
      <p:pic>
        <p:nvPicPr>
          <p:cNvPr id="32" name="Image 4" descr="Dorm leaderboard updates with the savings"/>
          <p:cNvPicPr>
            <a:picLocks noChangeAspect="1"/>
          </p:cNvPicPr>
          <p:nvPr/>
        </p:nvPicPr>
        <p:blipFill>
          <a:blip r:embed="rId7"/>
          <a:stretch>
            <a:fillRect/>
          </a:stretch>
        </p:blipFill>
        <p:spPr>
          <a:xfrm>
            <a:off x="10360152" y="3657600"/>
            <a:ext cx="365760" cy="365760"/>
          </a:xfrm>
          <a:prstGeom prst="rect">
            <a:avLst/>
          </a:prstGeom>
        </p:spPr>
      </p:pic>
      <p:sp>
        <p:nvSpPr>
          <p:cNvPr id="33" name="Text 26"/>
          <p:cNvSpPr txBox="1"/>
          <p:nvPr/>
        </p:nvSpPr>
        <p:spPr>
          <a:xfrm>
            <a:off x="9674352" y="4389120"/>
            <a:ext cx="1737360" cy="914400"/>
          </a:xfrm>
          <a:prstGeom prst="rect">
            <a:avLst/>
          </a:prstGeom>
          <a:noFill/>
          <a:ln/>
        </p:spPr>
        <p:txBody>
          <a:bodyPr wrap="square" lIns="0" tIns="0" rIns="0" bIns="0" rtlCol="0" anchor="t"/>
          <a:lstStyle/>
          <a:p>
            <a:pPr marL="0" indent="0" algn="ctr">
              <a:buNone/>
            </a:pPr>
            <a:r>
              <a:rPr lang="en-US" sz="1500" dirty="0">
                <a:solidFill>
                  <a:schemeClr val="bg1"/>
                </a:solidFill>
              </a:rPr>
              <a:t>Dorm leaderboard updates with the savings</a:t>
            </a:r>
            <a:endParaRPr lang="en-US" sz="1500" dirty="0"/>
          </a:p>
        </p:txBody>
      </p:sp>
      <p:sp>
        <p:nvSpPr>
          <p:cNvPr id="34" name="Text 27"/>
          <p:cNvSpPr txBox="1"/>
          <p:nvPr/>
        </p:nvSpPr>
        <p:spPr>
          <a:xfrm>
            <a:off x="640080" y="5760720"/>
            <a:ext cx="5486400" cy="274320"/>
          </a:xfrm>
          <a:prstGeom prst="rect">
            <a:avLst/>
          </a:prstGeom>
          <a:noFill/>
          <a:ln/>
        </p:spPr>
        <p:txBody>
          <a:bodyPr wrap="square" lIns="0" tIns="0" rIns="0" bIns="0" rtlCol="0" anchor="ctr"/>
          <a:lstStyle/>
          <a:p>
            <a:pPr marL="0" indent="0">
              <a:buNone/>
            </a:pPr>
            <a:r>
              <a:rPr lang="en-US" sz="1200" dirty="0">
                <a:solidFill>
                  <a:schemeClr val="accent5"/>
                </a:solidFill>
              </a:rPr>
              <a:t>Illustrative scenario</a:t>
            </a:r>
            <a:endParaRPr lang="en-US" sz="1200" dirty="0"/>
          </a:p>
        </p:txBody>
      </p:sp>
      <p:sp>
        <p:nvSpPr>
          <p:cNvPr id="3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5"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4" presetID="2" presetClass="entr" presetSubtype="4" fill="hold" grpId="0" nodeType="withEffect">
                                  <p:stCondLst>
                                    <p:cond delay="3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ppt_y</p:attrName>
                                        </p:attrNameLst>
                                      </p:cBhvr>
                                      <p:tavLst>
                                        <p:tav tm="0">
                                          <p:val>
                                            <p:strVal val="#ppt_y+0.07"/>
                                          </p:val>
                                        </p:tav>
                                        <p:tav tm="100000">
                                          <p:val>
                                            <p:strVal val="#ppt_y"/>
                                          </p:val>
                                        </p:tav>
                                      </p:tavLst>
                                    </p:anim>
                                    <p:animEffect transition="in" filter="fade">
                                      <p:cBhvr>
                                        <p:cTn id="13" dur="550"/>
                                        <p:tgtEl>
                                          <p:spTgt spid="4"/>
                                        </p:tgtEl>
                                      </p:cBhvr>
                                    </p:animEffect>
                                  </p:childTnLst>
                                </p:cTn>
                              </p:par>
                              <p:par>
                                <p:cTn id="18" presetID="2" presetClass="entr" presetSubtype="4"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50" fill="hold"/>
                                        <p:tgtEl>
                                          <p:spTgt spid="5"/>
                                        </p:tgtEl>
                                        <p:attrNameLst>
                                          <p:attrName>ppt_y</p:attrName>
                                        </p:attrNameLst>
                                      </p:cBhvr>
                                      <p:tavLst>
                                        <p:tav tm="0">
                                          <p:val>
                                            <p:strVal val="#ppt_y+0.07"/>
                                          </p:val>
                                        </p:tav>
                                        <p:tav tm="100000">
                                          <p:val>
                                            <p:strVal val="#ppt_y"/>
                                          </p:val>
                                        </p:tav>
                                      </p:tavLst>
                                    </p:anim>
                                    <p:animEffect transition="in" filter="fade">
                                      <p:cBhvr>
                                        <p:cTn id="17" dur="550"/>
                                        <p:tgtEl>
                                          <p:spTgt spid="5"/>
                                        </p:tgtEl>
                                      </p:cBhvr>
                                    </p:animEffect>
                                  </p:childTnLst>
                                </p:cTn>
                              </p:par>
                              <p:par>
                                <p:cTn id="21" presetID="10" presetClass="entr" presetSubtype="0" fill="hold" grpId="0" nodeType="withEffect">
                                  <p:stCondLst>
                                    <p:cond delay="51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50"/>
                                        <p:tgtEl>
                                          <p:spTgt spid="6"/>
                                        </p:tgtEl>
                                      </p:cBhvr>
                                    </p:animEffect>
                                  </p:childTnLst>
                                </p:cTn>
                              </p:par>
                              <p:par>
                                <p:cTn id="26" presetID="53" presetClass="entr" presetSubtype="16" fill="hold" grpId="0" nodeType="withEffect">
                                  <p:stCondLst>
                                    <p:cond delay="51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50" fill="hold"/>
                                        <p:tgtEl>
                                          <p:spTgt spid="7"/>
                                        </p:tgtEl>
                                        <p:attrNameLst>
                                          <p:attrName>ppt_w</p:attrName>
                                        </p:attrNameLst>
                                      </p:cBhvr>
                                      <p:tavLst>
                                        <p:tav tm="0">
                                          <p:val>
                                            <p:fltVal val="0"/>
                                          </p:val>
                                        </p:tav>
                                        <p:tav tm="100000">
                                          <p:val>
                                            <p:strVal val="#ppt_w"/>
                                          </p:val>
                                        </p:tav>
                                      </p:tavLst>
                                    </p:anim>
                                    <p:anim calcmode="lin" valueType="num">
                                      <p:cBhvr additive="base">
                                        <p:cTn id="24" dur="550" fill="hold"/>
                                        <p:tgtEl>
                                          <p:spTgt spid="7"/>
                                        </p:tgtEl>
                                        <p:attrNameLst>
                                          <p:attrName>ppt_h</p:attrName>
                                        </p:attrNameLst>
                                      </p:cBhvr>
                                      <p:tavLst>
                                        <p:tav tm="0">
                                          <p:val>
                                            <p:fltVal val="0"/>
                                          </p:val>
                                        </p:tav>
                                        <p:tav tm="100000">
                                          <p:val>
                                            <p:strVal val="#ppt_h"/>
                                          </p:val>
                                        </p:tav>
                                      </p:tavLst>
                                    </p:anim>
                                    <p:animEffect transition="in" filter="fade">
                                      <p:cBhvr>
                                        <p:cTn id="25" dur="550"/>
                                        <p:tgtEl>
                                          <p:spTgt spid="7"/>
                                        </p:tgtEl>
                                      </p:cBhvr>
                                    </p:animEffect>
                                  </p:childTnLst>
                                </p:cTn>
                              </p:par>
                              <p:par>
                                <p:cTn id="31" presetID="53" presetClass="entr" presetSubtype="16" fill="hold" grpId="0" nodeType="withEffect">
                                  <p:stCondLst>
                                    <p:cond delay="51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50" fill="hold"/>
                                        <p:tgtEl>
                                          <p:spTgt spid="8"/>
                                        </p:tgtEl>
                                        <p:attrNameLst>
                                          <p:attrName>ppt_w</p:attrName>
                                        </p:attrNameLst>
                                      </p:cBhvr>
                                      <p:tavLst>
                                        <p:tav tm="0">
                                          <p:val>
                                            <p:fltVal val="0"/>
                                          </p:val>
                                        </p:tav>
                                        <p:tav tm="100000">
                                          <p:val>
                                            <p:strVal val="#ppt_w"/>
                                          </p:val>
                                        </p:tav>
                                      </p:tavLst>
                                    </p:anim>
                                    <p:anim calcmode="lin" valueType="num">
                                      <p:cBhvr additive="base">
                                        <p:cTn id="29" dur="550" fill="hold"/>
                                        <p:tgtEl>
                                          <p:spTgt spid="8"/>
                                        </p:tgtEl>
                                        <p:attrNameLst>
                                          <p:attrName>ppt_h</p:attrName>
                                        </p:attrNameLst>
                                      </p:cBhvr>
                                      <p:tavLst>
                                        <p:tav tm="0">
                                          <p:val>
                                            <p:fltVal val="0"/>
                                          </p:val>
                                        </p:tav>
                                        <p:tav tm="100000">
                                          <p:val>
                                            <p:strVal val="#ppt_h"/>
                                          </p:val>
                                        </p:tav>
                                      </p:tavLst>
                                    </p:anim>
                                    <p:animEffect transition="in" filter="fade">
                                      <p:cBhvr>
                                        <p:cTn id="30" dur="550"/>
                                        <p:tgtEl>
                                          <p:spTgt spid="8"/>
                                        </p:tgtEl>
                                      </p:cBhvr>
                                    </p:animEffect>
                                  </p:childTnLst>
                                </p:cTn>
                              </p:par>
                              <p:par>
                                <p:cTn id="34" presetID="10" presetClass="entr" presetSubtype="0" fill="hold" grpId="0" nodeType="withEffect">
                                  <p:stCondLst>
                                    <p:cond delay="51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childTnLst>
                                </p:cTn>
                              </p:par>
                              <p:par>
                                <p:cTn id="38" presetID="2" presetClass="entr" presetSubtype="4" fill="hold" grpId="0" nodeType="withEffect">
                                  <p:stCondLst>
                                    <p:cond delay="6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50" fill="hold"/>
                                        <p:tgtEl>
                                          <p:spTgt spid="10"/>
                                        </p:tgtEl>
                                        <p:attrNameLst>
                                          <p:attrName>ppt_y</p:attrName>
                                        </p:attrNameLst>
                                      </p:cBhvr>
                                      <p:tavLst>
                                        <p:tav tm="0">
                                          <p:val>
                                            <p:strVal val="#ppt_y+0.07"/>
                                          </p:val>
                                        </p:tav>
                                        <p:tav tm="100000">
                                          <p:val>
                                            <p:strVal val="#ppt_y"/>
                                          </p:val>
                                        </p:tav>
                                      </p:tavLst>
                                    </p:anim>
                                    <p:animEffect transition="in" filter="fade">
                                      <p:cBhvr>
                                        <p:cTn id="37" dur="550"/>
                                        <p:tgtEl>
                                          <p:spTgt spid="10"/>
                                        </p:tgtEl>
                                      </p:cBhvr>
                                    </p:animEffect>
                                  </p:childTnLst>
                                </p:cTn>
                              </p:par>
                              <p:par>
                                <p:cTn id="42" presetID="2" presetClass="entr" presetSubtype="4" fill="hold" grpId="0" nodeType="withEffect">
                                  <p:stCondLst>
                                    <p:cond delay="75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50" fill="hold"/>
                                        <p:tgtEl>
                                          <p:spTgt spid="11"/>
                                        </p:tgtEl>
                                        <p:attrNameLst>
                                          <p:attrName>ppt_y</p:attrName>
                                        </p:attrNameLst>
                                      </p:cBhvr>
                                      <p:tavLst>
                                        <p:tav tm="0">
                                          <p:val>
                                            <p:strVal val="#ppt_y+0.07"/>
                                          </p:val>
                                        </p:tav>
                                        <p:tav tm="100000">
                                          <p:val>
                                            <p:strVal val="#ppt_y"/>
                                          </p:val>
                                        </p:tav>
                                      </p:tavLst>
                                    </p:anim>
                                    <p:animEffect transition="in" filter="fade">
                                      <p:cBhvr>
                                        <p:cTn id="41" dur="550"/>
                                        <p:tgtEl>
                                          <p:spTgt spid="11"/>
                                        </p:tgtEl>
                                      </p:cBhvr>
                                    </p:animEffect>
                                  </p:childTnLst>
                                </p:cTn>
                              </p:par>
                              <p:par>
                                <p:cTn id="45" presetID="10" presetClass="entr" presetSubtype="0" fill="hold" grpId="0" nodeType="withEffect">
                                  <p:stCondLst>
                                    <p:cond delay="81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50"/>
                                        <p:tgtEl>
                                          <p:spTgt spid="12"/>
                                        </p:tgtEl>
                                      </p:cBhvr>
                                    </p:animEffect>
                                  </p:childTnLst>
                                </p:cTn>
                              </p:par>
                              <p:par>
                                <p:cTn id="50" presetID="53" presetClass="entr" presetSubtype="16" fill="hold" grpId="0" nodeType="withEffect">
                                  <p:stCondLst>
                                    <p:cond delay="81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50" fill="hold"/>
                                        <p:tgtEl>
                                          <p:spTgt spid="13"/>
                                        </p:tgtEl>
                                        <p:attrNameLst>
                                          <p:attrName>ppt_w</p:attrName>
                                        </p:attrNameLst>
                                      </p:cBhvr>
                                      <p:tavLst>
                                        <p:tav tm="0">
                                          <p:val>
                                            <p:fltVal val="0"/>
                                          </p:val>
                                        </p:tav>
                                        <p:tav tm="100000">
                                          <p:val>
                                            <p:strVal val="#ppt_w"/>
                                          </p:val>
                                        </p:tav>
                                      </p:tavLst>
                                    </p:anim>
                                    <p:anim calcmode="lin" valueType="num">
                                      <p:cBhvr additive="base">
                                        <p:cTn id="48" dur="550" fill="hold"/>
                                        <p:tgtEl>
                                          <p:spTgt spid="13"/>
                                        </p:tgtEl>
                                        <p:attrNameLst>
                                          <p:attrName>ppt_h</p:attrName>
                                        </p:attrNameLst>
                                      </p:cBhvr>
                                      <p:tavLst>
                                        <p:tav tm="0">
                                          <p:val>
                                            <p:fltVal val="0"/>
                                          </p:val>
                                        </p:tav>
                                        <p:tav tm="100000">
                                          <p:val>
                                            <p:strVal val="#ppt_h"/>
                                          </p:val>
                                        </p:tav>
                                      </p:tavLst>
                                    </p:anim>
                                    <p:animEffect transition="in" filter="fade">
                                      <p:cBhvr>
                                        <p:cTn id="49" dur="550"/>
                                        <p:tgtEl>
                                          <p:spTgt spid="13"/>
                                        </p:tgtEl>
                                      </p:cBhvr>
                                    </p:animEffect>
                                  </p:childTnLst>
                                </p:cTn>
                              </p:par>
                              <p:par>
                                <p:cTn id="55" presetID="53" presetClass="entr" presetSubtype="16" fill="hold" grpId="0" nodeType="withEffect">
                                  <p:stCondLst>
                                    <p:cond delay="81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50" fill="hold"/>
                                        <p:tgtEl>
                                          <p:spTgt spid="14"/>
                                        </p:tgtEl>
                                        <p:attrNameLst>
                                          <p:attrName>ppt_w</p:attrName>
                                        </p:attrNameLst>
                                      </p:cBhvr>
                                      <p:tavLst>
                                        <p:tav tm="0">
                                          <p:val>
                                            <p:fltVal val="0"/>
                                          </p:val>
                                        </p:tav>
                                        <p:tav tm="100000">
                                          <p:val>
                                            <p:strVal val="#ppt_w"/>
                                          </p:val>
                                        </p:tav>
                                      </p:tavLst>
                                    </p:anim>
                                    <p:anim calcmode="lin" valueType="num">
                                      <p:cBhvr additive="base">
                                        <p:cTn id="53" dur="550" fill="hold"/>
                                        <p:tgtEl>
                                          <p:spTgt spid="14"/>
                                        </p:tgtEl>
                                        <p:attrNameLst>
                                          <p:attrName>ppt_h</p:attrName>
                                        </p:attrNameLst>
                                      </p:cBhvr>
                                      <p:tavLst>
                                        <p:tav tm="0">
                                          <p:val>
                                            <p:fltVal val="0"/>
                                          </p:val>
                                        </p:tav>
                                        <p:tav tm="100000">
                                          <p:val>
                                            <p:strVal val="#ppt_h"/>
                                          </p:val>
                                        </p:tav>
                                      </p:tavLst>
                                    </p:anim>
                                    <p:animEffect transition="in" filter="fade">
                                      <p:cBhvr>
                                        <p:cTn id="54" dur="550"/>
                                        <p:tgtEl>
                                          <p:spTgt spid="14"/>
                                        </p:tgtEl>
                                      </p:cBhvr>
                                    </p:animEffect>
                                  </p:childTnLst>
                                </p:cTn>
                              </p:par>
                              <p:par>
                                <p:cTn id="58" presetID="10" presetClass="entr" presetSubtype="0" fill="hold" grpId="0" nodeType="withEffect">
                                  <p:stCondLst>
                                    <p:cond delay="81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50"/>
                                        <p:tgtEl>
                                          <p:spTgt spid="15"/>
                                        </p:tgtEl>
                                      </p:cBhvr>
                                    </p:animEffect>
                                  </p:childTnLst>
                                </p:cTn>
                              </p:par>
                              <p:par>
                                <p:cTn id="62" presetID="2" presetClass="entr" presetSubtype="4" fill="hold" grpId="0" nodeType="withEffect">
                                  <p:stCondLst>
                                    <p:cond delay="90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50" fill="hold"/>
                                        <p:tgtEl>
                                          <p:spTgt spid="16"/>
                                        </p:tgtEl>
                                        <p:attrNameLst>
                                          <p:attrName>ppt_y</p:attrName>
                                        </p:attrNameLst>
                                      </p:cBhvr>
                                      <p:tavLst>
                                        <p:tav tm="0">
                                          <p:val>
                                            <p:strVal val="#ppt_y+0.07"/>
                                          </p:val>
                                        </p:tav>
                                        <p:tav tm="100000">
                                          <p:val>
                                            <p:strVal val="#ppt_y"/>
                                          </p:val>
                                        </p:tav>
                                      </p:tavLst>
                                    </p:anim>
                                    <p:animEffect transition="in" filter="fade">
                                      <p:cBhvr>
                                        <p:cTn id="61" dur="550"/>
                                        <p:tgtEl>
                                          <p:spTgt spid="16"/>
                                        </p:tgtEl>
                                      </p:cBhvr>
                                    </p:animEffect>
                                  </p:childTnLst>
                                </p:cTn>
                              </p:par>
                              <p:par>
                                <p:cTn id="66" presetID="2" presetClass="entr" presetSubtype="4" fill="hold" grpId="0" nodeType="withEffect">
                                  <p:stCondLst>
                                    <p:cond delay="105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50" fill="hold"/>
                                        <p:tgtEl>
                                          <p:spTgt spid="17"/>
                                        </p:tgtEl>
                                        <p:attrNameLst>
                                          <p:attrName>ppt_y</p:attrName>
                                        </p:attrNameLst>
                                      </p:cBhvr>
                                      <p:tavLst>
                                        <p:tav tm="0">
                                          <p:val>
                                            <p:strVal val="#ppt_y+0.07"/>
                                          </p:val>
                                        </p:tav>
                                        <p:tav tm="100000">
                                          <p:val>
                                            <p:strVal val="#ppt_y"/>
                                          </p:val>
                                        </p:tav>
                                      </p:tavLst>
                                    </p:anim>
                                    <p:animEffect transition="in" filter="fade">
                                      <p:cBhvr>
                                        <p:cTn id="65" dur="550"/>
                                        <p:tgtEl>
                                          <p:spTgt spid="17"/>
                                        </p:tgtEl>
                                      </p:cBhvr>
                                    </p:animEffect>
                                  </p:childTnLst>
                                </p:cTn>
                              </p:par>
                              <p:par>
                                <p:cTn id="69" presetID="10" presetClass="entr" presetSubtype="0" fill="hold" grpId="0" nodeType="withEffect">
                                  <p:stCondLst>
                                    <p:cond delay="111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50"/>
                                        <p:tgtEl>
                                          <p:spTgt spid="18"/>
                                        </p:tgtEl>
                                      </p:cBhvr>
                                    </p:animEffect>
                                  </p:childTnLst>
                                </p:cTn>
                              </p:par>
                              <p:par>
                                <p:cTn id="74" presetID="53" presetClass="entr" presetSubtype="16" fill="hold" grpId="0" nodeType="withEffect">
                                  <p:stCondLst>
                                    <p:cond delay="111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50" fill="hold"/>
                                        <p:tgtEl>
                                          <p:spTgt spid="19"/>
                                        </p:tgtEl>
                                        <p:attrNameLst>
                                          <p:attrName>ppt_w</p:attrName>
                                        </p:attrNameLst>
                                      </p:cBhvr>
                                      <p:tavLst>
                                        <p:tav tm="0">
                                          <p:val>
                                            <p:fltVal val="0"/>
                                          </p:val>
                                        </p:tav>
                                        <p:tav tm="100000">
                                          <p:val>
                                            <p:strVal val="#ppt_w"/>
                                          </p:val>
                                        </p:tav>
                                      </p:tavLst>
                                    </p:anim>
                                    <p:anim calcmode="lin" valueType="num">
                                      <p:cBhvr additive="base">
                                        <p:cTn id="72" dur="550" fill="hold"/>
                                        <p:tgtEl>
                                          <p:spTgt spid="19"/>
                                        </p:tgtEl>
                                        <p:attrNameLst>
                                          <p:attrName>ppt_h</p:attrName>
                                        </p:attrNameLst>
                                      </p:cBhvr>
                                      <p:tavLst>
                                        <p:tav tm="0">
                                          <p:val>
                                            <p:fltVal val="0"/>
                                          </p:val>
                                        </p:tav>
                                        <p:tav tm="100000">
                                          <p:val>
                                            <p:strVal val="#ppt_h"/>
                                          </p:val>
                                        </p:tav>
                                      </p:tavLst>
                                    </p:anim>
                                    <p:animEffect transition="in" filter="fade">
                                      <p:cBhvr>
                                        <p:cTn id="73" dur="550"/>
                                        <p:tgtEl>
                                          <p:spTgt spid="19"/>
                                        </p:tgtEl>
                                      </p:cBhvr>
                                    </p:animEffect>
                                  </p:childTnLst>
                                </p:cTn>
                              </p:par>
                              <p:par>
                                <p:cTn id="79" presetID="53" presetClass="entr" presetSubtype="16" fill="hold" grpId="0" nodeType="withEffect">
                                  <p:stCondLst>
                                    <p:cond delay="111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50" fill="hold"/>
                                        <p:tgtEl>
                                          <p:spTgt spid="20"/>
                                        </p:tgtEl>
                                        <p:attrNameLst>
                                          <p:attrName>ppt_w</p:attrName>
                                        </p:attrNameLst>
                                      </p:cBhvr>
                                      <p:tavLst>
                                        <p:tav tm="0">
                                          <p:val>
                                            <p:fltVal val="0"/>
                                          </p:val>
                                        </p:tav>
                                        <p:tav tm="100000">
                                          <p:val>
                                            <p:strVal val="#ppt_w"/>
                                          </p:val>
                                        </p:tav>
                                      </p:tavLst>
                                    </p:anim>
                                    <p:anim calcmode="lin" valueType="num">
                                      <p:cBhvr additive="base">
                                        <p:cTn id="77" dur="550" fill="hold"/>
                                        <p:tgtEl>
                                          <p:spTgt spid="20"/>
                                        </p:tgtEl>
                                        <p:attrNameLst>
                                          <p:attrName>ppt_h</p:attrName>
                                        </p:attrNameLst>
                                      </p:cBhvr>
                                      <p:tavLst>
                                        <p:tav tm="0">
                                          <p:val>
                                            <p:fltVal val="0"/>
                                          </p:val>
                                        </p:tav>
                                        <p:tav tm="100000">
                                          <p:val>
                                            <p:strVal val="#ppt_h"/>
                                          </p:val>
                                        </p:tav>
                                      </p:tavLst>
                                    </p:anim>
                                    <p:animEffect transition="in" filter="fade">
                                      <p:cBhvr>
                                        <p:cTn id="78" dur="550"/>
                                        <p:tgtEl>
                                          <p:spTgt spid="20"/>
                                        </p:tgtEl>
                                      </p:cBhvr>
                                    </p:animEffect>
                                  </p:childTnLst>
                                </p:cTn>
                              </p:par>
                              <p:par>
                                <p:cTn id="82" presetID="10" presetClass="entr" presetSubtype="0" fill="hold" grpId="0" nodeType="withEffect">
                                  <p:stCondLst>
                                    <p:cond delay="111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50"/>
                                        <p:tgtEl>
                                          <p:spTgt spid="21"/>
                                        </p:tgtEl>
                                      </p:cBhvr>
                                    </p:animEffect>
                                  </p:childTnLst>
                                </p:cTn>
                              </p:par>
                              <p:par>
                                <p:cTn id="86" presetID="2" presetClass="entr" presetSubtype="4" fill="hold" grpId="0" nodeType="withEffect">
                                  <p:stCondLst>
                                    <p:cond delay="120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50" fill="hold"/>
                                        <p:tgtEl>
                                          <p:spTgt spid="22"/>
                                        </p:tgtEl>
                                        <p:attrNameLst>
                                          <p:attrName>ppt_y</p:attrName>
                                        </p:attrNameLst>
                                      </p:cBhvr>
                                      <p:tavLst>
                                        <p:tav tm="0">
                                          <p:val>
                                            <p:strVal val="#ppt_y+0.07"/>
                                          </p:val>
                                        </p:tav>
                                        <p:tav tm="100000">
                                          <p:val>
                                            <p:strVal val="#ppt_y"/>
                                          </p:val>
                                        </p:tav>
                                      </p:tavLst>
                                    </p:anim>
                                    <p:animEffect transition="in" filter="fade">
                                      <p:cBhvr>
                                        <p:cTn id="85" dur="550"/>
                                        <p:tgtEl>
                                          <p:spTgt spid="22"/>
                                        </p:tgtEl>
                                      </p:cBhvr>
                                    </p:animEffect>
                                  </p:childTnLst>
                                </p:cTn>
                              </p:par>
                              <p:par>
                                <p:cTn id="90" presetID="2" presetClass="entr" presetSubtype="4" fill="hold" grpId="0" nodeType="withEffect">
                                  <p:stCondLst>
                                    <p:cond delay="1350"/>
                                  </p:stCondLst>
                                  <p:childTnLst>
                                    <p:set>
                                      <p:cBhvr>
                                        <p:cTn id="87" dur="1" fill="hold">
                                          <p:stCondLst>
                                            <p:cond delay="0"/>
                                          </p:stCondLst>
                                        </p:cTn>
                                        <p:tgtEl>
                                          <p:spTgt spid="23"/>
                                        </p:tgtEl>
                                        <p:attrNameLst>
                                          <p:attrName>style.visibility</p:attrName>
                                        </p:attrNameLst>
                                      </p:cBhvr>
                                      <p:to>
                                        <p:strVal val="visible"/>
                                      </p:to>
                                    </p:set>
                                    <p:anim calcmode="lin" valueType="num">
                                      <p:cBhvr additive="base">
                                        <p:cTn id="88" dur="550" fill="hold"/>
                                        <p:tgtEl>
                                          <p:spTgt spid="23"/>
                                        </p:tgtEl>
                                        <p:attrNameLst>
                                          <p:attrName>ppt_y</p:attrName>
                                        </p:attrNameLst>
                                      </p:cBhvr>
                                      <p:tavLst>
                                        <p:tav tm="0">
                                          <p:val>
                                            <p:strVal val="#ppt_y+0.07"/>
                                          </p:val>
                                        </p:tav>
                                        <p:tav tm="100000">
                                          <p:val>
                                            <p:strVal val="#ppt_y"/>
                                          </p:val>
                                        </p:tav>
                                      </p:tavLst>
                                    </p:anim>
                                    <p:animEffect transition="in" filter="fade">
                                      <p:cBhvr>
                                        <p:cTn id="89" dur="550"/>
                                        <p:tgtEl>
                                          <p:spTgt spid="23"/>
                                        </p:tgtEl>
                                      </p:cBhvr>
                                    </p:animEffect>
                                  </p:childTnLst>
                                </p:cTn>
                              </p:par>
                              <p:par>
                                <p:cTn id="93" presetID="10" presetClass="entr" presetSubtype="0" fill="hold" grpId="0" nodeType="withEffect">
                                  <p:stCondLst>
                                    <p:cond delay="141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50"/>
                                        <p:tgtEl>
                                          <p:spTgt spid="24"/>
                                        </p:tgtEl>
                                      </p:cBhvr>
                                    </p:animEffect>
                                  </p:childTnLst>
                                </p:cTn>
                              </p:par>
                              <p:par>
                                <p:cTn id="98" presetID="53" presetClass="entr" presetSubtype="16" fill="hold" grpId="0" nodeType="withEffect">
                                  <p:stCondLst>
                                    <p:cond delay="141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50" fill="hold"/>
                                        <p:tgtEl>
                                          <p:spTgt spid="25"/>
                                        </p:tgtEl>
                                        <p:attrNameLst>
                                          <p:attrName>ppt_w</p:attrName>
                                        </p:attrNameLst>
                                      </p:cBhvr>
                                      <p:tavLst>
                                        <p:tav tm="0">
                                          <p:val>
                                            <p:fltVal val="0"/>
                                          </p:val>
                                        </p:tav>
                                        <p:tav tm="100000">
                                          <p:val>
                                            <p:strVal val="#ppt_w"/>
                                          </p:val>
                                        </p:tav>
                                      </p:tavLst>
                                    </p:anim>
                                    <p:anim calcmode="lin" valueType="num">
                                      <p:cBhvr additive="base">
                                        <p:cTn id="96" dur="550" fill="hold"/>
                                        <p:tgtEl>
                                          <p:spTgt spid="25"/>
                                        </p:tgtEl>
                                        <p:attrNameLst>
                                          <p:attrName>ppt_h</p:attrName>
                                        </p:attrNameLst>
                                      </p:cBhvr>
                                      <p:tavLst>
                                        <p:tav tm="0">
                                          <p:val>
                                            <p:fltVal val="0"/>
                                          </p:val>
                                        </p:tav>
                                        <p:tav tm="100000">
                                          <p:val>
                                            <p:strVal val="#ppt_h"/>
                                          </p:val>
                                        </p:tav>
                                      </p:tavLst>
                                    </p:anim>
                                    <p:animEffect transition="in" filter="fade">
                                      <p:cBhvr>
                                        <p:cTn id="97" dur="550"/>
                                        <p:tgtEl>
                                          <p:spTgt spid="25"/>
                                        </p:tgtEl>
                                      </p:cBhvr>
                                    </p:animEffect>
                                  </p:childTnLst>
                                </p:cTn>
                              </p:par>
                              <p:par>
                                <p:cTn id="103" presetID="53" presetClass="entr" presetSubtype="16" fill="hold" grpId="0" nodeType="withEffect">
                                  <p:stCondLst>
                                    <p:cond delay="1410"/>
                                  </p:stCondLst>
                                  <p:childTnLst>
                                    <p:set>
                                      <p:cBhvr>
                                        <p:cTn id="99" dur="1" fill="hold">
                                          <p:stCondLst>
                                            <p:cond delay="0"/>
                                          </p:stCondLst>
                                        </p:cTn>
                                        <p:tgtEl>
                                          <p:spTgt spid="26"/>
                                        </p:tgtEl>
                                        <p:attrNameLst>
                                          <p:attrName>style.visibility</p:attrName>
                                        </p:attrNameLst>
                                      </p:cBhvr>
                                      <p:to>
                                        <p:strVal val="visible"/>
                                      </p:to>
                                    </p:set>
                                    <p:anim calcmode="lin" valueType="num">
                                      <p:cBhvr additive="base">
                                        <p:cTn id="100" dur="550" fill="hold"/>
                                        <p:tgtEl>
                                          <p:spTgt spid="26"/>
                                        </p:tgtEl>
                                        <p:attrNameLst>
                                          <p:attrName>ppt_w</p:attrName>
                                        </p:attrNameLst>
                                      </p:cBhvr>
                                      <p:tavLst>
                                        <p:tav tm="0">
                                          <p:val>
                                            <p:fltVal val="0"/>
                                          </p:val>
                                        </p:tav>
                                        <p:tav tm="100000">
                                          <p:val>
                                            <p:strVal val="#ppt_w"/>
                                          </p:val>
                                        </p:tav>
                                      </p:tavLst>
                                    </p:anim>
                                    <p:anim calcmode="lin" valueType="num">
                                      <p:cBhvr additive="base">
                                        <p:cTn id="101" dur="550" fill="hold"/>
                                        <p:tgtEl>
                                          <p:spTgt spid="26"/>
                                        </p:tgtEl>
                                        <p:attrNameLst>
                                          <p:attrName>ppt_h</p:attrName>
                                        </p:attrNameLst>
                                      </p:cBhvr>
                                      <p:tavLst>
                                        <p:tav tm="0">
                                          <p:val>
                                            <p:fltVal val="0"/>
                                          </p:val>
                                        </p:tav>
                                        <p:tav tm="100000">
                                          <p:val>
                                            <p:strVal val="#ppt_h"/>
                                          </p:val>
                                        </p:tav>
                                      </p:tavLst>
                                    </p:anim>
                                    <p:animEffect transition="in" filter="fade">
                                      <p:cBhvr>
                                        <p:cTn id="102" dur="550"/>
                                        <p:tgtEl>
                                          <p:spTgt spid="26"/>
                                        </p:tgtEl>
                                      </p:cBhvr>
                                    </p:animEffect>
                                  </p:childTnLst>
                                </p:cTn>
                              </p:par>
                              <p:par>
                                <p:cTn id="106" presetID="10" presetClass="entr" presetSubtype="0" fill="hold" grpId="0" nodeType="withEffect">
                                  <p:stCondLst>
                                    <p:cond delay="141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5" dur="550"/>
                                        <p:tgtEl>
                                          <p:spTgt spid="27"/>
                                        </p:tgtEl>
                                      </p:cBhvr>
                                    </p:animEffect>
                                  </p:childTnLst>
                                </p:cTn>
                              </p:par>
                              <p:par>
                                <p:cTn id="110" presetID="2" presetClass="entr" presetSubtype="4" fill="hold" grpId="0" nodeType="withEffect">
                                  <p:stCondLst>
                                    <p:cond delay="1500"/>
                                  </p:stCondLst>
                                  <p:childTnLst>
                                    <p:set>
                                      <p:cBhvr>
                                        <p:cTn id="107" dur="1" fill="hold">
                                          <p:stCondLst>
                                            <p:cond delay="0"/>
                                          </p:stCondLst>
                                        </p:cTn>
                                        <p:tgtEl>
                                          <p:spTgt spid="28"/>
                                        </p:tgtEl>
                                        <p:attrNameLst>
                                          <p:attrName>style.visibility</p:attrName>
                                        </p:attrNameLst>
                                      </p:cBhvr>
                                      <p:to>
                                        <p:strVal val="visible"/>
                                      </p:to>
                                    </p:set>
                                    <p:anim calcmode="lin" valueType="num">
                                      <p:cBhvr additive="base">
                                        <p:cTn id="108" dur="550" fill="hold"/>
                                        <p:tgtEl>
                                          <p:spTgt spid="28"/>
                                        </p:tgtEl>
                                        <p:attrNameLst>
                                          <p:attrName>ppt_y</p:attrName>
                                        </p:attrNameLst>
                                      </p:cBhvr>
                                      <p:tavLst>
                                        <p:tav tm="0">
                                          <p:val>
                                            <p:strVal val="#ppt_y+0.07"/>
                                          </p:val>
                                        </p:tav>
                                        <p:tav tm="100000">
                                          <p:val>
                                            <p:strVal val="#ppt_y"/>
                                          </p:val>
                                        </p:tav>
                                      </p:tavLst>
                                    </p:anim>
                                    <p:animEffect transition="in" filter="fade">
                                      <p:cBhvr>
                                        <p:cTn id="109" dur="550"/>
                                        <p:tgtEl>
                                          <p:spTgt spid="28"/>
                                        </p:tgtEl>
                                      </p:cBhvr>
                                    </p:animEffect>
                                  </p:childTnLst>
                                </p:cTn>
                              </p:par>
                              <p:par>
                                <p:cTn id="114" presetID="2" presetClass="entr" presetSubtype="4" fill="hold" grpId="0" nodeType="withEffect">
                                  <p:stCondLst>
                                    <p:cond delay="165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50" fill="hold"/>
                                        <p:tgtEl>
                                          <p:spTgt spid="29"/>
                                        </p:tgtEl>
                                        <p:attrNameLst>
                                          <p:attrName>ppt_y</p:attrName>
                                        </p:attrNameLst>
                                      </p:cBhvr>
                                      <p:tavLst>
                                        <p:tav tm="0">
                                          <p:val>
                                            <p:strVal val="#ppt_y+0.07"/>
                                          </p:val>
                                        </p:tav>
                                        <p:tav tm="100000">
                                          <p:val>
                                            <p:strVal val="#ppt_y"/>
                                          </p:val>
                                        </p:tav>
                                      </p:tavLst>
                                    </p:anim>
                                    <p:animEffect transition="in" filter="fade">
                                      <p:cBhvr>
                                        <p:cTn id="113" dur="550"/>
                                        <p:tgtEl>
                                          <p:spTgt spid="29"/>
                                        </p:tgtEl>
                                      </p:cBhvr>
                                    </p:animEffect>
                                  </p:childTnLst>
                                </p:cTn>
                              </p:par>
                              <p:par>
                                <p:cTn id="117" presetID="10" presetClass="entr" presetSubtype="0" fill="hold" grpId="0" nodeType="withEffect">
                                  <p:stCondLst>
                                    <p:cond delay="1710"/>
                                  </p:stCondLst>
                                  <p:childTnLst>
                                    <p:set>
                                      <p:cBhvr>
                                        <p:cTn id="115" dur="1" fill="hold">
                                          <p:stCondLst>
                                            <p:cond delay="0"/>
                                          </p:stCondLst>
                                        </p:cTn>
                                        <p:tgtEl>
                                          <p:spTgt spid="30"/>
                                        </p:tgtEl>
                                        <p:attrNameLst>
                                          <p:attrName>style.visibility</p:attrName>
                                        </p:attrNameLst>
                                      </p:cBhvr>
                                      <p:to>
                                        <p:strVal val="visible"/>
                                      </p:to>
                                    </p:set>
                                    <p:animEffect transition="in" filter="fade">
                                      <p:cBhvr>
                                        <p:cTn id="116" dur="550"/>
                                        <p:tgtEl>
                                          <p:spTgt spid="30"/>
                                        </p:tgtEl>
                                      </p:cBhvr>
                                    </p:animEffect>
                                  </p:childTnLst>
                                </p:cTn>
                              </p:par>
                              <p:par>
                                <p:cTn id="122" presetID="53" presetClass="entr" presetSubtype="16" fill="hold" grpId="0" nodeType="withEffect">
                                  <p:stCondLst>
                                    <p:cond delay="171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50" fill="hold"/>
                                        <p:tgtEl>
                                          <p:spTgt spid="31"/>
                                        </p:tgtEl>
                                        <p:attrNameLst>
                                          <p:attrName>ppt_w</p:attrName>
                                        </p:attrNameLst>
                                      </p:cBhvr>
                                      <p:tavLst>
                                        <p:tav tm="0">
                                          <p:val>
                                            <p:fltVal val="0"/>
                                          </p:val>
                                        </p:tav>
                                        <p:tav tm="100000">
                                          <p:val>
                                            <p:strVal val="#ppt_w"/>
                                          </p:val>
                                        </p:tav>
                                      </p:tavLst>
                                    </p:anim>
                                    <p:anim calcmode="lin" valueType="num">
                                      <p:cBhvr additive="base">
                                        <p:cTn id="120" dur="550" fill="hold"/>
                                        <p:tgtEl>
                                          <p:spTgt spid="31"/>
                                        </p:tgtEl>
                                        <p:attrNameLst>
                                          <p:attrName>ppt_h</p:attrName>
                                        </p:attrNameLst>
                                      </p:cBhvr>
                                      <p:tavLst>
                                        <p:tav tm="0">
                                          <p:val>
                                            <p:fltVal val="0"/>
                                          </p:val>
                                        </p:tav>
                                        <p:tav tm="100000">
                                          <p:val>
                                            <p:strVal val="#ppt_h"/>
                                          </p:val>
                                        </p:tav>
                                      </p:tavLst>
                                    </p:anim>
                                    <p:animEffect transition="in" filter="fade">
                                      <p:cBhvr>
                                        <p:cTn id="121" dur="550"/>
                                        <p:tgtEl>
                                          <p:spTgt spid="31"/>
                                        </p:tgtEl>
                                      </p:cBhvr>
                                    </p:animEffect>
                                  </p:childTnLst>
                                </p:cTn>
                              </p:par>
                              <p:par>
                                <p:cTn id="127" presetID="53" presetClass="entr" presetSubtype="16" fill="hold" grpId="0" nodeType="withEffect">
                                  <p:stCondLst>
                                    <p:cond delay="1710"/>
                                  </p:stCondLst>
                                  <p:childTnLst>
                                    <p:set>
                                      <p:cBhvr>
                                        <p:cTn id="123" dur="1" fill="hold">
                                          <p:stCondLst>
                                            <p:cond delay="0"/>
                                          </p:stCondLst>
                                        </p:cTn>
                                        <p:tgtEl>
                                          <p:spTgt spid="32"/>
                                        </p:tgtEl>
                                        <p:attrNameLst>
                                          <p:attrName>style.visibility</p:attrName>
                                        </p:attrNameLst>
                                      </p:cBhvr>
                                      <p:to>
                                        <p:strVal val="visible"/>
                                      </p:to>
                                    </p:set>
                                    <p:anim calcmode="lin" valueType="num">
                                      <p:cBhvr additive="base">
                                        <p:cTn id="124" dur="550" fill="hold"/>
                                        <p:tgtEl>
                                          <p:spTgt spid="32"/>
                                        </p:tgtEl>
                                        <p:attrNameLst>
                                          <p:attrName>ppt_w</p:attrName>
                                        </p:attrNameLst>
                                      </p:cBhvr>
                                      <p:tavLst>
                                        <p:tav tm="0">
                                          <p:val>
                                            <p:fltVal val="0"/>
                                          </p:val>
                                        </p:tav>
                                        <p:tav tm="100000">
                                          <p:val>
                                            <p:strVal val="#ppt_w"/>
                                          </p:val>
                                        </p:tav>
                                      </p:tavLst>
                                    </p:anim>
                                    <p:anim calcmode="lin" valueType="num">
                                      <p:cBhvr additive="base">
                                        <p:cTn id="125" dur="550" fill="hold"/>
                                        <p:tgtEl>
                                          <p:spTgt spid="32"/>
                                        </p:tgtEl>
                                        <p:attrNameLst>
                                          <p:attrName>ppt_h</p:attrName>
                                        </p:attrNameLst>
                                      </p:cBhvr>
                                      <p:tavLst>
                                        <p:tav tm="0">
                                          <p:val>
                                            <p:fltVal val="0"/>
                                          </p:val>
                                        </p:tav>
                                        <p:tav tm="100000">
                                          <p:val>
                                            <p:strVal val="#ppt_h"/>
                                          </p:val>
                                        </p:tav>
                                      </p:tavLst>
                                    </p:anim>
                                    <p:animEffect transition="in" filter="fade">
                                      <p:cBhvr>
                                        <p:cTn id="126" dur="550"/>
                                        <p:tgtEl>
                                          <p:spTgt spid="32"/>
                                        </p:tgtEl>
                                      </p:cBhvr>
                                    </p:animEffect>
                                  </p:childTnLst>
                                </p:cTn>
                              </p:par>
                              <p:par>
                                <p:cTn id="130" presetID="10" presetClass="entr" presetSubtype="0" fill="hold" grpId="0" nodeType="withEffect">
                                  <p:stCondLst>
                                    <p:cond delay="1710"/>
                                  </p:stCondLst>
                                  <p:childTnLst>
                                    <p:set>
                                      <p:cBhvr>
                                        <p:cTn id="128" dur="1" fill="hold">
                                          <p:stCondLst>
                                            <p:cond delay="0"/>
                                          </p:stCondLst>
                                        </p:cTn>
                                        <p:tgtEl>
                                          <p:spTgt spid="33"/>
                                        </p:tgtEl>
                                        <p:attrNameLst>
                                          <p:attrName>style.visibility</p:attrName>
                                        </p:attrNameLst>
                                      </p:cBhvr>
                                      <p:to>
                                        <p:strVal val="visible"/>
                                      </p:to>
                                    </p:set>
                                    <p:animEffect transition="in" filter="fade">
                                      <p:cBhvr>
                                        <p:cTn id="129" dur="550"/>
                                        <p:tgtEl>
                                          <p:spTgt spid="33"/>
                                        </p:tgtEl>
                                      </p:cBhvr>
                                    </p:animEffect>
                                  </p:childTnLst>
                                </p:cTn>
                              </p:par>
                              <p:par>
                                <p:cTn id="134" presetID="2" presetClass="entr" presetSubtype="4" fill="hold" grpId="0" nodeType="withEffect">
                                  <p:stCondLst>
                                    <p:cond delay="180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50" fill="hold"/>
                                        <p:tgtEl>
                                          <p:spTgt spid="34"/>
                                        </p:tgtEl>
                                        <p:attrNameLst>
                                          <p:attrName>ppt_y</p:attrName>
                                        </p:attrNameLst>
                                      </p:cBhvr>
                                      <p:tavLst>
                                        <p:tav tm="0">
                                          <p:val>
                                            <p:strVal val="#ppt_y+0.07"/>
                                          </p:val>
                                        </p:tav>
                                        <p:tav tm="100000">
                                          <p:val>
                                            <p:strVal val="#ppt_y"/>
                                          </p:val>
                                        </p:tav>
                                      </p:tavLst>
                                    </p:anim>
                                    <p:animEffect transition="in" filter="fade">
                                      <p:cBhvr>
                                        <p:cTn id="133" dur="5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tx1"/>
                </a:solidFill>
              </a:rPr>
              <a:t>System architecture</a:t>
            </a:r>
            <a:endParaRPr lang="en-US" sz="3600" dirty="0"/>
          </a:p>
        </p:txBody>
      </p:sp>
      <p:sp>
        <p:nvSpPr>
          <p:cNvPr id="3" name="Edge layer label"/>
          <p:cNvSpPr/>
          <p:nvPr/>
        </p:nvSpPr>
        <p:spPr>
          <a:xfrm>
            <a:off x="640080" y="1508760"/>
            <a:ext cx="2377440" cy="1188720"/>
          </a:xfrm>
          <a:prstGeom prst="roundRect">
            <a:avLst>
              <a:gd name="adj" fmla="val 9231"/>
            </a:avLst>
          </a:prstGeom>
          <a:solidFill>
            <a:schemeClr val="tx1"/>
          </a:solidFill>
          <a:ln/>
        </p:spPr>
      </p:sp>
      <p:sp>
        <p:nvSpPr>
          <p:cNvPr id="4" name="Edge layer circle"/>
          <p:cNvSpPr/>
          <p:nvPr/>
        </p:nvSpPr>
        <p:spPr>
          <a:xfrm>
            <a:off x="960120" y="1783080"/>
            <a:ext cx="640080" cy="640080"/>
          </a:xfrm>
          <a:prstGeom prst="ellipse">
            <a:avLst/>
          </a:prstGeom>
          <a:solidFill>
            <a:schemeClr val="accent1"/>
          </a:solidFill>
          <a:ln/>
        </p:spPr>
      </p:sp>
      <p:pic>
        <p:nvPicPr>
          <p:cNvPr id="5" name="Image 0" descr="Edge layer"/>
          <p:cNvPicPr>
            <a:picLocks noChangeAspect="1"/>
          </p:cNvPicPr>
          <p:nvPr/>
        </p:nvPicPr>
        <p:blipFill>
          <a:blip r:embed="rId3"/>
          <a:stretch>
            <a:fillRect/>
          </a:stretch>
        </p:blipFill>
        <p:spPr>
          <a:xfrm>
            <a:off x="1120140" y="1943100"/>
            <a:ext cx="320040" cy="320040"/>
          </a:xfrm>
          <a:prstGeom prst="rect">
            <a:avLst/>
          </a:prstGeom>
        </p:spPr>
      </p:pic>
      <p:sp>
        <p:nvSpPr>
          <p:cNvPr id="6" name="Text 3"/>
          <p:cNvSpPr txBox="1"/>
          <p:nvPr/>
        </p:nvSpPr>
        <p:spPr>
          <a:xfrm>
            <a:off x="1783080" y="1508760"/>
            <a:ext cx="1188720" cy="1188720"/>
          </a:xfrm>
          <a:prstGeom prst="rect">
            <a:avLst/>
          </a:prstGeom>
          <a:noFill/>
          <a:ln/>
        </p:spPr>
        <p:txBody>
          <a:bodyPr wrap="square" lIns="0" tIns="0" rIns="0" bIns="0" rtlCol="0" anchor="ctr"/>
          <a:lstStyle/>
          <a:p>
            <a:pPr marL="0" indent="0">
              <a:buNone/>
            </a:pPr>
            <a:r>
              <a:rPr lang="en-US" sz="1600" b="1" dirty="0">
                <a:solidFill>
                  <a:schemeClr val="bg1"/>
                </a:solidFill>
              </a:rPr>
              <a:t>Edge layer</a:t>
            </a:r>
            <a:endParaRPr lang="en-US" sz="1600" dirty="0"/>
          </a:p>
        </p:txBody>
      </p:sp>
      <p:sp>
        <p:nvSpPr>
          <p:cNvPr id="7" name="Cameras chip"/>
          <p:cNvSpPr txBox="1"/>
          <p:nvPr/>
        </p:nvSpPr>
        <p:spPr>
          <a:xfrm>
            <a:off x="3200400" y="150876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Cameras</a:t>
            </a:r>
            <a:endParaRPr lang="en-US" sz="1800" dirty="0"/>
          </a:p>
        </p:txBody>
      </p:sp>
      <p:sp>
        <p:nvSpPr>
          <p:cNvPr id="8" name="Environmental sensors chip"/>
          <p:cNvSpPr txBox="1"/>
          <p:nvPr/>
        </p:nvSpPr>
        <p:spPr>
          <a:xfrm>
            <a:off x="6035040" y="150876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Environmental sensors</a:t>
            </a:r>
            <a:endParaRPr lang="en-US" sz="1800" dirty="0"/>
          </a:p>
        </p:txBody>
      </p:sp>
      <p:sp>
        <p:nvSpPr>
          <p:cNvPr id="9" name="TensorFlow Lite chip"/>
          <p:cNvSpPr txBox="1"/>
          <p:nvPr/>
        </p:nvSpPr>
        <p:spPr>
          <a:xfrm>
            <a:off x="8869680" y="150876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TensorFlow Lite</a:t>
            </a:r>
            <a:endParaRPr lang="en-US" sz="1800" dirty="0"/>
          </a:p>
        </p:txBody>
      </p:sp>
      <p:sp>
        <p:nvSpPr>
          <p:cNvPr id="10" name="Telemetry arrow 1"/>
          <p:cNvSpPr/>
          <p:nvPr/>
        </p:nvSpPr>
        <p:spPr>
          <a:xfrm>
            <a:off x="5669280" y="2724912"/>
            <a:ext cx="274320" cy="310896"/>
          </a:xfrm>
          <a:prstGeom prst="upArrow">
            <a:avLst/>
          </a:prstGeom>
          <a:solidFill>
            <a:schemeClr val="accent2"/>
          </a:solidFill>
          <a:ln/>
        </p:spPr>
      </p:sp>
      <p:sp>
        <p:nvSpPr>
          <p:cNvPr id="11" name="Command arrow 1"/>
          <p:cNvSpPr/>
          <p:nvPr/>
        </p:nvSpPr>
        <p:spPr>
          <a:xfrm>
            <a:off x="6217920" y="2724912"/>
            <a:ext cx="274320" cy="310896"/>
          </a:xfrm>
          <a:prstGeom prst="downArrow">
            <a:avLst/>
          </a:prstGeom>
          <a:solidFill>
            <a:schemeClr val="accent1"/>
          </a:solidFill>
          <a:ln/>
        </p:spPr>
      </p:sp>
      <p:sp>
        <p:nvSpPr>
          <p:cNvPr id="12" name="Cloud layer label"/>
          <p:cNvSpPr/>
          <p:nvPr/>
        </p:nvSpPr>
        <p:spPr>
          <a:xfrm>
            <a:off x="640080" y="3063240"/>
            <a:ext cx="2377440" cy="1188720"/>
          </a:xfrm>
          <a:prstGeom prst="roundRect">
            <a:avLst>
              <a:gd name="adj" fmla="val 9231"/>
            </a:avLst>
          </a:prstGeom>
          <a:solidFill>
            <a:schemeClr val="tx1"/>
          </a:solidFill>
          <a:ln/>
        </p:spPr>
      </p:sp>
      <p:sp>
        <p:nvSpPr>
          <p:cNvPr id="13" name="Cloud layer circle"/>
          <p:cNvSpPr/>
          <p:nvPr/>
        </p:nvSpPr>
        <p:spPr>
          <a:xfrm>
            <a:off x="960120" y="3337560"/>
            <a:ext cx="640080" cy="640080"/>
          </a:xfrm>
          <a:prstGeom prst="ellipse">
            <a:avLst/>
          </a:prstGeom>
          <a:solidFill>
            <a:schemeClr val="accent1"/>
          </a:solidFill>
          <a:ln/>
        </p:spPr>
      </p:sp>
      <p:pic>
        <p:nvPicPr>
          <p:cNvPr id="14" name="Image 1" descr="Cloud layer"/>
          <p:cNvPicPr>
            <a:picLocks noChangeAspect="1"/>
          </p:cNvPicPr>
          <p:nvPr/>
        </p:nvPicPr>
        <p:blipFill>
          <a:blip r:embed="rId4"/>
          <a:stretch>
            <a:fillRect/>
          </a:stretch>
        </p:blipFill>
        <p:spPr>
          <a:xfrm>
            <a:off x="1120140" y="3497580"/>
            <a:ext cx="320040" cy="320040"/>
          </a:xfrm>
          <a:prstGeom prst="rect">
            <a:avLst/>
          </a:prstGeom>
        </p:spPr>
      </p:pic>
      <p:sp>
        <p:nvSpPr>
          <p:cNvPr id="15" name="Text 11"/>
          <p:cNvSpPr txBox="1"/>
          <p:nvPr/>
        </p:nvSpPr>
        <p:spPr>
          <a:xfrm>
            <a:off x="1783080" y="3063240"/>
            <a:ext cx="1188720" cy="1188720"/>
          </a:xfrm>
          <a:prstGeom prst="rect">
            <a:avLst/>
          </a:prstGeom>
          <a:noFill/>
          <a:ln/>
        </p:spPr>
        <p:txBody>
          <a:bodyPr wrap="square" lIns="0" tIns="0" rIns="0" bIns="0" rtlCol="0" anchor="ctr"/>
          <a:lstStyle/>
          <a:p>
            <a:pPr marL="0" indent="0">
              <a:buNone/>
            </a:pPr>
            <a:r>
              <a:rPr lang="en-US" sz="1600" b="1" dirty="0">
                <a:solidFill>
                  <a:schemeClr val="bg1"/>
                </a:solidFill>
              </a:rPr>
              <a:t>Cloud layer</a:t>
            </a:r>
            <a:endParaRPr lang="en-US" sz="1600" dirty="0"/>
          </a:p>
        </p:txBody>
      </p:sp>
      <p:sp>
        <p:nvSpPr>
          <p:cNvPr id="16" name="AWS IoT Core chip"/>
          <p:cNvSpPr txBox="1"/>
          <p:nvPr/>
        </p:nvSpPr>
        <p:spPr>
          <a:xfrm>
            <a:off x="3200400" y="306324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AWS IoT Core</a:t>
            </a:r>
            <a:endParaRPr lang="en-US" sz="1800" dirty="0"/>
          </a:p>
        </p:txBody>
      </p:sp>
      <p:sp>
        <p:nvSpPr>
          <p:cNvPr id="17" name="FastAPI services chip"/>
          <p:cNvSpPr txBox="1"/>
          <p:nvPr/>
        </p:nvSpPr>
        <p:spPr>
          <a:xfrm>
            <a:off x="6035040" y="306324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FastAPI services</a:t>
            </a:r>
            <a:endParaRPr lang="en-US" sz="1800" dirty="0"/>
          </a:p>
        </p:txBody>
      </p:sp>
      <p:sp>
        <p:nvSpPr>
          <p:cNvPr id="18" name="PostgreSQL chip"/>
          <p:cNvSpPr txBox="1"/>
          <p:nvPr/>
        </p:nvSpPr>
        <p:spPr>
          <a:xfrm>
            <a:off x="8869680" y="306324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PostgreSQL</a:t>
            </a:r>
            <a:endParaRPr lang="en-US" sz="1800" dirty="0"/>
          </a:p>
        </p:txBody>
      </p:sp>
      <p:sp>
        <p:nvSpPr>
          <p:cNvPr id="19" name="Telemetry arrow 2"/>
          <p:cNvSpPr/>
          <p:nvPr/>
        </p:nvSpPr>
        <p:spPr>
          <a:xfrm>
            <a:off x="5669280" y="4279392"/>
            <a:ext cx="274320" cy="310896"/>
          </a:xfrm>
          <a:prstGeom prst="upArrow">
            <a:avLst/>
          </a:prstGeom>
          <a:solidFill>
            <a:schemeClr val="accent2"/>
          </a:solidFill>
          <a:ln/>
        </p:spPr>
      </p:sp>
      <p:sp>
        <p:nvSpPr>
          <p:cNvPr id="20" name="Command arrow 2"/>
          <p:cNvSpPr/>
          <p:nvPr/>
        </p:nvSpPr>
        <p:spPr>
          <a:xfrm>
            <a:off x="6217920" y="4279392"/>
            <a:ext cx="274320" cy="310896"/>
          </a:xfrm>
          <a:prstGeom prst="downArrow">
            <a:avLst/>
          </a:prstGeom>
          <a:solidFill>
            <a:schemeClr val="accent1"/>
          </a:solidFill>
          <a:ln/>
        </p:spPr>
      </p:sp>
      <p:sp>
        <p:nvSpPr>
          <p:cNvPr id="21" name="App layer label"/>
          <p:cNvSpPr/>
          <p:nvPr/>
        </p:nvSpPr>
        <p:spPr>
          <a:xfrm>
            <a:off x="640080" y="4617720"/>
            <a:ext cx="2377440" cy="1188720"/>
          </a:xfrm>
          <a:prstGeom prst="roundRect">
            <a:avLst>
              <a:gd name="adj" fmla="val 9231"/>
            </a:avLst>
          </a:prstGeom>
          <a:solidFill>
            <a:schemeClr val="tx1"/>
          </a:solidFill>
          <a:ln/>
        </p:spPr>
      </p:sp>
      <p:sp>
        <p:nvSpPr>
          <p:cNvPr id="22" name="App layer circle"/>
          <p:cNvSpPr/>
          <p:nvPr/>
        </p:nvSpPr>
        <p:spPr>
          <a:xfrm>
            <a:off x="960120" y="4892040"/>
            <a:ext cx="640080" cy="640080"/>
          </a:xfrm>
          <a:prstGeom prst="ellipse">
            <a:avLst/>
          </a:prstGeom>
          <a:solidFill>
            <a:schemeClr val="accent1"/>
          </a:solidFill>
          <a:ln/>
        </p:spPr>
      </p:sp>
      <p:pic>
        <p:nvPicPr>
          <p:cNvPr id="23" name="Image 2" descr="App layer"/>
          <p:cNvPicPr>
            <a:picLocks noChangeAspect="1"/>
          </p:cNvPicPr>
          <p:nvPr/>
        </p:nvPicPr>
        <p:blipFill>
          <a:blip r:embed="rId5"/>
          <a:stretch>
            <a:fillRect/>
          </a:stretch>
        </p:blipFill>
        <p:spPr>
          <a:xfrm>
            <a:off x="1120140" y="5052060"/>
            <a:ext cx="320040" cy="320040"/>
          </a:xfrm>
          <a:prstGeom prst="rect">
            <a:avLst/>
          </a:prstGeom>
        </p:spPr>
      </p:pic>
      <p:sp>
        <p:nvSpPr>
          <p:cNvPr id="24" name="Text 19"/>
          <p:cNvSpPr txBox="1"/>
          <p:nvPr/>
        </p:nvSpPr>
        <p:spPr>
          <a:xfrm>
            <a:off x="1783080" y="4617720"/>
            <a:ext cx="1188720" cy="1188720"/>
          </a:xfrm>
          <a:prstGeom prst="rect">
            <a:avLst/>
          </a:prstGeom>
          <a:noFill/>
          <a:ln/>
        </p:spPr>
        <p:txBody>
          <a:bodyPr wrap="square" lIns="0" tIns="0" rIns="0" bIns="0" rtlCol="0" anchor="ctr"/>
          <a:lstStyle/>
          <a:p>
            <a:pPr marL="0" indent="0">
              <a:buNone/>
            </a:pPr>
            <a:r>
              <a:rPr lang="en-US" sz="1600" b="1" dirty="0">
                <a:solidFill>
                  <a:schemeClr val="bg1"/>
                </a:solidFill>
              </a:rPr>
              <a:t>App layer</a:t>
            </a:r>
            <a:endParaRPr lang="en-US" sz="1600" dirty="0"/>
          </a:p>
        </p:txBody>
      </p:sp>
      <p:sp>
        <p:nvSpPr>
          <p:cNvPr id="25" name="Student mobile app chip"/>
          <p:cNvSpPr txBox="1"/>
          <p:nvPr/>
        </p:nvSpPr>
        <p:spPr>
          <a:xfrm>
            <a:off x="3200400" y="461772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Student mobile app</a:t>
            </a:r>
            <a:endParaRPr lang="en-US" sz="1800" dirty="0"/>
          </a:p>
        </p:txBody>
      </p:sp>
      <p:sp>
        <p:nvSpPr>
          <p:cNvPr id="26" name="Staff alerts chip"/>
          <p:cNvSpPr txBox="1"/>
          <p:nvPr/>
        </p:nvSpPr>
        <p:spPr>
          <a:xfrm>
            <a:off x="6035040" y="461772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Staff alerts</a:t>
            </a:r>
            <a:endParaRPr lang="en-US" sz="1800" dirty="0"/>
          </a:p>
        </p:txBody>
      </p:sp>
      <p:sp>
        <p:nvSpPr>
          <p:cNvPr id="27" name="Facility console chip"/>
          <p:cNvSpPr txBox="1"/>
          <p:nvPr/>
        </p:nvSpPr>
        <p:spPr>
          <a:xfrm>
            <a:off x="8869680" y="4617720"/>
            <a:ext cx="2651760" cy="1188720"/>
          </a:xfrm>
          <a:prstGeom prst="roundRect">
            <a:avLst>
              <a:gd name="adj" fmla="val 7692"/>
            </a:avLst>
          </a:prstGeom>
          <a:solidFill>
            <a:schemeClr val="bg2"/>
          </a:solidFill>
          <a:ln/>
        </p:spPr>
        <p:txBody>
          <a:bodyPr wrap="square" lIns="1270" tIns="1270" rIns="1270" bIns="1270" rtlCol="0" anchor="ctr"/>
          <a:lstStyle/>
          <a:p>
            <a:pPr marL="0" indent="0" algn="ctr">
              <a:buNone/>
            </a:pPr>
            <a:r>
              <a:rPr lang="en-US" sz="1800" b="1" dirty="0">
                <a:solidFill>
                  <a:schemeClr val="tx1"/>
                </a:solidFill>
              </a:rPr>
              <a:t>Facility console</a:t>
            </a:r>
            <a:endParaRPr lang="en-US" sz="1800" dirty="0"/>
          </a:p>
        </p:txBody>
      </p:sp>
      <p:sp>
        <p:nvSpPr>
          <p:cNvPr id="28" name="Text 23"/>
          <p:cNvSpPr txBox="1"/>
          <p:nvPr/>
        </p:nvSpPr>
        <p:spPr>
          <a:xfrm>
            <a:off x="6766560" y="2743200"/>
            <a:ext cx="4114800" cy="274320"/>
          </a:xfrm>
          <a:prstGeom prst="rect">
            <a:avLst/>
          </a:prstGeom>
          <a:noFill/>
          <a:ln/>
        </p:spPr>
        <p:txBody>
          <a:bodyPr wrap="square" lIns="0" tIns="0" rIns="0" bIns="0" rtlCol="0" anchor="ctr"/>
          <a:lstStyle/>
          <a:p>
            <a:pPr marL="0" indent="0">
              <a:buNone/>
            </a:pPr>
            <a:r>
              <a:rPr lang="en-US" sz="1300" dirty="0">
                <a:solidFill>
                  <a:schemeClr val="accent6"/>
                </a:solidFill>
              </a:rPr>
              <a:t>Telemetry up, control commands down</a:t>
            </a:r>
            <a:endParaRPr lang="en-US" sz="1300" dirty="0"/>
          </a:p>
        </p:txBody>
      </p:sp>
      <p:sp>
        <p:nvSpPr>
          <p:cNvPr id="29" name="Text 24"/>
          <p:cNvSpPr txBox="1"/>
          <p:nvPr/>
        </p:nvSpPr>
        <p:spPr>
          <a:xfrm>
            <a:off x="6766560" y="4297680"/>
            <a:ext cx="4114800" cy="274320"/>
          </a:xfrm>
          <a:prstGeom prst="rect">
            <a:avLst/>
          </a:prstGeom>
          <a:noFill/>
          <a:ln/>
        </p:spPr>
        <p:txBody>
          <a:bodyPr wrap="square" lIns="0" tIns="0" rIns="0" bIns="0" rtlCol="0" anchor="ctr"/>
          <a:lstStyle/>
          <a:p>
            <a:pPr marL="0" indent="0">
              <a:buNone/>
            </a:pPr>
            <a:r>
              <a:rPr lang="en-US" sz="1300" dirty="0">
                <a:solidFill>
                  <a:schemeClr val="accent6"/>
                </a:solidFill>
              </a:rPr>
              <a:t>Telemetry up, control commands down</a:t>
            </a:r>
            <a:endParaRPr lang="en-US" sz="1300" dirty="0"/>
          </a:p>
        </p:txBody>
      </p:sp>
      <p:sp>
        <p:nvSpPr>
          <p:cNvPr id="30"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8"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36"/>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5" presetID="53" presetClass="entr" presetSubtype="16" fill="hold" grpId="0" nodeType="withEffect">
                                  <p:stCondLst>
                                    <p:cond delay="196"/>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ppt_w</p:attrName>
                                        </p:attrNameLst>
                                      </p:cBhvr>
                                      <p:tavLst>
                                        <p:tav tm="0">
                                          <p:val>
                                            <p:fltVal val="0"/>
                                          </p:val>
                                        </p:tav>
                                        <p:tav tm="100000">
                                          <p:val>
                                            <p:strVal val="#ppt_w"/>
                                          </p:val>
                                        </p:tav>
                                      </p:tavLst>
                                    </p:anim>
                                    <p:anim calcmode="lin" valueType="num">
                                      <p:cBhvr additive="base">
                                        <p:cTn id="13" dur="550" fill="hold"/>
                                        <p:tgtEl>
                                          <p:spTgt spid="4"/>
                                        </p:tgtEl>
                                        <p:attrNameLst>
                                          <p:attrName>ppt_h</p:attrName>
                                        </p:attrNameLst>
                                      </p:cBhvr>
                                      <p:tavLst>
                                        <p:tav tm="0">
                                          <p:val>
                                            <p:fltVal val="0"/>
                                          </p:val>
                                        </p:tav>
                                        <p:tav tm="100000">
                                          <p:val>
                                            <p:strVal val="#ppt_h"/>
                                          </p:val>
                                        </p:tav>
                                      </p:tavLst>
                                    </p:anim>
                                    <p:animEffect transition="in" filter="fade">
                                      <p:cBhvr>
                                        <p:cTn id="14" dur="550"/>
                                        <p:tgtEl>
                                          <p:spTgt spid="4"/>
                                        </p:tgtEl>
                                      </p:cBhvr>
                                    </p:animEffect>
                                  </p:childTnLst>
                                </p:cTn>
                              </p:par>
                              <p:par>
                                <p:cTn id="20" presetID="53" presetClass="entr" presetSubtype="16" fill="hold" grpId="0" nodeType="withEffect">
                                  <p:stCondLst>
                                    <p:cond delay="196"/>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3" presetID="10" presetClass="entr" presetSubtype="0" fill="hold" grpId="0" nodeType="withEffect">
                                  <p:stCondLst>
                                    <p:cond delay="196"/>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childTnLst>
                                </p:cTn>
                              </p:par>
                              <p:par>
                                <p:cTn id="27" presetID="2" presetClass="entr" presetSubtype="4" fill="hold" grpId="0" nodeType="withEffect">
                                  <p:stCondLst>
                                    <p:cond delay="272"/>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50" fill="hold"/>
                                        <p:tgtEl>
                                          <p:spTgt spid="7"/>
                                        </p:tgtEl>
                                        <p:attrNameLst>
                                          <p:attrName>ppt_y</p:attrName>
                                        </p:attrNameLst>
                                      </p:cBhvr>
                                      <p:tavLst>
                                        <p:tav tm="0">
                                          <p:val>
                                            <p:strVal val="#ppt_y+0.07"/>
                                          </p:val>
                                        </p:tav>
                                        <p:tav tm="100000">
                                          <p:val>
                                            <p:strVal val="#ppt_y"/>
                                          </p:val>
                                        </p:tav>
                                      </p:tavLst>
                                    </p:anim>
                                    <p:animEffect transition="in" filter="fade">
                                      <p:cBhvr>
                                        <p:cTn id="26" dur="550"/>
                                        <p:tgtEl>
                                          <p:spTgt spid="7"/>
                                        </p:tgtEl>
                                      </p:cBhvr>
                                    </p:animEffect>
                                  </p:childTnLst>
                                </p:cTn>
                              </p:par>
                              <p:par>
                                <p:cTn id="31" presetID="2" presetClass="entr" presetSubtype="4" fill="hold" grpId="0" nodeType="withEffect">
                                  <p:stCondLst>
                                    <p:cond delay="408"/>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50" fill="hold"/>
                                        <p:tgtEl>
                                          <p:spTgt spid="8"/>
                                        </p:tgtEl>
                                        <p:attrNameLst>
                                          <p:attrName>ppt_y</p:attrName>
                                        </p:attrNameLst>
                                      </p:cBhvr>
                                      <p:tavLst>
                                        <p:tav tm="0">
                                          <p:val>
                                            <p:strVal val="#ppt_y+0.07"/>
                                          </p:val>
                                        </p:tav>
                                        <p:tav tm="100000">
                                          <p:val>
                                            <p:strVal val="#ppt_y"/>
                                          </p:val>
                                        </p:tav>
                                      </p:tavLst>
                                    </p:anim>
                                    <p:animEffect transition="in" filter="fade">
                                      <p:cBhvr>
                                        <p:cTn id="30" dur="550"/>
                                        <p:tgtEl>
                                          <p:spTgt spid="8"/>
                                        </p:tgtEl>
                                      </p:cBhvr>
                                    </p:animEffect>
                                  </p:childTnLst>
                                </p:cTn>
                              </p:par>
                              <p:par>
                                <p:cTn id="35" presetID="2" presetClass="entr" presetSubtype="4" fill="hold" grpId="0" nodeType="withEffect">
                                  <p:stCondLst>
                                    <p:cond delay="544"/>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50" fill="hold"/>
                                        <p:tgtEl>
                                          <p:spTgt spid="9"/>
                                        </p:tgtEl>
                                        <p:attrNameLst>
                                          <p:attrName>ppt_y</p:attrName>
                                        </p:attrNameLst>
                                      </p:cBhvr>
                                      <p:tavLst>
                                        <p:tav tm="0">
                                          <p:val>
                                            <p:strVal val="#ppt_y+0.07"/>
                                          </p:val>
                                        </p:tav>
                                        <p:tav tm="100000">
                                          <p:val>
                                            <p:strVal val="#ppt_y"/>
                                          </p:val>
                                        </p:tav>
                                      </p:tavLst>
                                    </p:anim>
                                    <p:animEffect transition="in" filter="fade">
                                      <p:cBhvr>
                                        <p:cTn id="34" dur="550"/>
                                        <p:tgtEl>
                                          <p:spTgt spid="9"/>
                                        </p:tgtEl>
                                      </p:cBhvr>
                                    </p:animEffect>
                                  </p:childTnLst>
                                </p:cTn>
                              </p:par>
                              <p:par>
                                <p:cTn id="39" presetID="2" presetClass="entr" presetSubtype="4" fill="hold" grpId="0" nodeType="withEffect">
                                  <p:stCondLst>
                                    <p:cond delay="68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50" fill="hold"/>
                                        <p:tgtEl>
                                          <p:spTgt spid="10"/>
                                        </p:tgtEl>
                                        <p:attrNameLst>
                                          <p:attrName>ppt_y</p:attrName>
                                        </p:attrNameLst>
                                      </p:cBhvr>
                                      <p:tavLst>
                                        <p:tav tm="0">
                                          <p:val>
                                            <p:strVal val="#ppt_y+0.07"/>
                                          </p:val>
                                        </p:tav>
                                        <p:tav tm="100000">
                                          <p:val>
                                            <p:strVal val="#ppt_y"/>
                                          </p:val>
                                        </p:tav>
                                      </p:tavLst>
                                    </p:anim>
                                    <p:animEffect transition="in" filter="fade">
                                      <p:cBhvr>
                                        <p:cTn id="38" dur="550"/>
                                        <p:tgtEl>
                                          <p:spTgt spid="10"/>
                                        </p:tgtEl>
                                      </p:cBhvr>
                                    </p:animEffect>
                                  </p:childTnLst>
                                </p:cTn>
                              </p:par>
                              <p:par>
                                <p:cTn id="43" presetID="2" presetClass="entr" presetSubtype="4" fill="hold" grpId="0" nodeType="withEffect">
                                  <p:stCondLst>
                                    <p:cond delay="816"/>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50" fill="hold"/>
                                        <p:tgtEl>
                                          <p:spTgt spid="11"/>
                                        </p:tgtEl>
                                        <p:attrNameLst>
                                          <p:attrName>ppt_y</p:attrName>
                                        </p:attrNameLst>
                                      </p:cBhvr>
                                      <p:tavLst>
                                        <p:tav tm="0">
                                          <p:val>
                                            <p:strVal val="#ppt_y+0.07"/>
                                          </p:val>
                                        </p:tav>
                                        <p:tav tm="100000">
                                          <p:val>
                                            <p:strVal val="#ppt_y"/>
                                          </p:val>
                                        </p:tav>
                                      </p:tavLst>
                                    </p:anim>
                                    <p:animEffect transition="in" filter="fade">
                                      <p:cBhvr>
                                        <p:cTn id="42" dur="550"/>
                                        <p:tgtEl>
                                          <p:spTgt spid="11"/>
                                        </p:tgtEl>
                                      </p:cBhvr>
                                    </p:animEffect>
                                  </p:childTnLst>
                                </p:cTn>
                              </p:par>
                              <p:par>
                                <p:cTn id="47" presetID="2" presetClass="entr" presetSubtype="4" fill="hold" grpId="0" nodeType="withEffect">
                                  <p:stCondLst>
                                    <p:cond delay="952"/>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50" fill="hold"/>
                                        <p:tgtEl>
                                          <p:spTgt spid="12"/>
                                        </p:tgtEl>
                                        <p:attrNameLst>
                                          <p:attrName>ppt_y</p:attrName>
                                        </p:attrNameLst>
                                      </p:cBhvr>
                                      <p:tavLst>
                                        <p:tav tm="0">
                                          <p:val>
                                            <p:strVal val="#ppt_y+0.07"/>
                                          </p:val>
                                        </p:tav>
                                        <p:tav tm="100000">
                                          <p:val>
                                            <p:strVal val="#ppt_y"/>
                                          </p:val>
                                        </p:tav>
                                      </p:tavLst>
                                    </p:anim>
                                    <p:animEffect transition="in" filter="fade">
                                      <p:cBhvr>
                                        <p:cTn id="46" dur="550"/>
                                        <p:tgtEl>
                                          <p:spTgt spid="12"/>
                                        </p:tgtEl>
                                      </p:cBhvr>
                                    </p:animEffect>
                                  </p:childTnLst>
                                </p:cTn>
                              </p:par>
                              <p:par>
                                <p:cTn id="52" presetID="53" presetClass="entr" presetSubtype="16" fill="hold" grpId="0" nodeType="withEffect">
                                  <p:stCondLst>
                                    <p:cond delay="1012"/>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50" fill="hold"/>
                                        <p:tgtEl>
                                          <p:spTgt spid="13"/>
                                        </p:tgtEl>
                                        <p:attrNameLst>
                                          <p:attrName>ppt_w</p:attrName>
                                        </p:attrNameLst>
                                      </p:cBhvr>
                                      <p:tavLst>
                                        <p:tav tm="0">
                                          <p:val>
                                            <p:fltVal val="0"/>
                                          </p:val>
                                        </p:tav>
                                        <p:tav tm="100000">
                                          <p:val>
                                            <p:strVal val="#ppt_w"/>
                                          </p:val>
                                        </p:tav>
                                      </p:tavLst>
                                    </p:anim>
                                    <p:anim calcmode="lin" valueType="num">
                                      <p:cBhvr additive="base">
                                        <p:cTn id="50" dur="550" fill="hold"/>
                                        <p:tgtEl>
                                          <p:spTgt spid="13"/>
                                        </p:tgtEl>
                                        <p:attrNameLst>
                                          <p:attrName>ppt_h</p:attrName>
                                        </p:attrNameLst>
                                      </p:cBhvr>
                                      <p:tavLst>
                                        <p:tav tm="0">
                                          <p:val>
                                            <p:fltVal val="0"/>
                                          </p:val>
                                        </p:tav>
                                        <p:tav tm="100000">
                                          <p:val>
                                            <p:strVal val="#ppt_h"/>
                                          </p:val>
                                        </p:tav>
                                      </p:tavLst>
                                    </p:anim>
                                    <p:animEffect transition="in" filter="fade">
                                      <p:cBhvr>
                                        <p:cTn id="51" dur="550"/>
                                        <p:tgtEl>
                                          <p:spTgt spid="13"/>
                                        </p:tgtEl>
                                      </p:cBhvr>
                                    </p:animEffect>
                                  </p:childTnLst>
                                </p:cTn>
                              </p:par>
                              <p:par>
                                <p:cTn id="57" presetID="53" presetClass="entr" presetSubtype="16" fill="hold" grpId="0" nodeType="withEffect">
                                  <p:stCondLst>
                                    <p:cond delay="1012"/>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550" fill="hold"/>
                                        <p:tgtEl>
                                          <p:spTgt spid="14"/>
                                        </p:tgtEl>
                                        <p:attrNameLst>
                                          <p:attrName>ppt_w</p:attrName>
                                        </p:attrNameLst>
                                      </p:cBhvr>
                                      <p:tavLst>
                                        <p:tav tm="0">
                                          <p:val>
                                            <p:fltVal val="0"/>
                                          </p:val>
                                        </p:tav>
                                        <p:tav tm="100000">
                                          <p:val>
                                            <p:strVal val="#ppt_w"/>
                                          </p:val>
                                        </p:tav>
                                      </p:tavLst>
                                    </p:anim>
                                    <p:anim calcmode="lin" valueType="num">
                                      <p:cBhvr additive="base">
                                        <p:cTn id="55" dur="550" fill="hold"/>
                                        <p:tgtEl>
                                          <p:spTgt spid="14"/>
                                        </p:tgtEl>
                                        <p:attrNameLst>
                                          <p:attrName>ppt_h</p:attrName>
                                        </p:attrNameLst>
                                      </p:cBhvr>
                                      <p:tavLst>
                                        <p:tav tm="0">
                                          <p:val>
                                            <p:fltVal val="0"/>
                                          </p:val>
                                        </p:tav>
                                        <p:tav tm="100000">
                                          <p:val>
                                            <p:strVal val="#ppt_h"/>
                                          </p:val>
                                        </p:tav>
                                      </p:tavLst>
                                    </p:anim>
                                    <p:animEffect transition="in" filter="fade">
                                      <p:cBhvr>
                                        <p:cTn id="56" dur="550"/>
                                        <p:tgtEl>
                                          <p:spTgt spid="14"/>
                                        </p:tgtEl>
                                      </p:cBhvr>
                                    </p:animEffect>
                                  </p:childTnLst>
                                </p:cTn>
                              </p:par>
                              <p:par>
                                <p:cTn id="60" presetID="10" presetClass="entr" presetSubtype="0" fill="hold" grpId="0" nodeType="withEffect">
                                  <p:stCondLst>
                                    <p:cond delay="1012"/>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50"/>
                                        <p:tgtEl>
                                          <p:spTgt spid="15"/>
                                        </p:tgtEl>
                                      </p:cBhvr>
                                    </p:animEffect>
                                  </p:childTnLst>
                                </p:cTn>
                              </p:par>
                              <p:par>
                                <p:cTn id="64" presetID="2" presetClass="entr" presetSubtype="4" fill="hold" grpId="0" nodeType="withEffect">
                                  <p:stCondLst>
                                    <p:cond delay="1088"/>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50" fill="hold"/>
                                        <p:tgtEl>
                                          <p:spTgt spid="16"/>
                                        </p:tgtEl>
                                        <p:attrNameLst>
                                          <p:attrName>ppt_y</p:attrName>
                                        </p:attrNameLst>
                                      </p:cBhvr>
                                      <p:tavLst>
                                        <p:tav tm="0">
                                          <p:val>
                                            <p:strVal val="#ppt_y+0.07"/>
                                          </p:val>
                                        </p:tav>
                                        <p:tav tm="100000">
                                          <p:val>
                                            <p:strVal val="#ppt_y"/>
                                          </p:val>
                                        </p:tav>
                                      </p:tavLst>
                                    </p:anim>
                                    <p:animEffect transition="in" filter="fade">
                                      <p:cBhvr>
                                        <p:cTn id="63" dur="550"/>
                                        <p:tgtEl>
                                          <p:spTgt spid="16"/>
                                        </p:tgtEl>
                                      </p:cBhvr>
                                    </p:animEffect>
                                  </p:childTnLst>
                                </p:cTn>
                              </p:par>
                              <p:par>
                                <p:cTn id="68" presetID="2" presetClass="entr" presetSubtype="4" fill="hold" grpId="0" nodeType="withEffect">
                                  <p:stCondLst>
                                    <p:cond delay="1224"/>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550" fill="hold"/>
                                        <p:tgtEl>
                                          <p:spTgt spid="17"/>
                                        </p:tgtEl>
                                        <p:attrNameLst>
                                          <p:attrName>ppt_y</p:attrName>
                                        </p:attrNameLst>
                                      </p:cBhvr>
                                      <p:tavLst>
                                        <p:tav tm="0">
                                          <p:val>
                                            <p:strVal val="#ppt_y+0.07"/>
                                          </p:val>
                                        </p:tav>
                                        <p:tav tm="100000">
                                          <p:val>
                                            <p:strVal val="#ppt_y"/>
                                          </p:val>
                                        </p:tav>
                                      </p:tavLst>
                                    </p:anim>
                                    <p:animEffect transition="in" filter="fade">
                                      <p:cBhvr>
                                        <p:cTn id="67" dur="550"/>
                                        <p:tgtEl>
                                          <p:spTgt spid="17"/>
                                        </p:tgtEl>
                                      </p:cBhvr>
                                    </p:animEffect>
                                  </p:childTnLst>
                                </p:cTn>
                              </p:par>
                              <p:par>
                                <p:cTn id="72" presetID="2" presetClass="entr" presetSubtype="4" fill="hold" grpId="0" nodeType="withEffect">
                                  <p:stCondLst>
                                    <p:cond delay="136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550" fill="hold"/>
                                        <p:tgtEl>
                                          <p:spTgt spid="18"/>
                                        </p:tgtEl>
                                        <p:attrNameLst>
                                          <p:attrName>ppt_y</p:attrName>
                                        </p:attrNameLst>
                                      </p:cBhvr>
                                      <p:tavLst>
                                        <p:tav tm="0">
                                          <p:val>
                                            <p:strVal val="#ppt_y+0.07"/>
                                          </p:val>
                                        </p:tav>
                                        <p:tav tm="100000">
                                          <p:val>
                                            <p:strVal val="#ppt_y"/>
                                          </p:val>
                                        </p:tav>
                                      </p:tavLst>
                                    </p:anim>
                                    <p:animEffect transition="in" filter="fade">
                                      <p:cBhvr>
                                        <p:cTn id="71" dur="550"/>
                                        <p:tgtEl>
                                          <p:spTgt spid="18"/>
                                        </p:tgtEl>
                                      </p:cBhvr>
                                    </p:animEffect>
                                  </p:childTnLst>
                                </p:cTn>
                              </p:par>
                              <p:par>
                                <p:cTn id="76" presetID="2" presetClass="entr" presetSubtype="4" fill="hold" grpId="0" nodeType="withEffect">
                                  <p:stCondLst>
                                    <p:cond delay="1496"/>
                                  </p:stCondLst>
                                  <p:childTnLst>
                                    <p:set>
                                      <p:cBhvr>
                                        <p:cTn id="73" dur="1" fill="hold">
                                          <p:stCondLst>
                                            <p:cond delay="0"/>
                                          </p:stCondLst>
                                        </p:cTn>
                                        <p:tgtEl>
                                          <p:spTgt spid="19"/>
                                        </p:tgtEl>
                                        <p:attrNameLst>
                                          <p:attrName>style.visibility</p:attrName>
                                        </p:attrNameLst>
                                      </p:cBhvr>
                                      <p:to>
                                        <p:strVal val="visible"/>
                                      </p:to>
                                    </p:set>
                                    <p:anim calcmode="lin" valueType="num">
                                      <p:cBhvr additive="base">
                                        <p:cTn id="74" dur="550" fill="hold"/>
                                        <p:tgtEl>
                                          <p:spTgt spid="19"/>
                                        </p:tgtEl>
                                        <p:attrNameLst>
                                          <p:attrName>ppt_y</p:attrName>
                                        </p:attrNameLst>
                                      </p:cBhvr>
                                      <p:tavLst>
                                        <p:tav tm="0">
                                          <p:val>
                                            <p:strVal val="#ppt_y+0.07"/>
                                          </p:val>
                                        </p:tav>
                                        <p:tav tm="100000">
                                          <p:val>
                                            <p:strVal val="#ppt_y"/>
                                          </p:val>
                                        </p:tav>
                                      </p:tavLst>
                                    </p:anim>
                                    <p:animEffect transition="in" filter="fade">
                                      <p:cBhvr>
                                        <p:cTn id="75" dur="550"/>
                                        <p:tgtEl>
                                          <p:spTgt spid="19"/>
                                        </p:tgtEl>
                                      </p:cBhvr>
                                    </p:animEffect>
                                  </p:childTnLst>
                                </p:cTn>
                              </p:par>
                              <p:par>
                                <p:cTn id="80" presetID="2" presetClass="entr" presetSubtype="4" fill="hold" grpId="0" nodeType="withEffect">
                                  <p:stCondLst>
                                    <p:cond delay="1632"/>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550" fill="hold"/>
                                        <p:tgtEl>
                                          <p:spTgt spid="20"/>
                                        </p:tgtEl>
                                        <p:attrNameLst>
                                          <p:attrName>ppt_y</p:attrName>
                                        </p:attrNameLst>
                                      </p:cBhvr>
                                      <p:tavLst>
                                        <p:tav tm="0">
                                          <p:val>
                                            <p:strVal val="#ppt_y+0.07"/>
                                          </p:val>
                                        </p:tav>
                                        <p:tav tm="100000">
                                          <p:val>
                                            <p:strVal val="#ppt_y"/>
                                          </p:val>
                                        </p:tav>
                                      </p:tavLst>
                                    </p:anim>
                                    <p:animEffect transition="in" filter="fade">
                                      <p:cBhvr>
                                        <p:cTn id="79" dur="550"/>
                                        <p:tgtEl>
                                          <p:spTgt spid="20"/>
                                        </p:tgtEl>
                                      </p:cBhvr>
                                    </p:animEffect>
                                  </p:childTnLst>
                                </p:cTn>
                              </p:par>
                              <p:par>
                                <p:cTn id="84" presetID="2" presetClass="entr" presetSubtype="4" fill="hold" grpId="0" nodeType="withEffect">
                                  <p:stCondLst>
                                    <p:cond delay="1768"/>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50" fill="hold"/>
                                        <p:tgtEl>
                                          <p:spTgt spid="21"/>
                                        </p:tgtEl>
                                        <p:attrNameLst>
                                          <p:attrName>ppt_y</p:attrName>
                                        </p:attrNameLst>
                                      </p:cBhvr>
                                      <p:tavLst>
                                        <p:tav tm="0">
                                          <p:val>
                                            <p:strVal val="#ppt_y+0.07"/>
                                          </p:val>
                                        </p:tav>
                                        <p:tav tm="100000">
                                          <p:val>
                                            <p:strVal val="#ppt_y"/>
                                          </p:val>
                                        </p:tav>
                                      </p:tavLst>
                                    </p:anim>
                                    <p:animEffect transition="in" filter="fade">
                                      <p:cBhvr>
                                        <p:cTn id="83" dur="550"/>
                                        <p:tgtEl>
                                          <p:spTgt spid="21"/>
                                        </p:tgtEl>
                                      </p:cBhvr>
                                    </p:animEffect>
                                  </p:childTnLst>
                                </p:cTn>
                              </p:par>
                              <p:par>
                                <p:cTn id="89" presetID="53" presetClass="entr" presetSubtype="16" fill="hold" grpId="0" nodeType="withEffect">
                                  <p:stCondLst>
                                    <p:cond delay="1828"/>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550" fill="hold"/>
                                        <p:tgtEl>
                                          <p:spTgt spid="22"/>
                                        </p:tgtEl>
                                        <p:attrNameLst>
                                          <p:attrName>ppt_w</p:attrName>
                                        </p:attrNameLst>
                                      </p:cBhvr>
                                      <p:tavLst>
                                        <p:tav tm="0">
                                          <p:val>
                                            <p:fltVal val="0"/>
                                          </p:val>
                                        </p:tav>
                                        <p:tav tm="100000">
                                          <p:val>
                                            <p:strVal val="#ppt_w"/>
                                          </p:val>
                                        </p:tav>
                                      </p:tavLst>
                                    </p:anim>
                                    <p:anim calcmode="lin" valueType="num">
                                      <p:cBhvr additive="base">
                                        <p:cTn id="87" dur="550" fill="hold"/>
                                        <p:tgtEl>
                                          <p:spTgt spid="22"/>
                                        </p:tgtEl>
                                        <p:attrNameLst>
                                          <p:attrName>ppt_h</p:attrName>
                                        </p:attrNameLst>
                                      </p:cBhvr>
                                      <p:tavLst>
                                        <p:tav tm="0">
                                          <p:val>
                                            <p:fltVal val="0"/>
                                          </p:val>
                                        </p:tav>
                                        <p:tav tm="100000">
                                          <p:val>
                                            <p:strVal val="#ppt_h"/>
                                          </p:val>
                                        </p:tav>
                                      </p:tavLst>
                                    </p:anim>
                                    <p:animEffect transition="in" filter="fade">
                                      <p:cBhvr>
                                        <p:cTn id="88" dur="550"/>
                                        <p:tgtEl>
                                          <p:spTgt spid="22"/>
                                        </p:tgtEl>
                                      </p:cBhvr>
                                    </p:animEffect>
                                  </p:childTnLst>
                                </p:cTn>
                              </p:par>
                              <p:par>
                                <p:cTn id="94" presetID="53" presetClass="entr" presetSubtype="16" fill="hold" grpId="0" nodeType="withEffect">
                                  <p:stCondLst>
                                    <p:cond delay="1828"/>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550" fill="hold"/>
                                        <p:tgtEl>
                                          <p:spTgt spid="23"/>
                                        </p:tgtEl>
                                        <p:attrNameLst>
                                          <p:attrName>ppt_w</p:attrName>
                                        </p:attrNameLst>
                                      </p:cBhvr>
                                      <p:tavLst>
                                        <p:tav tm="0">
                                          <p:val>
                                            <p:fltVal val="0"/>
                                          </p:val>
                                        </p:tav>
                                        <p:tav tm="100000">
                                          <p:val>
                                            <p:strVal val="#ppt_w"/>
                                          </p:val>
                                        </p:tav>
                                      </p:tavLst>
                                    </p:anim>
                                    <p:anim calcmode="lin" valueType="num">
                                      <p:cBhvr additive="base">
                                        <p:cTn id="92" dur="550" fill="hold"/>
                                        <p:tgtEl>
                                          <p:spTgt spid="23"/>
                                        </p:tgtEl>
                                        <p:attrNameLst>
                                          <p:attrName>ppt_h</p:attrName>
                                        </p:attrNameLst>
                                      </p:cBhvr>
                                      <p:tavLst>
                                        <p:tav tm="0">
                                          <p:val>
                                            <p:fltVal val="0"/>
                                          </p:val>
                                        </p:tav>
                                        <p:tav tm="100000">
                                          <p:val>
                                            <p:strVal val="#ppt_h"/>
                                          </p:val>
                                        </p:tav>
                                      </p:tavLst>
                                    </p:anim>
                                    <p:animEffect transition="in" filter="fade">
                                      <p:cBhvr>
                                        <p:cTn id="93" dur="550"/>
                                        <p:tgtEl>
                                          <p:spTgt spid="23"/>
                                        </p:tgtEl>
                                      </p:cBhvr>
                                    </p:animEffect>
                                  </p:childTnLst>
                                </p:cTn>
                              </p:par>
                              <p:par>
                                <p:cTn id="97" presetID="10" presetClass="entr" presetSubtype="0" fill="hold" grpId="0" nodeType="withEffect">
                                  <p:stCondLst>
                                    <p:cond delay="1828"/>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50"/>
                                        <p:tgtEl>
                                          <p:spTgt spid="24"/>
                                        </p:tgtEl>
                                      </p:cBhvr>
                                    </p:animEffect>
                                  </p:childTnLst>
                                </p:cTn>
                              </p:par>
                              <p:par>
                                <p:cTn id="101" presetID="2" presetClass="entr" presetSubtype="4" fill="hold" grpId="0" nodeType="withEffect">
                                  <p:stCondLst>
                                    <p:cond delay="1904"/>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550" fill="hold"/>
                                        <p:tgtEl>
                                          <p:spTgt spid="25"/>
                                        </p:tgtEl>
                                        <p:attrNameLst>
                                          <p:attrName>ppt_y</p:attrName>
                                        </p:attrNameLst>
                                      </p:cBhvr>
                                      <p:tavLst>
                                        <p:tav tm="0">
                                          <p:val>
                                            <p:strVal val="#ppt_y+0.07"/>
                                          </p:val>
                                        </p:tav>
                                        <p:tav tm="100000">
                                          <p:val>
                                            <p:strVal val="#ppt_y"/>
                                          </p:val>
                                        </p:tav>
                                      </p:tavLst>
                                    </p:anim>
                                    <p:animEffect transition="in" filter="fade">
                                      <p:cBhvr>
                                        <p:cTn id="100" dur="550"/>
                                        <p:tgtEl>
                                          <p:spTgt spid="25"/>
                                        </p:tgtEl>
                                      </p:cBhvr>
                                    </p:animEffect>
                                  </p:childTnLst>
                                </p:cTn>
                              </p:par>
                              <p:par>
                                <p:cTn id="105" presetID="2" presetClass="entr" presetSubtype="4" fill="hold" grpId="0" nodeType="withEffect">
                                  <p:stCondLst>
                                    <p:cond delay="204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550" fill="hold"/>
                                        <p:tgtEl>
                                          <p:spTgt spid="26"/>
                                        </p:tgtEl>
                                        <p:attrNameLst>
                                          <p:attrName>ppt_y</p:attrName>
                                        </p:attrNameLst>
                                      </p:cBhvr>
                                      <p:tavLst>
                                        <p:tav tm="0">
                                          <p:val>
                                            <p:strVal val="#ppt_y+0.07"/>
                                          </p:val>
                                        </p:tav>
                                        <p:tav tm="100000">
                                          <p:val>
                                            <p:strVal val="#ppt_y"/>
                                          </p:val>
                                        </p:tav>
                                      </p:tavLst>
                                    </p:anim>
                                    <p:animEffect transition="in" filter="fade">
                                      <p:cBhvr>
                                        <p:cTn id="104" dur="550"/>
                                        <p:tgtEl>
                                          <p:spTgt spid="26"/>
                                        </p:tgtEl>
                                      </p:cBhvr>
                                    </p:animEffect>
                                  </p:childTnLst>
                                </p:cTn>
                              </p:par>
                              <p:par>
                                <p:cTn id="109" presetID="2" presetClass="entr" presetSubtype="4" fill="hold" grpId="0" nodeType="withEffect">
                                  <p:stCondLst>
                                    <p:cond delay="2176"/>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550" fill="hold"/>
                                        <p:tgtEl>
                                          <p:spTgt spid="27"/>
                                        </p:tgtEl>
                                        <p:attrNameLst>
                                          <p:attrName>ppt_y</p:attrName>
                                        </p:attrNameLst>
                                      </p:cBhvr>
                                      <p:tavLst>
                                        <p:tav tm="0">
                                          <p:val>
                                            <p:strVal val="#ppt_y+0.07"/>
                                          </p:val>
                                        </p:tav>
                                        <p:tav tm="100000">
                                          <p:val>
                                            <p:strVal val="#ppt_y"/>
                                          </p:val>
                                        </p:tav>
                                      </p:tavLst>
                                    </p:anim>
                                    <p:animEffect transition="in" filter="fade">
                                      <p:cBhvr>
                                        <p:cTn id="108" dur="550"/>
                                        <p:tgtEl>
                                          <p:spTgt spid="27"/>
                                        </p:tgtEl>
                                      </p:cBhvr>
                                    </p:animEffect>
                                  </p:childTnLst>
                                </p:cTn>
                              </p:par>
                              <p:par>
                                <p:cTn id="113" presetID="2" presetClass="entr" presetSubtype="4" fill="hold" grpId="0" nodeType="withEffect">
                                  <p:stCondLst>
                                    <p:cond delay="2312"/>
                                  </p:stCondLst>
                                  <p:childTnLst>
                                    <p:set>
                                      <p:cBhvr>
                                        <p:cTn id="110" dur="1" fill="hold">
                                          <p:stCondLst>
                                            <p:cond delay="0"/>
                                          </p:stCondLst>
                                        </p:cTn>
                                        <p:tgtEl>
                                          <p:spTgt spid="28"/>
                                        </p:tgtEl>
                                        <p:attrNameLst>
                                          <p:attrName>style.visibility</p:attrName>
                                        </p:attrNameLst>
                                      </p:cBhvr>
                                      <p:to>
                                        <p:strVal val="visible"/>
                                      </p:to>
                                    </p:set>
                                    <p:anim calcmode="lin" valueType="num">
                                      <p:cBhvr additive="base">
                                        <p:cTn id="111" dur="550" fill="hold"/>
                                        <p:tgtEl>
                                          <p:spTgt spid="28"/>
                                        </p:tgtEl>
                                        <p:attrNameLst>
                                          <p:attrName>ppt_y</p:attrName>
                                        </p:attrNameLst>
                                      </p:cBhvr>
                                      <p:tavLst>
                                        <p:tav tm="0">
                                          <p:val>
                                            <p:strVal val="#ppt_y+0.07"/>
                                          </p:val>
                                        </p:tav>
                                        <p:tav tm="100000">
                                          <p:val>
                                            <p:strVal val="#ppt_y"/>
                                          </p:val>
                                        </p:tav>
                                      </p:tavLst>
                                    </p:anim>
                                    <p:animEffect transition="in" filter="fade">
                                      <p:cBhvr>
                                        <p:cTn id="112" dur="550"/>
                                        <p:tgtEl>
                                          <p:spTgt spid="28"/>
                                        </p:tgtEl>
                                      </p:cBhvr>
                                    </p:animEffect>
                                  </p:childTnLst>
                                </p:cTn>
                              </p:par>
                              <p:par>
                                <p:cTn id="117" presetID="2" presetClass="entr" presetSubtype="4" fill="hold" grpId="0" nodeType="withEffect">
                                  <p:stCondLst>
                                    <p:cond delay="2448"/>
                                  </p:stCondLst>
                                  <p:childTnLst>
                                    <p:set>
                                      <p:cBhvr>
                                        <p:cTn id="114" dur="1" fill="hold">
                                          <p:stCondLst>
                                            <p:cond delay="0"/>
                                          </p:stCondLst>
                                        </p:cTn>
                                        <p:tgtEl>
                                          <p:spTgt spid="29"/>
                                        </p:tgtEl>
                                        <p:attrNameLst>
                                          <p:attrName>style.visibility</p:attrName>
                                        </p:attrNameLst>
                                      </p:cBhvr>
                                      <p:to>
                                        <p:strVal val="visible"/>
                                      </p:to>
                                    </p:set>
                                    <p:anim calcmode="lin" valueType="num">
                                      <p:cBhvr additive="base">
                                        <p:cTn id="115" dur="550" fill="hold"/>
                                        <p:tgtEl>
                                          <p:spTgt spid="29"/>
                                        </p:tgtEl>
                                        <p:attrNameLst>
                                          <p:attrName>ppt_y</p:attrName>
                                        </p:attrNameLst>
                                      </p:cBhvr>
                                      <p:tavLst>
                                        <p:tav tm="0">
                                          <p:val>
                                            <p:strVal val="#ppt_y+0.07"/>
                                          </p:val>
                                        </p:tav>
                                        <p:tav tm="100000">
                                          <p:val>
                                            <p:strVal val="#ppt_y"/>
                                          </p:val>
                                        </p:tav>
                                      </p:tavLst>
                                    </p:anim>
                                    <p:animEffect transition="in" filter="fade">
                                      <p:cBhvr>
                                        <p:cTn id="116" dur="5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900" name="Background art" descr="Decorative illustration"/>
          <p:cNvPicPr>
            <a:picLocks noChangeAspect="1"/>
          </p:cNvPicPr>
          <p:nvPr/>
        </p:nvPicPr>
        <p:blipFill>
          <a:blip r:embed="rId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bg1"/>
                </a:solidFill>
              </a:rPr>
              <a:t>Business model &amp; rollout</a:t>
            </a:r>
            <a:endParaRPr lang="en-US" sz="3600" dirty="0"/>
          </a:p>
        </p:txBody>
      </p:sp>
      <p:sp>
        <p:nvSpPr>
          <p:cNvPr id="3" name="Model card"/>
          <p:cNvSpPr/>
          <p:nvPr/>
        </p:nvSpPr>
        <p:spPr>
          <a:xfrm>
            <a:off x="640080" y="1554480"/>
            <a:ext cx="5120640" cy="4480560"/>
          </a:xfrm>
          <a:prstGeom prst="roundRect">
            <a:avLst>
              <a:gd name="adj" fmla="val 3061"/>
            </a:avLst>
          </a:prstGeom>
          <a:solidFill>
            <a:schemeClr val="tx2"/>
          </a:solidFill>
          <a:ln/>
        </p:spPr>
      </p:sp>
      <p:sp>
        <p:nvSpPr>
          <p:cNvPr id="4" name="Text 2"/>
          <p:cNvSpPr txBox="1"/>
          <p:nvPr/>
        </p:nvSpPr>
        <p:spPr>
          <a:xfrm>
            <a:off x="960120" y="1783080"/>
            <a:ext cx="4480560" cy="457200"/>
          </a:xfrm>
          <a:prstGeom prst="rect">
            <a:avLst/>
          </a:prstGeom>
          <a:noFill/>
          <a:ln/>
        </p:spPr>
        <p:txBody>
          <a:bodyPr wrap="square" lIns="0" tIns="0" rIns="0" bIns="0" rtlCol="0" anchor="ctr"/>
          <a:lstStyle/>
          <a:p>
            <a:pPr marL="0" indent="0">
              <a:buNone/>
            </a:pPr>
            <a:r>
              <a:rPr lang="en-US" sz="2200" b="1" dirty="0">
                <a:solidFill>
                  <a:schemeClr val="accent2"/>
                </a:solidFill>
                <a:latin typeface="Arial" pitchFamily="34" charset="0"/>
                <a:ea typeface="Arial" pitchFamily="34" charset="-122"/>
                <a:cs typeface="Arial" pitchFamily="34" charset="-120"/>
              </a:rPr>
              <a:t>Proposed model</a:t>
            </a:r>
            <a:endParaRPr lang="en-US" sz="2200" dirty="0"/>
          </a:p>
        </p:txBody>
      </p:sp>
      <p:sp>
        <p:nvSpPr>
          <p:cNvPr id="5" name="Text 3"/>
          <p:cNvSpPr txBox="1"/>
          <p:nvPr/>
        </p:nvSpPr>
        <p:spPr>
          <a:xfrm>
            <a:off x="960120" y="2468880"/>
            <a:ext cx="4480560" cy="3291840"/>
          </a:xfrm>
          <a:prstGeom prst="rect">
            <a:avLst/>
          </a:prstGeom>
          <a:noFill/>
          <a:ln/>
        </p:spPr>
        <p:txBody>
          <a:bodyPr wrap="square" lIns="0" tIns="0" rIns="0" bIns="0" rtlCol="0" anchor="t"/>
          <a:lstStyle/>
          <a:p>
            <a:pPr marL="342900" indent="-342900">
              <a:spcAft>
                <a:spcPts val="1800"/>
              </a:spcAft>
              <a:buSzPct val="100000"/>
              <a:buChar char="•"/>
            </a:pPr>
            <a:r>
              <a:rPr lang="en-US" sz="2000" dirty="0">
                <a:solidFill>
                  <a:schemeClr val="bg1"/>
                </a:solidFill>
              </a:rPr>
              <a:t>SaaS subscription per building or campus</a:t>
            </a:r>
            <a:endParaRPr lang="en-US" sz="2000" dirty="0"/>
          </a:p>
          <a:p>
            <a:pPr marL="342900" indent="-342900">
              <a:spcAft>
                <a:spcPts val="1800"/>
              </a:spcAft>
              <a:buSzPct val="100000"/>
              <a:buChar char="•"/>
            </a:pPr>
            <a:r>
              <a:rPr lang="en-US" sz="2000" dirty="0">
                <a:solidFill>
                  <a:schemeClr val="bg1"/>
                </a:solidFill>
              </a:rPr>
              <a:t>Retrofit sensor kits and installation</a:t>
            </a:r>
            <a:endParaRPr lang="en-US" sz="2000" dirty="0"/>
          </a:p>
          <a:p>
            <a:pPr marL="342900" indent="-342900">
              <a:spcAft>
                <a:spcPts val="1800"/>
              </a:spcAft>
              <a:buSzPct val="100000"/>
              <a:buChar char="•"/>
            </a:pPr>
            <a:r>
              <a:rPr lang="en-US" sz="2000" dirty="0">
                <a:solidFill>
                  <a:schemeClr val="bg1"/>
                </a:solidFill>
              </a:rPr>
              <a:t>Sustainability reporting for institutional goals</a:t>
            </a:r>
            <a:endParaRPr lang="en-US" sz="2000" dirty="0"/>
          </a:p>
        </p:txBody>
      </p:sp>
      <p:sp>
        <p:nvSpPr>
          <p:cNvPr id="6" name="Phase 1 card"/>
          <p:cNvSpPr/>
          <p:nvPr/>
        </p:nvSpPr>
        <p:spPr>
          <a:xfrm>
            <a:off x="6217920" y="1554480"/>
            <a:ext cx="5330952" cy="1371600"/>
          </a:xfrm>
          <a:prstGeom prst="roundRect">
            <a:avLst>
              <a:gd name="adj" fmla="val 8000"/>
            </a:avLst>
          </a:prstGeom>
          <a:solidFill>
            <a:schemeClr val="tx2"/>
          </a:solidFill>
          <a:ln w="19050">
            <a:solidFill>
              <a:schemeClr val="accent1"/>
            </a:solidFill>
            <a:prstDash val="solid"/>
          </a:ln>
        </p:spPr>
      </p:sp>
      <p:sp>
        <p:nvSpPr>
          <p:cNvPr id="7" name="Phase 1 badge"/>
          <p:cNvSpPr/>
          <p:nvPr/>
        </p:nvSpPr>
        <p:spPr>
          <a:xfrm>
            <a:off x="6492240" y="1920240"/>
            <a:ext cx="640080" cy="640080"/>
          </a:xfrm>
          <a:prstGeom prst="ellipse">
            <a:avLst/>
          </a:prstGeom>
          <a:solidFill>
            <a:schemeClr val="accent1"/>
          </a:solidFill>
          <a:ln/>
        </p:spPr>
      </p:sp>
      <p:sp>
        <p:nvSpPr>
          <p:cNvPr id="8" name="Text 6"/>
          <p:cNvSpPr txBox="1"/>
          <p:nvPr/>
        </p:nvSpPr>
        <p:spPr>
          <a:xfrm>
            <a:off x="6492240" y="192024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1</a:t>
            </a:r>
            <a:endParaRPr lang="en-US" sz="2400" dirty="0"/>
          </a:p>
        </p:txBody>
      </p:sp>
      <p:sp>
        <p:nvSpPr>
          <p:cNvPr id="9" name="Text 7"/>
          <p:cNvSpPr txBox="1"/>
          <p:nvPr/>
        </p:nvSpPr>
        <p:spPr>
          <a:xfrm>
            <a:off x="7406640" y="1737360"/>
            <a:ext cx="3931920" cy="457200"/>
          </a:xfrm>
          <a:prstGeom prst="rect">
            <a:avLst/>
          </a:prstGeom>
          <a:noFill/>
          <a:ln/>
        </p:spPr>
        <p:txBody>
          <a:bodyPr wrap="square" lIns="0" tIns="0" rIns="0" bIns="0" rtlCol="0" anchor="ctr"/>
          <a:lstStyle/>
          <a:p>
            <a:pPr marL="0" indent="0">
              <a:buNone/>
            </a:pPr>
            <a:r>
              <a:rPr lang="en-US" sz="2200" b="1" dirty="0">
                <a:solidFill>
                  <a:schemeClr val="bg1"/>
                </a:solidFill>
                <a:latin typeface="Arial" pitchFamily="34" charset="0"/>
                <a:ea typeface="Arial" pitchFamily="34" charset="-122"/>
                <a:cs typeface="Arial" pitchFamily="34" charset="-120"/>
              </a:rPr>
              <a:t>Pilot</a:t>
            </a:r>
            <a:endParaRPr lang="en-US" sz="2200" dirty="0"/>
          </a:p>
        </p:txBody>
      </p:sp>
      <p:sp>
        <p:nvSpPr>
          <p:cNvPr id="10" name="Text 8"/>
          <p:cNvSpPr txBox="1"/>
          <p:nvPr/>
        </p:nvSpPr>
        <p:spPr>
          <a:xfrm>
            <a:off x="7406640" y="2240280"/>
            <a:ext cx="3931920" cy="548640"/>
          </a:xfrm>
          <a:prstGeom prst="rect">
            <a:avLst/>
          </a:prstGeom>
          <a:noFill/>
          <a:ln/>
        </p:spPr>
        <p:txBody>
          <a:bodyPr wrap="square" lIns="0" tIns="0" rIns="0" bIns="0" rtlCol="0" anchor="t"/>
          <a:lstStyle/>
          <a:p>
            <a:pPr marL="0" indent="0">
              <a:buNone/>
            </a:pPr>
            <a:r>
              <a:rPr lang="en-US" sz="1600" dirty="0">
                <a:solidFill>
                  <a:schemeClr val="accent5"/>
                </a:solidFill>
              </a:rPr>
              <a:t>One building; measure savings against baseline</a:t>
            </a:r>
            <a:endParaRPr lang="en-US" sz="1600" dirty="0"/>
          </a:p>
        </p:txBody>
      </p:sp>
      <p:sp>
        <p:nvSpPr>
          <p:cNvPr id="11" name="Phase 2 card"/>
          <p:cNvSpPr/>
          <p:nvPr/>
        </p:nvSpPr>
        <p:spPr>
          <a:xfrm>
            <a:off x="6217920" y="3108960"/>
            <a:ext cx="5330952" cy="1371600"/>
          </a:xfrm>
          <a:prstGeom prst="roundRect">
            <a:avLst>
              <a:gd name="adj" fmla="val 8000"/>
            </a:avLst>
          </a:prstGeom>
          <a:solidFill>
            <a:schemeClr val="tx2"/>
          </a:solidFill>
          <a:ln w="19050">
            <a:solidFill>
              <a:schemeClr val="accent1"/>
            </a:solidFill>
            <a:prstDash val="solid"/>
          </a:ln>
        </p:spPr>
      </p:sp>
      <p:sp>
        <p:nvSpPr>
          <p:cNvPr id="12" name="Phase 2 badge"/>
          <p:cNvSpPr/>
          <p:nvPr/>
        </p:nvSpPr>
        <p:spPr>
          <a:xfrm>
            <a:off x="6492240" y="3474720"/>
            <a:ext cx="640080" cy="640080"/>
          </a:xfrm>
          <a:prstGeom prst="ellipse">
            <a:avLst/>
          </a:prstGeom>
          <a:solidFill>
            <a:schemeClr val="accent1"/>
          </a:solidFill>
          <a:ln/>
        </p:spPr>
      </p:sp>
      <p:sp>
        <p:nvSpPr>
          <p:cNvPr id="13" name="Text 11"/>
          <p:cNvSpPr txBox="1"/>
          <p:nvPr/>
        </p:nvSpPr>
        <p:spPr>
          <a:xfrm>
            <a:off x="6492240" y="347472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2</a:t>
            </a:r>
            <a:endParaRPr lang="en-US" sz="2400" dirty="0"/>
          </a:p>
        </p:txBody>
      </p:sp>
      <p:sp>
        <p:nvSpPr>
          <p:cNvPr id="14" name="Text 12"/>
          <p:cNvSpPr txBox="1"/>
          <p:nvPr/>
        </p:nvSpPr>
        <p:spPr>
          <a:xfrm>
            <a:off x="7406640" y="3291840"/>
            <a:ext cx="3931920" cy="457200"/>
          </a:xfrm>
          <a:prstGeom prst="rect">
            <a:avLst/>
          </a:prstGeom>
          <a:noFill/>
          <a:ln/>
        </p:spPr>
        <p:txBody>
          <a:bodyPr wrap="square" lIns="0" tIns="0" rIns="0" bIns="0" rtlCol="0" anchor="ctr"/>
          <a:lstStyle/>
          <a:p>
            <a:pPr marL="0" indent="0">
              <a:buNone/>
            </a:pPr>
            <a:r>
              <a:rPr lang="en-US" sz="2200" b="1" dirty="0">
                <a:solidFill>
                  <a:schemeClr val="bg1"/>
                </a:solidFill>
                <a:latin typeface="Arial" pitchFamily="34" charset="0"/>
                <a:ea typeface="Arial" pitchFamily="34" charset="-122"/>
                <a:cs typeface="Arial" pitchFamily="34" charset="-120"/>
              </a:rPr>
              <a:t>Campus-wide</a:t>
            </a:r>
            <a:endParaRPr lang="en-US" sz="2200" dirty="0"/>
          </a:p>
        </p:txBody>
      </p:sp>
      <p:sp>
        <p:nvSpPr>
          <p:cNvPr id="15" name="Text 13"/>
          <p:cNvSpPr txBox="1"/>
          <p:nvPr/>
        </p:nvSpPr>
        <p:spPr>
          <a:xfrm>
            <a:off x="7406640" y="3794760"/>
            <a:ext cx="3931920" cy="548640"/>
          </a:xfrm>
          <a:prstGeom prst="rect">
            <a:avLst/>
          </a:prstGeom>
          <a:noFill/>
          <a:ln/>
        </p:spPr>
        <p:txBody>
          <a:bodyPr wrap="square" lIns="0" tIns="0" rIns="0" bIns="0" rtlCol="0" anchor="t"/>
          <a:lstStyle/>
          <a:p>
            <a:pPr marL="0" indent="0">
              <a:buNone/>
            </a:pPr>
            <a:r>
              <a:rPr lang="en-US" sz="1600" dirty="0">
                <a:solidFill>
                  <a:schemeClr val="accent5"/>
                </a:solidFill>
              </a:rPr>
              <a:t>Roll out HVAC, waste and dashboard</a:t>
            </a:r>
            <a:endParaRPr lang="en-US" sz="1600" dirty="0"/>
          </a:p>
        </p:txBody>
      </p:sp>
      <p:sp>
        <p:nvSpPr>
          <p:cNvPr id="16" name="Phase 3 card"/>
          <p:cNvSpPr/>
          <p:nvPr/>
        </p:nvSpPr>
        <p:spPr>
          <a:xfrm>
            <a:off x="6217920" y="4663440"/>
            <a:ext cx="5330952" cy="1371600"/>
          </a:xfrm>
          <a:prstGeom prst="roundRect">
            <a:avLst>
              <a:gd name="adj" fmla="val 8000"/>
            </a:avLst>
          </a:prstGeom>
          <a:solidFill>
            <a:schemeClr val="tx2"/>
          </a:solidFill>
          <a:ln w="19050">
            <a:solidFill>
              <a:schemeClr val="accent1"/>
            </a:solidFill>
            <a:prstDash val="solid"/>
          </a:ln>
        </p:spPr>
      </p:sp>
      <p:sp>
        <p:nvSpPr>
          <p:cNvPr id="17" name="Phase 3 badge"/>
          <p:cNvSpPr/>
          <p:nvPr/>
        </p:nvSpPr>
        <p:spPr>
          <a:xfrm>
            <a:off x="6492240" y="5029200"/>
            <a:ext cx="640080" cy="640080"/>
          </a:xfrm>
          <a:prstGeom prst="ellipse">
            <a:avLst/>
          </a:prstGeom>
          <a:solidFill>
            <a:schemeClr val="accent1"/>
          </a:solidFill>
          <a:ln/>
        </p:spPr>
      </p:sp>
      <p:sp>
        <p:nvSpPr>
          <p:cNvPr id="18" name="Text 16"/>
          <p:cNvSpPr txBox="1"/>
          <p:nvPr/>
        </p:nvSpPr>
        <p:spPr>
          <a:xfrm>
            <a:off x="6492240" y="502920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3</a:t>
            </a:r>
            <a:endParaRPr lang="en-US" sz="2400" dirty="0"/>
          </a:p>
        </p:txBody>
      </p:sp>
      <p:sp>
        <p:nvSpPr>
          <p:cNvPr id="19" name="Text 17"/>
          <p:cNvSpPr txBox="1"/>
          <p:nvPr/>
        </p:nvSpPr>
        <p:spPr>
          <a:xfrm>
            <a:off x="7406640" y="4846320"/>
            <a:ext cx="3931920" cy="457200"/>
          </a:xfrm>
          <a:prstGeom prst="rect">
            <a:avLst/>
          </a:prstGeom>
          <a:noFill/>
          <a:ln/>
        </p:spPr>
        <p:txBody>
          <a:bodyPr wrap="square" lIns="0" tIns="0" rIns="0" bIns="0" rtlCol="0" anchor="ctr"/>
          <a:lstStyle/>
          <a:p>
            <a:pPr marL="0" indent="0">
              <a:buNone/>
            </a:pPr>
            <a:r>
              <a:rPr lang="en-US" sz="2200" b="1" dirty="0">
                <a:solidFill>
                  <a:schemeClr val="bg1"/>
                </a:solidFill>
                <a:latin typeface="Arial" pitchFamily="34" charset="0"/>
                <a:ea typeface="Arial" pitchFamily="34" charset="-122"/>
                <a:cs typeface="Arial" pitchFamily="34" charset="-120"/>
              </a:rPr>
              <a:t>Multi-campus</a:t>
            </a:r>
            <a:endParaRPr lang="en-US" sz="2200" dirty="0"/>
          </a:p>
        </p:txBody>
      </p:sp>
      <p:sp>
        <p:nvSpPr>
          <p:cNvPr id="20" name="Text 18"/>
          <p:cNvSpPr txBox="1"/>
          <p:nvPr/>
        </p:nvSpPr>
        <p:spPr>
          <a:xfrm>
            <a:off x="7406640" y="5349240"/>
            <a:ext cx="3931920" cy="548640"/>
          </a:xfrm>
          <a:prstGeom prst="rect">
            <a:avLst/>
          </a:prstGeom>
          <a:noFill/>
          <a:ln/>
        </p:spPr>
        <p:txBody>
          <a:bodyPr wrap="square" lIns="0" tIns="0" rIns="0" bIns="0" rtlCol="0" anchor="t"/>
          <a:lstStyle/>
          <a:p>
            <a:pPr marL="0" indent="0">
              <a:buNone/>
            </a:pPr>
            <a:r>
              <a:rPr lang="en-US" sz="1600" dirty="0">
                <a:solidFill>
                  <a:schemeClr val="accent5"/>
                </a:solidFill>
              </a:rPr>
              <a:t>Expand across universities and districts</a:t>
            </a:r>
            <a:endParaRPr lang="en-US" sz="1600" dirty="0"/>
          </a:p>
        </p:txBody>
      </p:sp>
      <p:sp>
        <p:nvSpPr>
          <p:cNvPr id="25"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8"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3" presetID="10" presetClass="entr" presetSubtype="0" fill="hold" grpId="0" nodeType="withEffect">
                                  <p:stCondLst>
                                    <p:cond delay="21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childTnLst>
                                </p:cTn>
                              </p:par>
                              <p:par>
                                <p:cTn id="16" presetID="10" presetClass="entr" presetSubtype="0" fill="hold" grpId="0" nodeType="withEffect">
                                  <p:stCondLst>
                                    <p:cond delay="21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50"/>
                                        <p:tgtEl>
                                          <p:spTgt spid="5"/>
                                        </p:tgtEl>
                                      </p:cBhvr>
                                    </p:animEffect>
                                  </p:childTnLst>
                                </p:cTn>
                              </p:par>
                              <p:par>
                                <p:cTn id="20" presetID="2" presetClass="entr" presetSubtype="4" fill="hold" grpId="0" nodeType="withEffect">
                                  <p:stCondLst>
                                    <p:cond delay="30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50" fill="hold"/>
                                        <p:tgtEl>
                                          <p:spTgt spid="6"/>
                                        </p:tgtEl>
                                        <p:attrNameLst>
                                          <p:attrName>ppt_y</p:attrName>
                                        </p:attrNameLst>
                                      </p:cBhvr>
                                      <p:tavLst>
                                        <p:tav tm="0">
                                          <p:val>
                                            <p:strVal val="#ppt_y+0.07"/>
                                          </p:val>
                                        </p:tav>
                                        <p:tav tm="100000">
                                          <p:val>
                                            <p:strVal val="#ppt_y"/>
                                          </p:val>
                                        </p:tav>
                                      </p:tavLst>
                                    </p:anim>
                                    <p:animEffect transition="in" filter="fade">
                                      <p:cBhvr>
                                        <p:cTn id="19" dur="550"/>
                                        <p:tgtEl>
                                          <p:spTgt spid="6"/>
                                        </p:tgtEl>
                                      </p:cBhvr>
                                    </p:animEffect>
                                  </p:childTnLst>
                                </p:cTn>
                              </p:par>
                              <p:par>
                                <p:cTn id="24" presetID="2" presetClass="entr" presetSubtype="4" fill="hold" grpId="0" nodeType="withEffect">
                                  <p:stCondLst>
                                    <p:cond delay="36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50" fill="hold"/>
                                        <p:tgtEl>
                                          <p:spTgt spid="7"/>
                                        </p:tgtEl>
                                        <p:attrNameLst>
                                          <p:attrName>ppt_y</p:attrName>
                                        </p:attrNameLst>
                                      </p:cBhvr>
                                      <p:tavLst>
                                        <p:tav tm="0">
                                          <p:val>
                                            <p:strVal val="#ppt_y+0.07"/>
                                          </p:val>
                                        </p:tav>
                                        <p:tav tm="100000">
                                          <p:val>
                                            <p:strVal val="#ppt_y"/>
                                          </p:val>
                                        </p:tav>
                                      </p:tavLst>
                                    </p:anim>
                                    <p:animEffect transition="in" filter="fade">
                                      <p:cBhvr>
                                        <p:cTn id="23" dur="550"/>
                                        <p:tgtEl>
                                          <p:spTgt spid="7"/>
                                        </p:tgtEl>
                                      </p:cBhvr>
                                    </p:animEffect>
                                  </p:childTnLst>
                                </p:cTn>
                              </p:par>
                              <p:par>
                                <p:cTn id="27" presetID="10" presetClass="entr" presetSubtype="0" fill="hold" grpId="0" nodeType="withEffect">
                                  <p:stCondLst>
                                    <p:cond delay="36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par>
                                <p:cTn id="30" presetID="10" presetClass="entr" presetSubtype="0" fill="hold" grpId="0" nodeType="withEffect">
                                  <p:stCondLst>
                                    <p:cond delay="36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50"/>
                                        <p:tgtEl>
                                          <p:spTgt spid="9"/>
                                        </p:tgtEl>
                                      </p:cBhvr>
                                    </p:animEffect>
                                  </p:childTnLst>
                                </p:cTn>
                              </p:par>
                              <p:par>
                                <p:cTn id="33" presetID="10" presetClass="entr" presetSubtype="0" fill="hold" grpId="0" nodeType="withEffect">
                                  <p:stCondLst>
                                    <p:cond delay="36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50"/>
                                        <p:tgtEl>
                                          <p:spTgt spid="10"/>
                                        </p:tgtEl>
                                      </p:cBhvr>
                                    </p:animEffect>
                                  </p:childTnLst>
                                </p:cTn>
                              </p:par>
                              <p:par>
                                <p:cTn id="37" presetID="2" presetClass="entr" presetSubtype="4" fill="hold" grpId="0" nodeType="withEffect">
                                  <p:stCondLst>
                                    <p:cond delay="45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50" fill="hold"/>
                                        <p:tgtEl>
                                          <p:spTgt spid="11"/>
                                        </p:tgtEl>
                                        <p:attrNameLst>
                                          <p:attrName>ppt_y</p:attrName>
                                        </p:attrNameLst>
                                      </p:cBhvr>
                                      <p:tavLst>
                                        <p:tav tm="0">
                                          <p:val>
                                            <p:strVal val="#ppt_y+0.07"/>
                                          </p:val>
                                        </p:tav>
                                        <p:tav tm="100000">
                                          <p:val>
                                            <p:strVal val="#ppt_y"/>
                                          </p:val>
                                        </p:tav>
                                      </p:tavLst>
                                    </p:anim>
                                    <p:animEffect transition="in" filter="fade">
                                      <p:cBhvr>
                                        <p:cTn id="36" dur="550"/>
                                        <p:tgtEl>
                                          <p:spTgt spid="11"/>
                                        </p:tgtEl>
                                      </p:cBhvr>
                                    </p:animEffect>
                                  </p:childTnLst>
                                </p:cTn>
                              </p:par>
                              <p:par>
                                <p:cTn id="41" presetID="2" presetClass="entr" presetSubtype="4" fill="hold" grpId="0" nodeType="withEffect">
                                  <p:stCondLst>
                                    <p:cond delay="51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50" fill="hold"/>
                                        <p:tgtEl>
                                          <p:spTgt spid="12"/>
                                        </p:tgtEl>
                                        <p:attrNameLst>
                                          <p:attrName>ppt_y</p:attrName>
                                        </p:attrNameLst>
                                      </p:cBhvr>
                                      <p:tavLst>
                                        <p:tav tm="0">
                                          <p:val>
                                            <p:strVal val="#ppt_y+0.07"/>
                                          </p:val>
                                        </p:tav>
                                        <p:tav tm="100000">
                                          <p:val>
                                            <p:strVal val="#ppt_y"/>
                                          </p:val>
                                        </p:tav>
                                      </p:tavLst>
                                    </p:anim>
                                    <p:animEffect transition="in" filter="fade">
                                      <p:cBhvr>
                                        <p:cTn id="40" dur="550"/>
                                        <p:tgtEl>
                                          <p:spTgt spid="12"/>
                                        </p:tgtEl>
                                      </p:cBhvr>
                                    </p:animEffect>
                                  </p:childTnLst>
                                </p:cTn>
                              </p:par>
                              <p:par>
                                <p:cTn id="44" presetID="10" presetClass="entr" presetSubtype="0" fill="hold" grpId="0" nodeType="withEffect">
                                  <p:stCondLst>
                                    <p:cond delay="51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50"/>
                                        <p:tgtEl>
                                          <p:spTgt spid="13"/>
                                        </p:tgtEl>
                                      </p:cBhvr>
                                    </p:animEffect>
                                  </p:childTnLst>
                                </p:cTn>
                              </p:par>
                              <p:par>
                                <p:cTn id="47" presetID="10" presetClass="entr" presetSubtype="0" fill="hold" grpId="0" nodeType="withEffect">
                                  <p:stCondLst>
                                    <p:cond delay="51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50"/>
                                        <p:tgtEl>
                                          <p:spTgt spid="14"/>
                                        </p:tgtEl>
                                      </p:cBhvr>
                                    </p:animEffect>
                                  </p:childTnLst>
                                </p:cTn>
                              </p:par>
                              <p:par>
                                <p:cTn id="50" presetID="10" presetClass="entr" presetSubtype="0" fill="hold" grpId="0" nodeType="withEffect">
                                  <p:stCondLst>
                                    <p:cond delay="51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50"/>
                                        <p:tgtEl>
                                          <p:spTgt spid="15"/>
                                        </p:tgtEl>
                                      </p:cBhvr>
                                    </p:animEffect>
                                  </p:childTnLst>
                                </p:cTn>
                              </p:par>
                              <p:par>
                                <p:cTn id="54" presetID="2" presetClass="entr" presetSubtype="4" fill="hold" grpId="0" nodeType="withEffect">
                                  <p:stCondLst>
                                    <p:cond delay="60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50" fill="hold"/>
                                        <p:tgtEl>
                                          <p:spTgt spid="16"/>
                                        </p:tgtEl>
                                        <p:attrNameLst>
                                          <p:attrName>ppt_y</p:attrName>
                                        </p:attrNameLst>
                                      </p:cBhvr>
                                      <p:tavLst>
                                        <p:tav tm="0">
                                          <p:val>
                                            <p:strVal val="#ppt_y+0.07"/>
                                          </p:val>
                                        </p:tav>
                                        <p:tav tm="100000">
                                          <p:val>
                                            <p:strVal val="#ppt_y"/>
                                          </p:val>
                                        </p:tav>
                                      </p:tavLst>
                                    </p:anim>
                                    <p:animEffect transition="in" filter="fade">
                                      <p:cBhvr>
                                        <p:cTn id="53" dur="550"/>
                                        <p:tgtEl>
                                          <p:spTgt spid="16"/>
                                        </p:tgtEl>
                                      </p:cBhvr>
                                    </p:animEffect>
                                  </p:childTnLst>
                                </p:cTn>
                              </p:par>
                              <p:par>
                                <p:cTn id="58" presetID="2" presetClass="entr" presetSubtype="4" fill="hold" grpId="0" nodeType="withEffect">
                                  <p:stCondLst>
                                    <p:cond delay="66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50" fill="hold"/>
                                        <p:tgtEl>
                                          <p:spTgt spid="17"/>
                                        </p:tgtEl>
                                        <p:attrNameLst>
                                          <p:attrName>ppt_y</p:attrName>
                                        </p:attrNameLst>
                                      </p:cBhvr>
                                      <p:tavLst>
                                        <p:tav tm="0">
                                          <p:val>
                                            <p:strVal val="#ppt_y+0.07"/>
                                          </p:val>
                                        </p:tav>
                                        <p:tav tm="100000">
                                          <p:val>
                                            <p:strVal val="#ppt_y"/>
                                          </p:val>
                                        </p:tav>
                                      </p:tavLst>
                                    </p:anim>
                                    <p:animEffect transition="in" filter="fade">
                                      <p:cBhvr>
                                        <p:cTn id="57" dur="550"/>
                                        <p:tgtEl>
                                          <p:spTgt spid="17"/>
                                        </p:tgtEl>
                                      </p:cBhvr>
                                    </p:animEffect>
                                  </p:childTnLst>
                                </p:cTn>
                              </p:par>
                              <p:par>
                                <p:cTn id="61" presetID="10" presetClass="entr" presetSubtype="0" fill="hold" grpId="0" nodeType="withEffect">
                                  <p:stCondLst>
                                    <p:cond delay="66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50"/>
                                        <p:tgtEl>
                                          <p:spTgt spid="18"/>
                                        </p:tgtEl>
                                      </p:cBhvr>
                                    </p:animEffect>
                                  </p:childTnLst>
                                </p:cTn>
                              </p:par>
                              <p:par>
                                <p:cTn id="64" presetID="10" presetClass="entr" presetSubtype="0" fill="hold" grpId="0" nodeType="withEffect">
                                  <p:stCondLst>
                                    <p:cond delay="66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50"/>
                                        <p:tgtEl>
                                          <p:spTgt spid="19"/>
                                        </p:tgtEl>
                                      </p:cBhvr>
                                    </p:animEffect>
                                  </p:childTnLst>
                                </p:cTn>
                              </p:par>
                              <p:par>
                                <p:cTn id="67" presetID="10" presetClass="entr" presetSubtype="0" fill="hold" grpId="0" nodeType="withEffect">
                                  <p:stCondLst>
                                    <p:cond delay="66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08792" cy="868680"/>
          </a:xfrm>
          <a:prstGeom prst="rect">
            <a:avLst/>
          </a:prstGeom>
          <a:noFill/>
          <a:ln/>
        </p:spPr>
        <p:txBody>
          <a:bodyPr wrap="square" lIns="0" tIns="0" rIns="0" bIns="0" rtlCol="0" anchor="ctr"/>
          <a:lstStyle/>
          <a:p>
            <a:pPr marL="0" indent="0" algn="l">
              <a:buNone/>
            </a:pPr>
            <a:r>
              <a:rPr lang="en-US" sz="3600" b="1" dirty="0">
                <a:solidFill>
                  <a:schemeClr val="tx1"/>
                </a:solidFill>
              </a:rPr>
              <a:t>Risks &amp; how we handle them</a:t>
            </a:r>
            <a:endParaRPr lang="en-US" sz="3600" dirty="0"/>
          </a:p>
        </p:txBody>
      </p:sp>
      <p:sp>
        <p:nvSpPr>
          <p:cNvPr id="3" name="Camera privacy concerns risk"/>
          <p:cNvSpPr/>
          <p:nvPr/>
        </p:nvSpPr>
        <p:spPr>
          <a:xfrm>
            <a:off x="640080" y="1554480"/>
            <a:ext cx="4754880" cy="960120"/>
          </a:xfrm>
          <a:prstGeom prst="roundRect">
            <a:avLst>
              <a:gd name="adj" fmla="val 11429"/>
            </a:avLst>
          </a:prstGeom>
          <a:solidFill>
            <a:schemeClr val="bg2"/>
          </a:solidFill>
          <a:ln/>
        </p:spPr>
      </p:sp>
      <p:sp>
        <p:nvSpPr>
          <p:cNvPr id="4" name="Camera privacy concerns circle"/>
          <p:cNvSpPr/>
          <p:nvPr/>
        </p:nvSpPr>
        <p:spPr>
          <a:xfrm>
            <a:off x="914400" y="1714500"/>
            <a:ext cx="640080" cy="640080"/>
          </a:xfrm>
          <a:prstGeom prst="ellipse">
            <a:avLst/>
          </a:prstGeom>
          <a:solidFill>
            <a:schemeClr val="accent1"/>
          </a:solidFill>
          <a:ln/>
        </p:spPr>
      </p:sp>
      <p:pic>
        <p:nvPicPr>
          <p:cNvPr id="5" name="Image 0" descr="Camera privacy concerns"/>
          <p:cNvPicPr>
            <a:picLocks noChangeAspect="1"/>
          </p:cNvPicPr>
          <p:nvPr/>
        </p:nvPicPr>
        <p:blipFill>
          <a:blip r:embed="rId3"/>
          <a:stretch>
            <a:fillRect/>
          </a:stretch>
        </p:blipFill>
        <p:spPr>
          <a:xfrm>
            <a:off x="1074420" y="1874520"/>
            <a:ext cx="320040" cy="320040"/>
          </a:xfrm>
          <a:prstGeom prst="rect">
            <a:avLst/>
          </a:prstGeom>
        </p:spPr>
      </p:pic>
      <p:sp>
        <p:nvSpPr>
          <p:cNvPr id="6" name="Text 3"/>
          <p:cNvSpPr txBox="1"/>
          <p:nvPr/>
        </p:nvSpPr>
        <p:spPr>
          <a:xfrm>
            <a:off x="1828800" y="1554480"/>
            <a:ext cx="3474720" cy="960120"/>
          </a:xfrm>
          <a:prstGeom prst="rect">
            <a:avLst/>
          </a:prstGeom>
          <a:noFill/>
          <a:ln/>
        </p:spPr>
        <p:txBody>
          <a:bodyPr wrap="square" lIns="0" tIns="0" rIns="0" bIns="0" rtlCol="0" anchor="ctr"/>
          <a:lstStyle/>
          <a:p>
            <a:pPr marL="0" indent="0">
              <a:buNone/>
            </a:pPr>
            <a:r>
              <a:rPr lang="en-US" sz="1800" b="1" dirty="0">
                <a:solidFill>
                  <a:schemeClr val="tx1"/>
                </a:solidFill>
              </a:rPr>
              <a:t>Camera privacy concerns</a:t>
            </a:r>
            <a:endParaRPr lang="en-US" sz="1800" dirty="0"/>
          </a:p>
        </p:txBody>
      </p:sp>
      <p:sp>
        <p:nvSpPr>
          <p:cNvPr id="7" name="Arrow 1"/>
          <p:cNvSpPr/>
          <p:nvPr/>
        </p:nvSpPr>
        <p:spPr>
          <a:xfrm>
            <a:off x="5577840" y="1828800"/>
            <a:ext cx="502920" cy="411480"/>
          </a:xfrm>
          <a:prstGeom prst="rightArrow">
            <a:avLst/>
          </a:prstGeom>
          <a:solidFill>
            <a:schemeClr val="accent2"/>
          </a:solidFill>
          <a:ln/>
        </p:spPr>
      </p:sp>
      <p:sp>
        <p:nvSpPr>
          <p:cNvPr id="8" name="Camera privacy concerns answer card"/>
          <p:cNvSpPr/>
          <p:nvPr/>
        </p:nvSpPr>
        <p:spPr>
          <a:xfrm>
            <a:off x="6263640" y="1554480"/>
            <a:ext cx="5285232" cy="960120"/>
          </a:xfrm>
          <a:prstGeom prst="roundRect">
            <a:avLst>
              <a:gd name="adj" fmla="val 11429"/>
            </a:avLst>
          </a:prstGeom>
          <a:solidFill>
            <a:schemeClr val="accent1"/>
          </a:solidFill>
          <a:ln/>
        </p:spPr>
      </p:sp>
      <p:sp>
        <p:nvSpPr>
          <p:cNvPr id="9" name="Text 6"/>
          <p:cNvSpPr txBox="1"/>
          <p:nvPr/>
        </p:nvSpPr>
        <p:spPr>
          <a:xfrm>
            <a:off x="6537960" y="1554480"/>
            <a:ext cx="4754880" cy="960120"/>
          </a:xfrm>
          <a:prstGeom prst="rect">
            <a:avLst/>
          </a:prstGeom>
          <a:noFill/>
          <a:ln/>
        </p:spPr>
        <p:txBody>
          <a:bodyPr wrap="square" lIns="0" tIns="0" rIns="0" bIns="0" rtlCol="0" anchor="ctr"/>
          <a:lstStyle/>
          <a:p>
            <a:pPr marL="0" indent="0">
              <a:buNone/>
            </a:pPr>
            <a:r>
              <a:rPr lang="en-US" sz="1800" b="1" dirty="0">
                <a:solidFill>
                  <a:schemeClr val="bg1"/>
                </a:solidFill>
              </a:rPr>
              <a:t>Occupancy counted on-device at the edge</a:t>
            </a:r>
            <a:endParaRPr lang="en-US" sz="1800" dirty="0"/>
          </a:p>
        </p:txBody>
      </p:sp>
      <p:sp>
        <p:nvSpPr>
          <p:cNvPr id="10" name="Retrofit cost and complexity risk"/>
          <p:cNvSpPr/>
          <p:nvPr/>
        </p:nvSpPr>
        <p:spPr>
          <a:xfrm>
            <a:off x="640080" y="2697480"/>
            <a:ext cx="4754880" cy="960120"/>
          </a:xfrm>
          <a:prstGeom prst="roundRect">
            <a:avLst>
              <a:gd name="adj" fmla="val 11429"/>
            </a:avLst>
          </a:prstGeom>
          <a:solidFill>
            <a:schemeClr val="bg2"/>
          </a:solidFill>
          <a:ln/>
        </p:spPr>
      </p:sp>
      <p:sp>
        <p:nvSpPr>
          <p:cNvPr id="11" name="Retrofit cost and complexity circle"/>
          <p:cNvSpPr/>
          <p:nvPr/>
        </p:nvSpPr>
        <p:spPr>
          <a:xfrm>
            <a:off x="914400" y="2857500"/>
            <a:ext cx="640080" cy="640080"/>
          </a:xfrm>
          <a:prstGeom prst="ellipse">
            <a:avLst/>
          </a:prstGeom>
          <a:solidFill>
            <a:schemeClr val="accent1"/>
          </a:solidFill>
          <a:ln/>
        </p:spPr>
      </p:sp>
      <p:pic>
        <p:nvPicPr>
          <p:cNvPr id="12" name="Image 1" descr="Retrofit cost and complexity"/>
          <p:cNvPicPr>
            <a:picLocks noChangeAspect="1"/>
          </p:cNvPicPr>
          <p:nvPr/>
        </p:nvPicPr>
        <p:blipFill>
          <a:blip r:embed="rId4"/>
          <a:stretch>
            <a:fillRect/>
          </a:stretch>
        </p:blipFill>
        <p:spPr>
          <a:xfrm>
            <a:off x="1074420" y="3017520"/>
            <a:ext cx="320040" cy="320040"/>
          </a:xfrm>
          <a:prstGeom prst="rect">
            <a:avLst/>
          </a:prstGeom>
        </p:spPr>
      </p:pic>
      <p:sp>
        <p:nvSpPr>
          <p:cNvPr id="13" name="Text 9"/>
          <p:cNvSpPr txBox="1"/>
          <p:nvPr/>
        </p:nvSpPr>
        <p:spPr>
          <a:xfrm>
            <a:off x="1828800" y="2697480"/>
            <a:ext cx="3474720" cy="960120"/>
          </a:xfrm>
          <a:prstGeom prst="rect">
            <a:avLst/>
          </a:prstGeom>
          <a:noFill/>
          <a:ln/>
        </p:spPr>
        <p:txBody>
          <a:bodyPr wrap="square" lIns="0" tIns="0" rIns="0" bIns="0" rtlCol="0" anchor="ctr"/>
          <a:lstStyle/>
          <a:p>
            <a:pPr marL="0" indent="0">
              <a:buNone/>
            </a:pPr>
            <a:r>
              <a:rPr lang="en-US" sz="1800" b="1" dirty="0">
                <a:solidFill>
                  <a:schemeClr val="tx1"/>
                </a:solidFill>
              </a:rPr>
              <a:t>Retrofit cost and complexity</a:t>
            </a:r>
            <a:endParaRPr lang="en-US" sz="1800" dirty="0"/>
          </a:p>
        </p:txBody>
      </p:sp>
      <p:sp>
        <p:nvSpPr>
          <p:cNvPr id="14" name="Arrow 2"/>
          <p:cNvSpPr/>
          <p:nvPr/>
        </p:nvSpPr>
        <p:spPr>
          <a:xfrm>
            <a:off x="5577840" y="2971800"/>
            <a:ext cx="502920" cy="411480"/>
          </a:xfrm>
          <a:prstGeom prst="rightArrow">
            <a:avLst/>
          </a:prstGeom>
          <a:solidFill>
            <a:schemeClr val="accent2"/>
          </a:solidFill>
          <a:ln/>
        </p:spPr>
      </p:sp>
      <p:sp>
        <p:nvSpPr>
          <p:cNvPr id="15" name="Retrofit cost and complexity answer card"/>
          <p:cNvSpPr/>
          <p:nvPr/>
        </p:nvSpPr>
        <p:spPr>
          <a:xfrm>
            <a:off x="6263640" y="2697480"/>
            <a:ext cx="5285232" cy="960120"/>
          </a:xfrm>
          <a:prstGeom prst="roundRect">
            <a:avLst>
              <a:gd name="adj" fmla="val 11429"/>
            </a:avLst>
          </a:prstGeom>
          <a:solidFill>
            <a:schemeClr val="accent1"/>
          </a:solidFill>
          <a:ln/>
        </p:spPr>
      </p:sp>
      <p:sp>
        <p:nvSpPr>
          <p:cNvPr id="16" name="Text 12"/>
          <p:cNvSpPr txBox="1"/>
          <p:nvPr/>
        </p:nvSpPr>
        <p:spPr>
          <a:xfrm>
            <a:off x="6537960" y="2697480"/>
            <a:ext cx="4754880" cy="960120"/>
          </a:xfrm>
          <a:prstGeom prst="rect">
            <a:avLst/>
          </a:prstGeom>
          <a:noFill/>
          <a:ln/>
        </p:spPr>
        <p:txBody>
          <a:bodyPr wrap="square" lIns="0" tIns="0" rIns="0" bIns="0" rtlCol="0" anchor="ctr"/>
          <a:lstStyle/>
          <a:p>
            <a:pPr marL="0" indent="0">
              <a:buNone/>
            </a:pPr>
            <a:r>
              <a:rPr lang="en-US" sz="1800" b="1" dirty="0">
                <a:solidFill>
                  <a:schemeClr val="bg1"/>
                </a:solidFill>
              </a:rPr>
              <a:t>Works with existing infrastructure; start small</a:t>
            </a:r>
            <a:endParaRPr lang="en-US" sz="1800" dirty="0"/>
          </a:p>
        </p:txBody>
      </p:sp>
      <p:sp>
        <p:nvSpPr>
          <p:cNvPr id="17" name="Prediction accuracy risk"/>
          <p:cNvSpPr/>
          <p:nvPr/>
        </p:nvSpPr>
        <p:spPr>
          <a:xfrm>
            <a:off x="640080" y="3840480"/>
            <a:ext cx="4754880" cy="960120"/>
          </a:xfrm>
          <a:prstGeom prst="roundRect">
            <a:avLst>
              <a:gd name="adj" fmla="val 11429"/>
            </a:avLst>
          </a:prstGeom>
          <a:solidFill>
            <a:schemeClr val="bg2"/>
          </a:solidFill>
          <a:ln/>
        </p:spPr>
      </p:sp>
      <p:sp>
        <p:nvSpPr>
          <p:cNvPr id="18" name="Prediction accuracy circle"/>
          <p:cNvSpPr/>
          <p:nvPr/>
        </p:nvSpPr>
        <p:spPr>
          <a:xfrm>
            <a:off x="914400" y="4000500"/>
            <a:ext cx="640080" cy="640080"/>
          </a:xfrm>
          <a:prstGeom prst="ellipse">
            <a:avLst/>
          </a:prstGeom>
          <a:solidFill>
            <a:schemeClr val="accent1"/>
          </a:solidFill>
          <a:ln/>
        </p:spPr>
      </p:sp>
      <p:pic>
        <p:nvPicPr>
          <p:cNvPr id="19" name="Image 2" descr="Prediction accuracy"/>
          <p:cNvPicPr>
            <a:picLocks noChangeAspect="1"/>
          </p:cNvPicPr>
          <p:nvPr/>
        </p:nvPicPr>
        <p:blipFill>
          <a:blip r:embed="rId5"/>
          <a:stretch>
            <a:fillRect/>
          </a:stretch>
        </p:blipFill>
        <p:spPr>
          <a:xfrm>
            <a:off x="1074420" y="4160520"/>
            <a:ext cx="320040" cy="320040"/>
          </a:xfrm>
          <a:prstGeom prst="rect">
            <a:avLst/>
          </a:prstGeom>
        </p:spPr>
      </p:pic>
      <p:sp>
        <p:nvSpPr>
          <p:cNvPr id="20" name="Text 15"/>
          <p:cNvSpPr txBox="1"/>
          <p:nvPr/>
        </p:nvSpPr>
        <p:spPr>
          <a:xfrm>
            <a:off x="1828800" y="3840480"/>
            <a:ext cx="3474720" cy="960120"/>
          </a:xfrm>
          <a:prstGeom prst="rect">
            <a:avLst/>
          </a:prstGeom>
          <a:noFill/>
          <a:ln/>
        </p:spPr>
        <p:txBody>
          <a:bodyPr wrap="square" lIns="0" tIns="0" rIns="0" bIns="0" rtlCol="0" anchor="ctr"/>
          <a:lstStyle/>
          <a:p>
            <a:pPr marL="0" indent="0">
              <a:buNone/>
            </a:pPr>
            <a:r>
              <a:rPr lang="en-US" sz="1800" b="1" dirty="0">
                <a:solidFill>
                  <a:schemeClr val="tx1"/>
                </a:solidFill>
              </a:rPr>
              <a:t>Prediction accuracy</a:t>
            </a:r>
            <a:endParaRPr lang="en-US" sz="1800" dirty="0"/>
          </a:p>
        </p:txBody>
      </p:sp>
      <p:sp>
        <p:nvSpPr>
          <p:cNvPr id="21" name="Arrow 3"/>
          <p:cNvSpPr/>
          <p:nvPr/>
        </p:nvSpPr>
        <p:spPr>
          <a:xfrm>
            <a:off x="5577840" y="4114800"/>
            <a:ext cx="502920" cy="411480"/>
          </a:xfrm>
          <a:prstGeom prst="rightArrow">
            <a:avLst/>
          </a:prstGeom>
          <a:solidFill>
            <a:schemeClr val="accent2"/>
          </a:solidFill>
          <a:ln/>
        </p:spPr>
      </p:sp>
      <p:sp>
        <p:nvSpPr>
          <p:cNvPr id="22" name="Prediction accuracy answer card"/>
          <p:cNvSpPr/>
          <p:nvPr/>
        </p:nvSpPr>
        <p:spPr>
          <a:xfrm>
            <a:off x="6263640" y="3840480"/>
            <a:ext cx="5285232" cy="960120"/>
          </a:xfrm>
          <a:prstGeom prst="roundRect">
            <a:avLst>
              <a:gd name="adj" fmla="val 11429"/>
            </a:avLst>
          </a:prstGeom>
          <a:solidFill>
            <a:schemeClr val="accent1"/>
          </a:solidFill>
          <a:ln/>
        </p:spPr>
      </p:sp>
      <p:sp>
        <p:nvSpPr>
          <p:cNvPr id="23" name="Text 18"/>
          <p:cNvSpPr txBox="1"/>
          <p:nvPr/>
        </p:nvSpPr>
        <p:spPr>
          <a:xfrm>
            <a:off x="6537960" y="3840480"/>
            <a:ext cx="4754880" cy="960120"/>
          </a:xfrm>
          <a:prstGeom prst="rect">
            <a:avLst/>
          </a:prstGeom>
          <a:noFill/>
          <a:ln/>
        </p:spPr>
        <p:txBody>
          <a:bodyPr wrap="square" lIns="0" tIns="0" rIns="0" bIns="0" rtlCol="0" anchor="ctr"/>
          <a:lstStyle/>
          <a:p>
            <a:pPr marL="0" indent="0">
              <a:buNone/>
            </a:pPr>
            <a:r>
              <a:rPr lang="en-US" sz="1800" b="1" dirty="0">
                <a:solidFill>
                  <a:schemeClr val="bg1"/>
                </a:solidFill>
              </a:rPr>
              <a:t>Pilot against a baseline; models improve with data</a:t>
            </a:r>
            <a:endParaRPr lang="en-US" sz="1800" dirty="0"/>
          </a:p>
        </p:txBody>
      </p:sp>
      <p:sp>
        <p:nvSpPr>
          <p:cNvPr id="24" name="Student adoption risk"/>
          <p:cNvSpPr/>
          <p:nvPr/>
        </p:nvSpPr>
        <p:spPr>
          <a:xfrm>
            <a:off x="640080" y="4983480"/>
            <a:ext cx="4754880" cy="960120"/>
          </a:xfrm>
          <a:prstGeom prst="roundRect">
            <a:avLst>
              <a:gd name="adj" fmla="val 11429"/>
            </a:avLst>
          </a:prstGeom>
          <a:solidFill>
            <a:schemeClr val="bg2"/>
          </a:solidFill>
          <a:ln/>
        </p:spPr>
      </p:sp>
      <p:sp>
        <p:nvSpPr>
          <p:cNvPr id="25" name="Student adoption circle"/>
          <p:cNvSpPr/>
          <p:nvPr/>
        </p:nvSpPr>
        <p:spPr>
          <a:xfrm>
            <a:off x="914400" y="5143500"/>
            <a:ext cx="640080" cy="640080"/>
          </a:xfrm>
          <a:prstGeom prst="ellipse">
            <a:avLst/>
          </a:prstGeom>
          <a:solidFill>
            <a:schemeClr val="accent1"/>
          </a:solidFill>
          <a:ln/>
        </p:spPr>
      </p:sp>
      <p:pic>
        <p:nvPicPr>
          <p:cNvPr id="26" name="Image 3" descr="Student adoption"/>
          <p:cNvPicPr>
            <a:picLocks noChangeAspect="1"/>
          </p:cNvPicPr>
          <p:nvPr/>
        </p:nvPicPr>
        <p:blipFill>
          <a:blip r:embed="rId6"/>
          <a:stretch>
            <a:fillRect/>
          </a:stretch>
        </p:blipFill>
        <p:spPr>
          <a:xfrm>
            <a:off x="1074420" y="5303520"/>
            <a:ext cx="320040" cy="320040"/>
          </a:xfrm>
          <a:prstGeom prst="rect">
            <a:avLst/>
          </a:prstGeom>
        </p:spPr>
      </p:pic>
      <p:sp>
        <p:nvSpPr>
          <p:cNvPr id="27" name="Text 21"/>
          <p:cNvSpPr txBox="1"/>
          <p:nvPr/>
        </p:nvSpPr>
        <p:spPr>
          <a:xfrm>
            <a:off x="1828800" y="4983480"/>
            <a:ext cx="3474720" cy="960120"/>
          </a:xfrm>
          <a:prstGeom prst="rect">
            <a:avLst/>
          </a:prstGeom>
          <a:noFill/>
          <a:ln/>
        </p:spPr>
        <p:txBody>
          <a:bodyPr wrap="square" lIns="0" tIns="0" rIns="0" bIns="0" rtlCol="0" anchor="ctr"/>
          <a:lstStyle/>
          <a:p>
            <a:pPr marL="0" indent="0">
              <a:buNone/>
            </a:pPr>
            <a:r>
              <a:rPr lang="en-US" sz="1800" b="1" dirty="0">
                <a:solidFill>
                  <a:schemeClr val="tx1"/>
                </a:solidFill>
              </a:rPr>
              <a:t>Student adoption</a:t>
            </a:r>
            <a:endParaRPr lang="en-US" sz="1800" dirty="0"/>
          </a:p>
        </p:txBody>
      </p:sp>
      <p:sp>
        <p:nvSpPr>
          <p:cNvPr id="28" name="Arrow 4"/>
          <p:cNvSpPr/>
          <p:nvPr/>
        </p:nvSpPr>
        <p:spPr>
          <a:xfrm>
            <a:off x="5577840" y="5257800"/>
            <a:ext cx="502920" cy="411480"/>
          </a:xfrm>
          <a:prstGeom prst="rightArrow">
            <a:avLst/>
          </a:prstGeom>
          <a:solidFill>
            <a:schemeClr val="accent2"/>
          </a:solidFill>
          <a:ln/>
        </p:spPr>
      </p:sp>
      <p:sp>
        <p:nvSpPr>
          <p:cNvPr id="29" name="Student adoption answer card"/>
          <p:cNvSpPr/>
          <p:nvPr/>
        </p:nvSpPr>
        <p:spPr>
          <a:xfrm>
            <a:off x="6263640" y="4983480"/>
            <a:ext cx="5285232" cy="960120"/>
          </a:xfrm>
          <a:prstGeom prst="roundRect">
            <a:avLst>
              <a:gd name="adj" fmla="val 11429"/>
            </a:avLst>
          </a:prstGeom>
          <a:solidFill>
            <a:schemeClr val="accent1"/>
          </a:solidFill>
          <a:ln/>
        </p:spPr>
      </p:sp>
      <p:sp>
        <p:nvSpPr>
          <p:cNvPr id="30" name="Text 24"/>
          <p:cNvSpPr txBox="1"/>
          <p:nvPr/>
        </p:nvSpPr>
        <p:spPr>
          <a:xfrm>
            <a:off x="6537960" y="4983480"/>
            <a:ext cx="4754880" cy="960120"/>
          </a:xfrm>
          <a:prstGeom prst="rect">
            <a:avLst/>
          </a:prstGeom>
          <a:noFill/>
          <a:ln/>
        </p:spPr>
        <p:txBody>
          <a:bodyPr wrap="square" lIns="0" tIns="0" rIns="0" bIns="0" rtlCol="0" anchor="ctr"/>
          <a:lstStyle/>
          <a:p>
            <a:pPr marL="0" indent="0">
              <a:buNone/>
            </a:pPr>
            <a:r>
              <a:rPr lang="en-US" sz="1800" b="1" dirty="0">
                <a:solidFill>
                  <a:schemeClr val="bg1"/>
                </a:solidFill>
              </a:rPr>
              <a:t>Gamified rewards keep dorms engaged</a:t>
            </a:r>
            <a:endParaRPr lang="en-US" sz="1800" dirty="0"/>
          </a:p>
        </p:txBody>
      </p:sp>
      <p:sp>
        <p:nvSpPr>
          <p:cNvPr id="31" name="Slide Number Placeholder 0"/>
          <p:cNvSpPr>
            <a:spLocks noGrp="1"/>
          </p:cNvSpPr>
          <p:nvPr>
            <p:ph type="sldNum" sz="quarter" idx="4294967295"/>
          </p:nvPr>
        </p:nvSpPr>
        <p:spPr>
          <a:xfrm>
            <a:off x="1097280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mc:Choice xmlns:p14="http://schemas.microsoft.com/office/powerpoint/2010/main" Requires="p14">
      <p:transition spd="med" p14:dur="80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9"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50"/>
                                        <p:tgtEl>
                                          <p:spTgt spid="2"/>
                                        </p:tgtEl>
                                      </p:cBhvr>
                                    </p:animEffect>
                                  </p:childTnLst>
                                </p:cTn>
                              </p:par>
                              <p:par>
                                <p:cTn id="10" presetID="2" presetClass="entr" presetSubtype="4" fill="hold" grpId="0" nodeType="withEffect">
                                  <p:stCondLst>
                                    <p:cond delay="150"/>
                                  </p:stCondLst>
                                  <p:childTnLst>
                                    <p:set>
                                      <p:cBhvr>
                                        <p:cTn id="7" dur="1" fill="hold">
                                          <p:stCondLst>
                                            <p:cond delay="0"/>
                                          </p:stCondLst>
                                        </p:cTn>
                                        <p:tgtEl>
                                          <p:spTgt spid="3"/>
                                        </p:tgtEl>
                                        <p:attrNameLst>
                                          <p:attrName>style.visibility</p:attrName>
                                        </p:attrNameLst>
                                      </p:cBhvr>
                                      <p:to>
                                        <p:strVal val="visible"/>
                                      </p:to>
                                    </p:set>
                                    <p:anim calcmode="lin" valueType="num">
                                      <p:cBhvr additive="base">
                                        <p:cTn id="8" dur="550" fill="hold"/>
                                        <p:tgtEl>
                                          <p:spTgt spid="3"/>
                                        </p:tgtEl>
                                        <p:attrNameLst>
                                          <p:attrName>ppt_y</p:attrName>
                                        </p:attrNameLst>
                                      </p:cBhvr>
                                      <p:tavLst>
                                        <p:tav tm="0">
                                          <p:val>
                                            <p:strVal val="#ppt_y+0.07"/>
                                          </p:val>
                                        </p:tav>
                                        <p:tav tm="100000">
                                          <p:val>
                                            <p:strVal val="#ppt_y"/>
                                          </p:val>
                                        </p:tav>
                                      </p:tavLst>
                                    </p:anim>
                                    <p:animEffect transition="in" filter="fade">
                                      <p:cBhvr>
                                        <p:cTn id="9" dur="550"/>
                                        <p:tgtEl>
                                          <p:spTgt spid="3"/>
                                        </p:tgtEl>
                                      </p:cBhvr>
                                    </p:animEffect>
                                  </p:childTnLst>
                                </p:cTn>
                              </p:par>
                              <p:par>
                                <p:cTn id="15" presetID="53" presetClass="entr" presetSubtype="16" fill="hold" grpId="0" nodeType="withEffect">
                                  <p:stCondLst>
                                    <p:cond delay="21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50" fill="hold"/>
                                        <p:tgtEl>
                                          <p:spTgt spid="4"/>
                                        </p:tgtEl>
                                        <p:attrNameLst>
                                          <p:attrName>ppt_w</p:attrName>
                                        </p:attrNameLst>
                                      </p:cBhvr>
                                      <p:tavLst>
                                        <p:tav tm="0">
                                          <p:val>
                                            <p:fltVal val="0"/>
                                          </p:val>
                                        </p:tav>
                                        <p:tav tm="100000">
                                          <p:val>
                                            <p:strVal val="#ppt_w"/>
                                          </p:val>
                                        </p:tav>
                                      </p:tavLst>
                                    </p:anim>
                                    <p:anim calcmode="lin" valueType="num">
                                      <p:cBhvr additive="base">
                                        <p:cTn id="13" dur="550" fill="hold"/>
                                        <p:tgtEl>
                                          <p:spTgt spid="4"/>
                                        </p:tgtEl>
                                        <p:attrNameLst>
                                          <p:attrName>ppt_h</p:attrName>
                                        </p:attrNameLst>
                                      </p:cBhvr>
                                      <p:tavLst>
                                        <p:tav tm="0">
                                          <p:val>
                                            <p:fltVal val="0"/>
                                          </p:val>
                                        </p:tav>
                                        <p:tav tm="100000">
                                          <p:val>
                                            <p:strVal val="#ppt_h"/>
                                          </p:val>
                                        </p:tav>
                                      </p:tavLst>
                                    </p:anim>
                                    <p:animEffect transition="in" filter="fade">
                                      <p:cBhvr>
                                        <p:cTn id="14" dur="550"/>
                                        <p:tgtEl>
                                          <p:spTgt spid="4"/>
                                        </p:tgtEl>
                                      </p:cBhvr>
                                    </p:animEffect>
                                  </p:childTnLst>
                                </p:cTn>
                              </p:par>
                              <p:par>
                                <p:cTn id="20" presetID="53" presetClass="entr" presetSubtype="16" fill="hold" grpId="0" nodeType="withEffect">
                                  <p:stCondLst>
                                    <p:cond delay="21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3" presetID="10" presetClass="entr" presetSubtype="0" fill="hold" grpId="0" nodeType="withEffect">
                                  <p:stCondLst>
                                    <p:cond delay="2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childTnLst>
                                </p:cTn>
                              </p:par>
                              <p:par>
                                <p:cTn id="27" presetID="2" presetClass="entr" presetSubtype="4" fill="hold" grpId="0" nodeType="withEffect">
                                  <p:stCondLst>
                                    <p:cond delay="3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50" fill="hold"/>
                                        <p:tgtEl>
                                          <p:spTgt spid="7"/>
                                        </p:tgtEl>
                                        <p:attrNameLst>
                                          <p:attrName>ppt_y</p:attrName>
                                        </p:attrNameLst>
                                      </p:cBhvr>
                                      <p:tavLst>
                                        <p:tav tm="0">
                                          <p:val>
                                            <p:strVal val="#ppt_y+0.07"/>
                                          </p:val>
                                        </p:tav>
                                        <p:tav tm="100000">
                                          <p:val>
                                            <p:strVal val="#ppt_y"/>
                                          </p:val>
                                        </p:tav>
                                      </p:tavLst>
                                    </p:anim>
                                    <p:animEffect transition="in" filter="fade">
                                      <p:cBhvr>
                                        <p:cTn id="26" dur="550"/>
                                        <p:tgtEl>
                                          <p:spTgt spid="7"/>
                                        </p:tgtEl>
                                      </p:cBhvr>
                                    </p:animEffect>
                                  </p:childTnLst>
                                </p:cTn>
                              </p:par>
                              <p:par>
                                <p:cTn id="31" presetID="2" presetClass="entr" presetSubtype="4" fill="hold" grpId="0" nodeType="withEffect">
                                  <p:stCondLst>
                                    <p:cond delay="45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50" fill="hold"/>
                                        <p:tgtEl>
                                          <p:spTgt spid="8"/>
                                        </p:tgtEl>
                                        <p:attrNameLst>
                                          <p:attrName>ppt_y</p:attrName>
                                        </p:attrNameLst>
                                      </p:cBhvr>
                                      <p:tavLst>
                                        <p:tav tm="0">
                                          <p:val>
                                            <p:strVal val="#ppt_y+0.07"/>
                                          </p:val>
                                        </p:tav>
                                        <p:tav tm="100000">
                                          <p:val>
                                            <p:strVal val="#ppt_y"/>
                                          </p:val>
                                        </p:tav>
                                      </p:tavLst>
                                    </p:anim>
                                    <p:animEffect transition="in" filter="fade">
                                      <p:cBhvr>
                                        <p:cTn id="30" dur="550"/>
                                        <p:tgtEl>
                                          <p:spTgt spid="8"/>
                                        </p:tgtEl>
                                      </p:cBhvr>
                                    </p:animEffect>
                                  </p:childTnLst>
                                </p:cTn>
                              </p:par>
                              <p:par>
                                <p:cTn id="34" presetID="10" presetClass="entr" presetSubtype="0" fill="hold" grpId="0" nodeType="withEffect">
                                  <p:stCondLst>
                                    <p:cond delay="51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childTnLst>
                                </p:cTn>
                              </p:par>
                              <p:par>
                                <p:cTn id="38" presetID="2" presetClass="entr" presetSubtype="4" fill="hold" grpId="0" nodeType="withEffect">
                                  <p:stCondLst>
                                    <p:cond delay="6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50" fill="hold"/>
                                        <p:tgtEl>
                                          <p:spTgt spid="10"/>
                                        </p:tgtEl>
                                        <p:attrNameLst>
                                          <p:attrName>ppt_y</p:attrName>
                                        </p:attrNameLst>
                                      </p:cBhvr>
                                      <p:tavLst>
                                        <p:tav tm="0">
                                          <p:val>
                                            <p:strVal val="#ppt_y+0.07"/>
                                          </p:val>
                                        </p:tav>
                                        <p:tav tm="100000">
                                          <p:val>
                                            <p:strVal val="#ppt_y"/>
                                          </p:val>
                                        </p:tav>
                                      </p:tavLst>
                                    </p:anim>
                                    <p:animEffect transition="in" filter="fade">
                                      <p:cBhvr>
                                        <p:cTn id="37" dur="550"/>
                                        <p:tgtEl>
                                          <p:spTgt spid="10"/>
                                        </p:tgtEl>
                                      </p:cBhvr>
                                    </p:animEffect>
                                  </p:childTnLst>
                                </p:cTn>
                              </p:par>
                              <p:par>
                                <p:cTn id="43" presetID="53" presetClass="entr" presetSubtype="16" fill="hold" grpId="0" nodeType="withEffect">
                                  <p:stCondLst>
                                    <p:cond delay="66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50" fill="hold"/>
                                        <p:tgtEl>
                                          <p:spTgt spid="11"/>
                                        </p:tgtEl>
                                        <p:attrNameLst>
                                          <p:attrName>ppt_w</p:attrName>
                                        </p:attrNameLst>
                                      </p:cBhvr>
                                      <p:tavLst>
                                        <p:tav tm="0">
                                          <p:val>
                                            <p:fltVal val="0"/>
                                          </p:val>
                                        </p:tav>
                                        <p:tav tm="100000">
                                          <p:val>
                                            <p:strVal val="#ppt_w"/>
                                          </p:val>
                                        </p:tav>
                                      </p:tavLst>
                                    </p:anim>
                                    <p:anim calcmode="lin" valueType="num">
                                      <p:cBhvr additive="base">
                                        <p:cTn id="41" dur="550" fill="hold"/>
                                        <p:tgtEl>
                                          <p:spTgt spid="11"/>
                                        </p:tgtEl>
                                        <p:attrNameLst>
                                          <p:attrName>ppt_h</p:attrName>
                                        </p:attrNameLst>
                                      </p:cBhvr>
                                      <p:tavLst>
                                        <p:tav tm="0">
                                          <p:val>
                                            <p:fltVal val="0"/>
                                          </p:val>
                                        </p:tav>
                                        <p:tav tm="100000">
                                          <p:val>
                                            <p:strVal val="#ppt_h"/>
                                          </p:val>
                                        </p:tav>
                                      </p:tavLst>
                                    </p:anim>
                                    <p:animEffect transition="in" filter="fade">
                                      <p:cBhvr>
                                        <p:cTn id="42" dur="550"/>
                                        <p:tgtEl>
                                          <p:spTgt spid="11"/>
                                        </p:tgtEl>
                                      </p:cBhvr>
                                    </p:animEffect>
                                  </p:childTnLst>
                                </p:cTn>
                              </p:par>
                              <p:par>
                                <p:cTn id="48" presetID="53" presetClass="entr" presetSubtype="16" fill="hold" grpId="0" nodeType="withEffect">
                                  <p:stCondLst>
                                    <p:cond delay="66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50" fill="hold"/>
                                        <p:tgtEl>
                                          <p:spTgt spid="12"/>
                                        </p:tgtEl>
                                        <p:attrNameLst>
                                          <p:attrName>ppt_w</p:attrName>
                                        </p:attrNameLst>
                                      </p:cBhvr>
                                      <p:tavLst>
                                        <p:tav tm="0">
                                          <p:val>
                                            <p:fltVal val="0"/>
                                          </p:val>
                                        </p:tav>
                                        <p:tav tm="100000">
                                          <p:val>
                                            <p:strVal val="#ppt_w"/>
                                          </p:val>
                                        </p:tav>
                                      </p:tavLst>
                                    </p:anim>
                                    <p:anim calcmode="lin" valueType="num">
                                      <p:cBhvr additive="base">
                                        <p:cTn id="46" dur="550" fill="hold"/>
                                        <p:tgtEl>
                                          <p:spTgt spid="12"/>
                                        </p:tgtEl>
                                        <p:attrNameLst>
                                          <p:attrName>ppt_h</p:attrName>
                                        </p:attrNameLst>
                                      </p:cBhvr>
                                      <p:tavLst>
                                        <p:tav tm="0">
                                          <p:val>
                                            <p:fltVal val="0"/>
                                          </p:val>
                                        </p:tav>
                                        <p:tav tm="100000">
                                          <p:val>
                                            <p:strVal val="#ppt_h"/>
                                          </p:val>
                                        </p:tav>
                                      </p:tavLst>
                                    </p:anim>
                                    <p:animEffect transition="in" filter="fade">
                                      <p:cBhvr>
                                        <p:cTn id="47" dur="550"/>
                                        <p:tgtEl>
                                          <p:spTgt spid="12"/>
                                        </p:tgtEl>
                                      </p:cBhvr>
                                    </p:animEffect>
                                  </p:childTnLst>
                                </p:cTn>
                              </p:par>
                              <p:par>
                                <p:cTn id="51" presetID="10" presetClass="entr" presetSubtype="0" fill="hold" grpId="0" nodeType="withEffect">
                                  <p:stCondLst>
                                    <p:cond delay="66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50"/>
                                        <p:tgtEl>
                                          <p:spTgt spid="13"/>
                                        </p:tgtEl>
                                      </p:cBhvr>
                                    </p:animEffect>
                                  </p:childTnLst>
                                </p:cTn>
                              </p:par>
                              <p:par>
                                <p:cTn id="55" presetID="2" presetClass="entr" presetSubtype="4" fill="hold" grpId="0" nodeType="withEffect">
                                  <p:stCondLst>
                                    <p:cond delay="75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50" fill="hold"/>
                                        <p:tgtEl>
                                          <p:spTgt spid="14"/>
                                        </p:tgtEl>
                                        <p:attrNameLst>
                                          <p:attrName>ppt_y</p:attrName>
                                        </p:attrNameLst>
                                      </p:cBhvr>
                                      <p:tavLst>
                                        <p:tav tm="0">
                                          <p:val>
                                            <p:strVal val="#ppt_y+0.07"/>
                                          </p:val>
                                        </p:tav>
                                        <p:tav tm="100000">
                                          <p:val>
                                            <p:strVal val="#ppt_y"/>
                                          </p:val>
                                        </p:tav>
                                      </p:tavLst>
                                    </p:anim>
                                    <p:animEffect transition="in" filter="fade">
                                      <p:cBhvr>
                                        <p:cTn id="54" dur="550"/>
                                        <p:tgtEl>
                                          <p:spTgt spid="14"/>
                                        </p:tgtEl>
                                      </p:cBhvr>
                                    </p:animEffect>
                                  </p:childTnLst>
                                </p:cTn>
                              </p:par>
                              <p:par>
                                <p:cTn id="59" presetID="2" presetClass="entr" presetSubtype="4" fill="hold" grpId="0" nodeType="withEffect">
                                  <p:stCondLst>
                                    <p:cond delay="90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50" fill="hold"/>
                                        <p:tgtEl>
                                          <p:spTgt spid="15"/>
                                        </p:tgtEl>
                                        <p:attrNameLst>
                                          <p:attrName>ppt_y</p:attrName>
                                        </p:attrNameLst>
                                      </p:cBhvr>
                                      <p:tavLst>
                                        <p:tav tm="0">
                                          <p:val>
                                            <p:strVal val="#ppt_y+0.07"/>
                                          </p:val>
                                        </p:tav>
                                        <p:tav tm="100000">
                                          <p:val>
                                            <p:strVal val="#ppt_y"/>
                                          </p:val>
                                        </p:tav>
                                      </p:tavLst>
                                    </p:anim>
                                    <p:animEffect transition="in" filter="fade">
                                      <p:cBhvr>
                                        <p:cTn id="58" dur="550"/>
                                        <p:tgtEl>
                                          <p:spTgt spid="15"/>
                                        </p:tgtEl>
                                      </p:cBhvr>
                                    </p:animEffect>
                                  </p:childTnLst>
                                </p:cTn>
                              </p:par>
                              <p:par>
                                <p:cTn id="62" presetID="10" presetClass="entr" presetSubtype="0" fill="hold" grpId="0" nodeType="withEffect">
                                  <p:stCondLst>
                                    <p:cond delay="96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50"/>
                                        <p:tgtEl>
                                          <p:spTgt spid="16"/>
                                        </p:tgtEl>
                                      </p:cBhvr>
                                    </p:animEffect>
                                  </p:childTnLst>
                                </p:cTn>
                              </p:par>
                              <p:par>
                                <p:cTn id="66" presetID="2" presetClass="entr" presetSubtype="4" fill="hold" grpId="0" nodeType="withEffect">
                                  <p:stCondLst>
                                    <p:cond delay="105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50" fill="hold"/>
                                        <p:tgtEl>
                                          <p:spTgt spid="17"/>
                                        </p:tgtEl>
                                        <p:attrNameLst>
                                          <p:attrName>ppt_y</p:attrName>
                                        </p:attrNameLst>
                                      </p:cBhvr>
                                      <p:tavLst>
                                        <p:tav tm="0">
                                          <p:val>
                                            <p:strVal val="#ppt_y+0.07"/>
                                          </p:val>
                                        </p:tav>
                                        <p:tav tm="100000">
                                          <p:val>
                                            <p:strVal val="#ppt_y"/>
                                          </p:val>
                                        </p:tav>
                                      </p:tavLst>
                                    </p:anim>
                                    <p:animEffect transition="in" filter="fade">
                                      <p:cBhvr>
                                        <p:cTn id="65" dur="550"/>
                                        <p:tgtEl>
                                          <p:spTgt spid="17"/>
                                        </p:tgtEl>
                                      </p:cBhvr>
                                    </p:animEffect>
                                  </p:childTnLst>
                                </p:cTn>
                              </p:par>
                              <p:par>
                                <p:cTn id="71" presetID="53" presetClass="entr" presetSubtype="16" fill="hold" grpId="0" nodeType="withEffect">
                                  <p:stCondLst>
                                    <p:cond delay="111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550" fill="hold"/>
                                        <p:tgtEl>
                                          <p:spTgt spid="18"/>
                                        </p:tgtEl>
                                        <p:attrNameLst>
                                          <p:attrName>ppt_w</p:attrName>
                                        </p:attrNameLst>
                                      </p:cBhvr>
                                      <p:tavLst>
                                        <p:tav tm="0">
                                          <p:val>
                                            <p:fltVal val="0"/>
                                          </p:val>
                                        </p:tav>
                                        <p:tav tm="100000">
                                          <p:val>
                                            <p:strVal val="#ppt_w"/>
                                          </p:val>
                                        </p:tav>
                                      </p:tavLst>
                                    </p:anim>
                                    <p:anim calcmode="lin" valueType="num">
                                      <p:cBhvr additive="base">
                                        <p:cTn id="69" dur="550" fill="hold"/>
                                        <p:tgtEl>
                                          <p:spTgt spid="18"/>
                                        </p:tgtEl>
                                        <p:attrNameLst>
                                          <p:attrName>ppt_h</p:attrName>
                                        </p:attrNameLst>
                                      </p:cBhvr>
                                      <p:tavLst>
                                        <p:tav tm="0">
                                          <p:val>
                                            <p:fltVal val="0"/>
                                          </p:val>
                                        </p:tav>
                                        <p:tav tm="100000">
                                          <p:val>
                                            <p:strVal val="#ppt_h"/>
                                          </p:val>
                                        </p:tav>
                                      </p:tavLst>
                                    </p:anim>
                                    <p:animEffect transition="in" filter="fade">
                                      <p:cBhvr>
                                        <p:cTn id="70" dur="550"/>
                                        <p:tgtEl>
                                          <p:spTgt spid="18"/>
                                        </p:tgtEl>
                                      </p:cBhvr>
                                    </p:animEffect>
                                  </p:childTnLst>
                                </p:cTn>
                              </p:par>
                              <p:par>
                                <p:cTn id="76" presetID="53" presetClass="entr" presetSubtype="16" fill="hold" grpId="0" nodeType="withEffect">
                                  <p:stCondLst>
                                    <p:cond delay="111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550" fill="hold"/>
                                        <p:tgtEl>
                                          <p:spTgt spid="19"/>
                                        </p:tgtEl>
                                        <p:attrNameLst>
                                          <p:attrName>ppt_w</p:attrName>
                                        </p:attrNameLst>
                                      </p:cBhvr>
                                      <p:tavLst>
                                        <p:tav tm="0">
                                          <p:val>
                                            <p:fltVal val="0"/>
                                          </p:val>
                                        </p:tav>
                                        <p:tav tm="100000">
                                          <p:val>
                                            <p:strVal val="#ppt_w"/>
                                          </p:val>
                                        </p:tav>
                                      </p:tavLst>
                                    </p:anim>
                                    <p:anim calcmode="lin" valueType="num">
                                      <p:cBhvr additive="base">
                                        <p:cTn id="74" dur="550" fill="hold"/>
                                        <p:tgtEl>
                                          <p:spTgt spid="19"/>
                                        </p:tgtEl>
                                        <p:attrNameLst>
                                          <p:attrName>ppt_h</p:attrName>
                                        </p:attrNameLst>
                                      </p:cBhvr>
                                      <p:tavLst>
                                        <p:tav tm="0">
                                          <p:val>
                                            <p:fltVal val="0"/>
                                          </p:val>
                                        </p:tav>
                                        <p:tav tm="100000">
                                          <p:val>
                                            <p:strVal val="#ppt_h"/>
                                          </p:val>
                                        </p:tav>
                                      </p:tavLst>
                                    </p:anim>
                                    <p:animEffect transition="in" filter="fade">
                                      <p:cBhvr>
                                        <p:cTn id="75" dur="550"/>
                                        <p:tgtEl>
                                          <p:spTgt spid="19"/>
                                        </p:tgtEl>
                                      </p:cBhvr>
                                    </p:animEffect>
                                  </p:childTnLst>
                                </p:cTn>
                              </p:par>
                              <p:par>
                                <p:cTn id="79" presetID="10" presetClass="entr" presetSubtype="0" fill="hold" grpId="0" nodeType="withEffect">
                                  <p:stCondLst>
                                    <p:cond delay="111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50"/>
                                        <p:tgtEl>
                                          <p:spTgt spid="20"/>
                                        </p:tgtEl>
                                      </p:cBhvr>
                                    </p:animEffect>
                                  </p:childTnLst>
                                </p:cTn>
                              </p:par>
                              <p:par>
                                <p:cTn id="83" presetID="2" presetClass="entr" presetSubtype="4" fill="hold" grpId="0" nodeType="withEffect">
                                  <p:stCondLst>
                                    <p:cond delay="120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550" fill="hold"/>
                                        <p:tgtEl>
                                          <p:spTgt spid="21"/>
                                        </p:tgtEl>
                                        <p:attrNameLst>
                                          <p:attrName>ppt_y</p:attrName>
                                        </p:attrNameLst>
                                      </p:cBhvr>
                                      <p:tavLst>
                                        <p:tav tm="0">
                                          <p:val>
                                            <p:strVal val="#ppt_y+0.07"/>
                                          </p:val>
                                        </p:tav>
                                        <p:tav tm="100000">
                                          <p:val>
                                            <p:strVal val="#ppt_y"/>
                                          </p:val>
                                        </p:tav>
                                      </p:tavLst>
                                    </p:anim>
                                    <p:animEffect transition="in" filter="fade">
                                      <p:cBhvr>
                                        <p:cTn id="82" dur="550"/>
                                        <p:tgtEl>
                                          <p:spTgt spid="21"/>
                                        </p:tgtEl>
                                      </p:cBhvr>
                                    </p:animEffect>
                                  </p:childTnLst>
                                </p:cTn>
                              </p:par>
                              <p:par>
                                <p:cTn id="87" presetID="2" presetClass="entr" presetSubtype="4" fill="hold" grpId="0" nodeType="withEffect">
                                  <p:stCondLst>
                                    <p:cond delay="1350"/>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50" fill="hold"/>
                                        <p:tgtEl>
                                          <p:spTgt spid="22"/>
                                        </p:tgtEl>
                                        <p:attrNameLst>
                                          <p:attrName>ppt_y</p:attrName>
                                        </p:attrNameLst>
                                      </p:cBhvr>
                                      <p:tavLst>
                                        <p:tav tm="0">
                                          <p:val>
                                            <p:strVal val="#ppt_y+0.07"/>
                                          </p:val>
                                        </p:tav>
                                        <p:tav tm="100000">
                                          <p:val>
                                            <p:strVal val="#ppt_y"/>
                                          </p:val>
                                        </p:tav>
                                      </p:tavLst>
                                    </p:anim>
                                    <p:animEffect transition="in" filter="fade">
                                      <p:cBhvr>
                                        <p:cTn id="86" dur="550"/>
                                        <p:tgtEl>
                                          <p:spTgt spid="22"/>
                                        </p:tgtEl>
                                      </p:cBhvr>
                                    </p:animEffect>
                                  </p:childTnLst>
                                </p:cTn>
                              </p:par>
                              <p:par>
                                <p:cTn id="90" presetID="10" presetClass="entr" presetSubtype="0" fill="hold" grpId="0" nodeType="withEffect">
                                  <p:stCondLst>
                                    <p:cond delay="141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50"/>
                                        <p:tgtEl>
                                          <p:spTgt spid="23"/>
                                        </p:tgtEl>
                                      </p:cBhvr>
                                    </p:animEffect>
                                  </p:childTnLst>
                                </p:cTn>
                              </p:par>
                              <p:par>
                                <p:cTn id="94" presetID="2" presetClass="entr" presetSubtype="4" fill="hold" grpId="0" nodeType="withEffect">
                                  <p:stCondLst>
                                    <p:cond delay="1500"/>
                                  </p:stCondLst>
                                  <p:childTnLst>
                                    <p:set>
                                      <p:cBhvr>
                                        <p:cTn id="91" dur="1" fill="hold">
                                          <p:stCondLst>
                                            <p:cond delay="0"/>
                                          </p:stCondLst>
                                        </p:cTn>
                                        <p:tgtEl>
                                          <p:spTgt spid="24"/>
                                        </p:tgtEl>
                                        <p:attrNameLst>
                                          <p:attrName>style.visibility</p:attrName>
                                        </p:attrNameLst>
                                      </p:cBhvr>
                                      <p:to>
                                        <p:strVal val="visible"/>
                                      </p:to>
                                    </p:set>
                                    <p:anim calcmode="lin" valueType="num">
                                      <p:cBhvr additive="base">
                                        <p:cTn id="92" dur="550" fill="hold"/>
                                        <p:tgtEl>
                                          <p:spTgt spid="24"/>
                                        </p:tgtEl>
                                        <p:attrNameLst>
                                          <p:attrName>ppt_y</p:attrName>
                                        </p:attrNameLst>
                                      </p:cBhvr>
                                      <p:tavLst>
                                        <p:tav tm="0">
                                          <p:val>
                                            <p:strVal val="#ppt_y+0.07"/>
                                          </p:val>
                                        </p:tav>
                                        <p:tav tm="100000">
                                          <p:val>
                                            <p:strVal val="#ppt_y"/>
                                          </p:val>
                                        </p:tav>
                                      </p:tavLst>
                                    </p:anim>
                                    <p:animEffect transition="in" filter="fade">
                                      <p:cBhvr>
                                        <p:cTn id="93" dur="550"/>
                                        <p:tgtEl>
                                          <p:spTgt spid="24"/>
                                        </p:tgtEl>
                                      </p:cBhvr>
                                    </p:animEffect>
                                  </p:childTnLst>
                                </p:cTn>
                              </p:par>
                              <p:par>
                                <p:cTn id="99" presetID="53" presetClass="entr" presetSubtype="16" fill="hold" grpId="0" nodeType="withEffect">
                                  <p:stCondLst>
                                    <p:cond delay="1560"/>
                                  </p:stCondLst>
                                  <p:childTnLst>
                                    <p:set>
                                      <p:cBhvr>
                                        <p:cTn id="95" dur="1" fill="hold">
                                          <p:stCondLst>
                                            <p:cond delay="0"/>
                                          </p:stCondLst>
                                        </p:cTn>
                                        <p:tgtEl>
                                          <p:spTgt spid="25"/>
                                        </p:tgtEl>
                                        <p:attrNameLst>
                                          <p:attrName>style.visibility</p:attrName>
                                        </p:attrNameLst>
                                      </p:cBhvr>
                                      <p:to>
                                        <p:strVal val="visible"/>
                                      </p:to>
                                    </p:set>
                                    <p:anim calcmode="lin" valueType="num">
                                      <p:cBhvr additive="base">
                                        <p:cTn id="96" dur="550" fill="hold"/>
                                        <p:tgtEl>
                                          <p:spTgt spid="25"/>
                                        </p:tgtEl>
                                        <p:attrNameLst>
                                          <p:attrName>ppt_w</p:attrName>
                                        </p:attrNameLst>
                                      </p:cBhvr>
                                      <p:tavLst>
                                        <p:tav tm="0">
                                          <p:val>
                                            <p:fltVal val="0"/>
                                          </p:val>
                                        </p:tav>
                                        <p:tav tm="100000">
                                          <p:val>
                                            <p:strVal val="#ppt_w"/>
                                          </p:val>
                                        </p:tav>
                                      </p:tavLst>
                                    </p:anim>
                                    <p:anim calcmode="lin" valueType="num">
                                      <p:cBhvr additive="base">
                                        <p:cTn id="97" dur="550" fill="hold"/>
                                        <p:tgtEl>
                                          <p:spTgt spid="25"/>
                                        </p:tgtEl>
                                        <p:attrNameLst>
                                          <p:attrName>ppt_h</p:attrName>
                                        </p:attrNameLst>
                                      </p:cBhvr>
                                      <p:tavLst>
                                        <p:tav tm="0">
                                          <p:val>
                                            <p:fltVal val="0"/>
                                          </p:val>
                                        </p:tav>
                                        <p:tav tm="100000">
                                          <p:val>
                                            <p:strVal val="#ppt_h"/>
                                          </p:val>
                                        </p:tav>
                                      </p:tavLst>
                                    </p:anim>
                                    <p:animEffect transition="in" filter="fade">
                                      <p:cBhvr>
                                        <p:cTn id="98" dur="550"/>
                                        <p:tgtEl>
                                          <p:spTgt spid="25"/>
                                        </p:tgtEl>
                                      </p:cBhvr>
                                    </p:animEffect>
                                  </p:childTnLst>
                                </p:cTn>
                              </p:par>
                              <p:par>
                                <p:cTn id="104" presetID="53" presetClass="entr" presetSubtype="16" fill="hold" grpId="0" nodeType="withEffect">
                                  <p:stCondLst>
                                    <p:cond delay="1560"/>
                                  </p:stCondLst>
                                  <p:childTnLst>
                                    <p:set>
                                      <p:cBhvr>
                                        <p:cTn id="100" dur="1" fill="hold">
                                          <p:stCondLst>
                                            <p:cond delay="0"/>
                                          </p:stCondLst>
                                        </p:cTn>
                                        <p:tgtEl>
                                          <p:spTgt spid="26"/>
                                        </p:tgtEl>
                                        <p:attrNameLst>
                                          <p:attrName>style.visibility</p:attrName>
                                        </p:attrNameLst>
                                      </p:cBhvr>
                                      <p:to>
                                        <p:strVal val="visible"/>
                                      </p:to>
                                    </p:set>
                                    <p:anim calcmode="lin" valueType="num">
                                      <p:cBhvr additive="base">
                                        <p:cTn id="101" dur="550" fill="hold"/>
                                        <p:tgtEl>
                                          <p:spTgt spid="26"/>
                                        </p:tgtEl>
                                        <p:attrNameLst>
                                          <p:attrName>ppt_w</p:attrName>
                                        </p:attrNameLst>
                                      </p:cBhvr>
                                      <p:tavLst>
                                        <p:tav tm="0">
                                          <p:val>
                                            <p:fltVal val="0"/>
                                          </p:val>
                                        </p:tav>
                                        <p:tav tm="100000">
                                          <p:val>
                                            <p:strVal val="#ppt_w"/>
                                          </p:val>
                                        </p:tav>
                                      </p:tavLst>
                                    </p:anim>
                                    <p:anim calcmode="lin" valueType="num">
                                      <p:cBhvr additive="base">
                                        <p:cTn id="102" dur="550" fill="hold"/>
                                        <p:tgtEl>
                                          <p:spTgt spid="26"/>
                                        </p:tgtEl>
                                        <p:attrNameLst>
                                          <p:attrName>ppt_h</p:attrName>
                                        </p:attrNameLst>
                                      </p:cBhvr>
                                      <p:tavLst>
                                        <p:tav tm="0">
                                          <p:val>
                                            <p:fltVal val="0"/>
                                          </p:val>
                                        </p:tav>
                                        <p:tav tm="100000">
                                          <p:val>
                                            <p:strVal val="#ppt_h"/>
                                          </p:val>
                                        </p:tav>
                                      </p:tavLst>
                                    </p:anim>
                                    <p:animEffect transition="in" filter="fade">
                                      <p:cBhvr>
                                        <p:cTn id="103" dur="550"/>
                                        <p:tgtEl>
                                          <p:spTgt spid="26"/>
                                        </p:tgtEl>
                                      </p:cBhvr>
                                    </p:animEffect>
                                  </p:childTnLst>
                                </p:cTn>
                              </p:par>
                              <p:par>
                                <p:cTn id="107" presetID="10" presetClass="entr" presetSubtype="0" fill="hold" grpId="0" nodeType="withEffect">
                                  <p:stCondLst>
                                    <p:cond delay="156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550"/>
                                        <p:tgtEl>
                                          <p:spTgt spid="27"/>
                                        </p:tgtEl>
                                      </p:cBhvr>
                                    </p:animEffect>
                                  </p:childTnLst>
                                </p:cTn>
                              </p:par>
                              <p:par>
                                <p:cTn id="111" presetID="2" presetClass="entr" presetSubtype="4" fill="hold" grpId="0" nodeType="withEffect">
                                  <p:stCondLst>
                                    <p:cond delay="1650"/>
                                  </p:stCondLst>
                                  <p:childTnLst>
                                    <p:set>
                                      <p:cBhvr>
                                        <p:cTn id="108" dur="1" fill="hold">
                                          <p:stCondLst>
                                            <p:cond delay="0"/>
                                          </p:stCondLst>
                                        </p:cTn>
                                        <p:tgtEl>
                                          <p:spTgt spid="28"/>
                                        </p:tgtEl>
                                        <p:attrNameLst>
                                          <p:attrName>style.visibility</p:attrName>
                                        </p:attrNameLst>
                                      </p:cBhvr>
                                      <p:to>
                                        <p:strVal val="visible"/>
                                      </p:to>
                                    </p:set>
                                    <p:anim calcmode="lin" valueType="num">
                                      <p:cBhvr additive="base">
                                        <p:cTn id="109" dur="550" fill="hold"/>
                                        <p:tgtEl>
                                          <p:spTgt spid="28"/>
                                        </p:tgtEl>
                                        <p:attrNameLst>
                                          <p:attrName>ppt_y</p:attrName>
                                        </p:attrNameLst>
                                      </p:cBhvr>
                                      <p:tavLst>
                                        <p:tav tm="0">
                                          <p:val>
                                            <p:strVal val="#ppt_y+0.07"/>
                                          </p:val>
                                        </p:tav>
                                        <p:tav tm="100000">
                                          <p:val>
                                            <p:strVal val="#ppt_y"/>
                                          </p:val>
                                        </p:tav>
                                      </p:tavLst>
                                    </p:anim>
                                    <p:animEffect transition="in" filter="fade">
                                      <p:cBhvr>
                                        <p:cTn id="110" dur="550"/>
                                        <p:tgtEl>
                                          <p:spTgt spid="28"/>
                                        </p:tgtEl>
                                      </p:cBhvr>
                                    </p:animEffect>
                                  </p:childTnLst>
                                </p:cTn>
                              </p:par>
                              <p:par>
                                <p:cTn id="115" presetID="2" presetClass="entr" presetSubtype="4" fill="hold" grpId="0" nodeType="withEffect">
                                  <p:stCondLst>
                                    <p:cond delay="1800"/>
                                  </p:stCondLst>
                                  <p:childTnLst>
                                    <p:set>
                                      <p:cBhvr>
                                        <p:cTn id="112" dur="1" fill="hold">
                                          <p:stCondLst>
                                            <p:cond delay="0"/>
                                          </p:stCondLst>
                                        </p:cTn>
                                        <p:tgtEl>
                                          <p:spTgt spid="29"/>
                                        </p:tgtEl>
                                        <p:attrNameLst>
                                          <p:attrName>style.visibility</p:attrName>
                                        </p:attrNameLst>
                                      </p:cBhvr>
                                      <p:to>
                                        <p:strVal val="visible"/>
                                      </p:to>
                                    </p:set>
                                    <p:anim calcmode="lin" valueType="num">
                                      <p:cBhvr additive="base">
                                        <p:cTn id="113" dur="550" fill="hold"/>
                                        <p:tgtEl>
                                          <p:spTgt spid="29"/>
                                        </p:tgtEl>
                                        <p:attrNameLst>
                                          <p:attrName>ppt_y</p:attrName>
                                        </p:attrNameLst>
                                      </p:cBhvr>
                                      <p:tavLst>
                                        <p:tav tm="0">
                                          <p:val>
                                            <p:strVal val="#ppt_y+0.07"/>
                                          </p:val>
                                        </p:tav>
                                        <p:tav tm="100000">
                                          <p:val>
                                            <p:strVal val="#ppt_y"/>
                                          </p:val>
                                        </p:tav>
                                      </p:tavLst>
                                    </p:anim>
                                    <p:animEffect transition="in" filter="fade">
                                      <p:cBhvr>
                                        <p:cTn id="114" dur="550"/>
                                        <p:tgtEl>
                                          <p:spTgt spid="29"/>
                                        </p:tgtEl>
                                      </p:cBhvr>
                                    </p:animEffect>
                                  </p:childTnLst>
                                </p:cTn>
                              </p:par>
                              <p:par>
                                <p:cTn id="118" presetID="10" presetClass="entr" presetSubtype="0" fill="hold" grpId="0" nodeType="withEffect">
                                  <p:stCondLst>
                                    <p:cond delay="186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5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900" name="Background art" descr="Decorative illustration"/>
          <p:cNvPicPr>
            <a:picLocks noChangeAspect="1"/>
          </p:cNvPicPr>
          <p:nvPr/>
        </p:nvPicPr>
        <p:blipFill>
          <a:blip r:embed="rIdBG"/>
          <a:stretch>
            <a:fillRect/>
          </a:stretch>
        </p:blipFill>
        <p:spPr>
          <a:xfrm>
            <a:off x="0" y="0"/>
            <a:ext cx="12192000" cy="6858000"/>
          </a:xfrm>
          <a:prstGeom prst="rect">
            <a:avLst/>
          </a:prstGeom>
        </p:spPr>
      </p:pic>
      <p:sp>
        <p:nvSpPr>
          <p:cNvPr id="2" name="Text 0"/>
          <p:cNvSpPr>
            <a:spLocks noGrp="1"/>
          </p:cNvSpPr>
          <p:nvPr>
            <p:ph type="title" idx="100" hasCustomPrompt="1"/>
          </p:nvPr>
        </p:nvSpPr>
        <p:spPr>
          <a:xfrm>
            <a:off x="640080" y="2011680"/>
            <a:ext cx="6035040" cy="1188720"/>
          </a:xfrm>
          <a:prstGeom prst="rect">
            <a:avLst/>
          </a:prstGeom>
          <a:noFill/>
          <a:ln/>
        </p:spPr>
        <p:txBody>
          <a:bodyPr wrap="square" lIns="0" tIns="0" rIns="0" bIns="0" rtlCol="0" anchor="ctr"/>
          <a:lstStyle/>
          <a:p>
            <a:pPr marL="0" indent="0" algn="l">
              <a:buNone/>
            </a:pPr>
            <a:r>
              <a:rPr lang="en-US" sz="6000" b="1" dirty="0">
                <a:solidFill>
                  <a:schemeClr val="bg1"/>
                </a:solidFill>
              </a:rPr>
              <a:t>Team Luna</a:t>
            </a:r>
            <a:endParaRPr lang="en-US" sz="6000" dirty="0"/>
          </a:p>
        </p:txBody>
      </p:sp>
      <p:sp>
        <p:nvSpPr>
          <p:cNvPr id="3" name="Text 0"/>
          <p:cNvSpPr>
            <a:spLocks noGrp="1"/>
          </p:cNvSpPr>
          <p:nvPr>
            <p:ph type="body" idx="101" hasCustomPrompt="1"/>
          </p:nvPr>
        </p:nvSpPr>
        <p:spPr>
          <a:xfrm>
            <a:off x="640080" y="3291840"/>
            <a:ext cx="5669280" cy="1097280"/>
          </a:xfrm>
          <a:prstGeom prst="rect">
            <a:avLst/>
          </a:prstGeom>
          <a:noFill/>
          <a:ln/>
        </p:spPr>
        <p:txBody>
          <a:bodyPr wrap="square" lIns="0" tIns="0" rIns="0" bIns="0" rtlCol="0" anchor="t"/>
          <a:lstStyle/>
          <a:p>
            <a:pPr marL="0" indent="0">
              <a:buNone/>
            </a:pPr>
            <a:r>
              <a:rPr lang="en-US" sz="2400" dirty="0">
                <a:solidFill>
                  <a:schemeClr val="accent5"/>
                </a:solidFill>
              </a:rPr>
              <a:t>Smart insights today. A zero-emission campus tomorrow.</a:t>
            </a:r>
            <a:endParaRPr lang="en-US" sz="2400" dirty="0"/>
          </a:p>
        </p:txBody>
      </p:sp>
      <p:sp>
        <p:nvSpPr>
          <p:cNvPr id="4" name="Text 2"/>
          <p:cNvSpPr txBox="1"/>
          <p:nvPr/>
        </p:nvSpPr>
        <p:spPr>
          <a:xfrm>
            <a:off x="640080" y="4754880"/>
            <a:ext cx="5486400" cy="365760"/>
          </a:xfrm>
          <a:prstGeom prst="rect">
            <a:avLst/>
          </a:prstGeom>
          <a:noFill/>
          <a:ln/>
        </p:spPr>
        <p:txBody>
          <a:bodyPr wrap="square" lIns="0" tIns="0" rIns="0" bIns="0" rtlCol="0" anchor="ctr"/>
          <a:lstStyle/>
          <a:p>
            <a:pPr marL="0" indent="0">
              <a:buNone/>
            </a:pPr>
            <a:r>
              <a:rPr lang="en-US" sz="1800" b="1" dirty="0">
                <a:solidFill>
                  <a:schemeClr val="accent2"/>
                </a:solidFill>
              </a:rPr>
              <a:t>Thank you  |  EcoCampus AI</a:t>
            </a:r>
            <a:endParaRPr lang="en-US" sz="1800" dirty="0"/>
          </a:p>
        </p:txBody>
      </p:sp>
      <p:sp>
        <p:nvSpPr>
          <p:cNvPr id="5" name="Outer ring"/>
          <p:cNvSpPr/>
          <p:nvPr/>
        </p:nvSpPr>
        <p:spPr>
          <a:xfrm>
            <a:off x="6858000" y="1143000"/>
            <a:ext cx="4572000" cy="4572000"/>
          </a:xfrm>
          <a:prstGeom prst="ellipse">
            <a:avLst/>
          </a:prstGeom>
          <a:solidFill>
            <a:schemeClr val="accent1">
              <a:alpha val="15000"/>
            </a:schemeClr>
          </a:solidFill>
          <a:ln/>
        </p:spPr>
      </p:sp>
      <p:sp>
        <p:nvSpPr>
          <p:cNvPr id="6" name="Middle ring"/>
          <p:cNvSpPr/>
          <p:nvPr/>
        </p:nvSpPr>
        <p:spPr>
          <a:xfrm>
            <a:off x="7543800" y="1828800"/>
            <a:ext cx="3200400" cy="3200400"/>
          </a:xfrm>
          <a:prstGeom prst="ellipse">
            <a:avLst/>
          </a:prstGeom>
          <a:solidFill>
            <a:schemeClr val="accent1">
              <a:alpha val="40000"/>
            </a:schemeClr>
          </a:solidFill>
          <a:ln/>
        </p:spPr>
      </p:sp>
      <p:sp>
        <p:nvSpPr>
          <p:cNvPr id="7" name="Q&amp;A circle"/>
          <p:cNvSpPr/>
          <p:nvPr/>
        </p:nvSpPr>
        <p:spPr>
          <a:xfrm>
            <a:off x="8229600" y="2514600"/>
            <a:ext cx="1828800" cy="1828800"/>
          </a:xfrm>
          <a:prstGeom prst="ellipse">
            <a:avLst/>
          </a:prstGeom>
          <a:solidFill>
            <a:schemeClr val="accent1"/>
          </a:solidFill>
          <a:ln/>
        </p:spPr>
      </p:sp>
      <p:sp>
        <p:nvSpPr>
          <p:cNvPr id="8" name="Text 6"/>
          <p:cNvSpPr txBox="1"/>
          <p:nvPr/>
        </p:nvSpPr>
        <p:spPr>
          <a:xfrm>
            <a:off x="8229600" y="2514600"/>
            <a:ext cx="1828800" cy="1828800"/>
          </a:xfrm>
          <a:prstGeom prst="rect">
            <a:avLst/>
          </a:prstGeom>
          <a:noFill/>
          <a:ln/>
        </p:spPr>
        <p:txBody>
          <a:bodyPr wrap="square" lIns="0" tIns="0" rIns="0" bIns="0" rtlCol="0" anchor="ctr"/>
          <a:lstStyle/>
          <a:p>
            <a:pPr marL="0" indent="0" algn="ctr">
              <a:buNone/>
            </a:pPr>
            <a:r>
              <a:rPr lang="en-US" sz="4000" b="1" dirty="0">
                <a:solidFill>
                  <a:schemeClr val="bg1"/>
                </a:solidFill>
                <a:latin typeface="Arial" pitchFamily="34" charset="0"/>
                <a:ea typeface="Arial" pitchFamily="34" charset="-122"/>
                <a:cs typeface="Arial" pitchFamily="34" charset="-120"/>
              </a:rPr>
              <a:t>Q&amp;A</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1300">
        <p14:ripple dir="cent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4" fill="hold">
                            <p:stCondLst>
                              <p:cond delay="0"/>
                            </p:stCondLst>
                            <p:childTnLst>
                              <p:par>
                                <p:cTn id="7" presetID="2" presetClass="entr" presetSubtype="4"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 calcmode="lin" valueType="num">
                                      <p:cBhvr additive="base">
                                        <p:cTn id="5" dur="550" fill="hold"/>
                                        <p:tgtEl>
                                          <p:spTgt spid="2"/>
                                        </p:tgtEl>
                                        <p:attrNameLst>
                                          <p:attrName>ppt_y</p:attrName>
                                        </p:attrNameLst>
                                      </p:cBhvr>
                                      <p:tavLst>
                                        <p:tav tm="0">
                                          <p:val>
                                            <p:strVal val="#ppt_y+0.07"/>
                                          </p:val>
                                        </p:tav>
                                        <p:tav tm="100000">
                                          <p:val>
                                            <p:strVal val="#ppt_y"/>
                                          </p:val>
                                        </p:tav>
                                      </p:tavLst>
                                    </p:anim>
                                    <p:animEffect transition="in" filter="fade">
                                      <p:cBhvr>
                                        <p:cTn id="6" dur="550"/>
                                        <p:tgtEl>
                                          <p:spTgt spid="2"/>
                                        </p:tgtEl>
                                      </p:cBhvr>
                                    </p:animEffect>
                                  </p:childTnLst>
                                </p:cTn>
                              </p:par>
                              <p:par>
                                <p:cTn id="11" presetID="2" presetClass="entr" presetSubtype="4" fill="hold" grpId="0" nodeType="withEffect">
                                  <p:stCondLst>
                                    <p:cond delay="15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50" fill="hold"/>
                                        <p:tgtEl>
                                          <p:spTgt spid="3"/>
                                        </p:tgtEl>
                                        <p:attrNameLst>
                                          <p:attrName>ppt_y</p:attrName>
                                        </p:attrNameLst>
                                      </p:cBhvr>
                                      <p:tavLst>
                                        <p:tav tm="0">
                                          <p:val>
                                            <p:strVal val="#ppt_y+0.07"/>
                                          </p:val>
                                        </p:tav>
                                        <p:tav tm="100000">
                                          <p:val>
                                            <p:strVal val="#ppt_y"/>
                                          </p:val>
                                        </p:tav>
                                      </p:tavLst>
                                    </p:anim>
                                    <p:animEffect transition="in" filter="fade">
                                      <p:cBhvr>
                                        <p:cTn id="10" dur="550"/>
                                        <p:tgtEl>
                                          <p:spTgt spid="3"/>
                                        </p:tgtEl>
                                      </p:cBhvr>
                                    </p:animEffect>
                                  </p:childTnLst>
                                </p:cTn>
                              </p:par>
                              <p:par>
                                <p:cTn id="15" presetID="2" presetClass="entr" presetSubtype="4" fill="hold" grpId="0" nodeType="withEffect">
                                  <p:stCondLst>
                                    <p:cond delay="30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50" fill="hold"/>
                                        <p:tgtEl>
                                          <p:spTgt spid="4"/>
                                        </p:tgtEl>
                                        <p:attrNameLst>
                                          <p:attrName>ppt_y</p:attrName>
                                        </p:attrNameLst>
                                      </p:cBhvr>
                                      <p:tavLst>
                                        <p:tav tm="0">
                                          <p:val>
                                            <p:strVal val="#ppt_y+0.07"/>
                                          </p:val>
                                        </p:tav>
                                        <p:tav tm="100000">
                                          <p:val>
                                            <p:strVal val="#ppt_y"/>
                                          </p:val>
                                        </p:tav>
                                      </p:tavLst>
                                    </p:anim>
                                    <p:animEffect transition="in" filter="fade">
                                      <p:cBhvr>
                                        <p:cTn id="14" dur="550"/>
                                        <p:tgtEl>
                                          <p:spTgt spid="4"/>
                                        </p:tgtEl>
                                      </p:cBhvr>
                                    </p:animEffect>
                                  </p:childTnLst>
                                </p:cTn>
                              </p:par>
                              <p:par>
                                <p:cTn id="20" presetID="53" presetClass="entr" presetSubtype="16" fill="hold" grpId="0" nodeType="withEffect">
                                  <p:stCondLst>
                                    <p:cond delay="45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50" fill="hold"/>
                                        <p:tgtEl>
                                          <p:spTgt spid="5"/>
                                        </p:tgtEl>
                                        <p:attrNameLst>
                                          <p:attrName>ppt_w</p:attrName>
                                        </p:attrNameLst>
                                      </p:cBhvr>
                                      <p:tavLst>
                                        <p:tav tm="0">
                                          <p:val>
                                            <p:fltVal val="0"/>
                                          </p:val>
                                        </p:tav>
                                        <p:tav tm="100000">
                                          <p:val>
                                            <p:strVal val="#ppt_w"/>
                                          </p:val>
                                        </p:tav>
                                      </p:tavLst>
                                    </p:anim>
                                    <p:anim calcmode="lin" valueType="num">
                                      <p:cBhvr additive="base">
                                        <p:cTn id="18" dur="550" fill="hold"/>
                                        <p:tgtEl>
                                          <p:spTgt spid="5"/>
                                        </p:tgtEl>
                                        <p:attrNameLst>
                                          <p:attrName>ppt_h</p:attrName>
                                        </p:attrNameLst>
                                      </p:cBhvr>
                                      <p:tavLst>
                                        <p:tav tm="0">
                                          <p:val>
                                            <p:fltVal val="0"/>
                                          </p:val>
                                        </p:tav>
                                        <p:tav tm="100000">
                                          <p:val>
                                            <p:strVal val="#ppt_h"/>
                                          </p:val>
                                        </p:tav>
                                      </p:tavLst>
                                    </p:anim>
                                    <p:animEffect transition="in" filter="fade">
                                      <p:cBhvr>
                                        <p:cTn id="19" dur="550"/>
                                        <p:tgtEl>
                                          <p:spTgt spid="5"/>
                                        </p:tgtEl>
                                      </p:cBhvr>
                                    </p:animEffect>
                                  </p:childTnLst>
                                </p:cTn>
                              </p:par>
                              <p:par>
                                <p:cTn id="25" presetID="53" presetClass="entr" presetSubtype="16" fill="hold" grpId="0" nodeType="withEffect">
                                  <p:stCondLst>
                                    <p:cond delay="51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50" fill="hold"/>
                                        <p:tgtEl>
                                          <p:spTgt spid="6"/>
                                        </p:tgtEl>
                                        <p:attrNameLst>
                                          <p:attrName>ppt_w</p:attrName>
                                        </p:attrNameLst>
                                      </p:cBhvr>
                                      <p:tavLst>
                                        <p:tav tm="0">
                                          <p:val>
                                            <p:fltVal val="0"/>
                                          </p:val>
                                        </p:tav>
                                        <p:tav tm="100000">
                                          <p:val>
                                            <p:strVal val="#ppt_w"/>
                                          </p:val>
                                        </p:tav>
                                      </p:tavLst>
                                    </p:anim>
                                    <p:anim calcmode="lin" valueType="num">
                                      <p:cBhvr additive="base">
                                        <p:cTn id="23" dur="550" fill="hold"/>
                                        <p:tgtEl>
                                          <p:spTgt spid="6"/>
                                        </p:tgtEl>
                                        <p:attrNameLst>
                                          <p:attrName>ppt_h</p:attrName>
                                        </p:attrNameLst>
                                      </p:cBhvr>
                                      <p:tavLst>
                                        <p:tav tm="0">
                                          <p:val>
                                            <p:fltVal val="0"/>
                                          </p:val>
                                        </p:tav>
                                        <p:tav tm="100000">
                                          <p:val>
                                            <p:strVal val="#ppt_h"/>
                                          </p:val>
                                        </p:tav>
                                      </p:tavLst>
                                    </p:anim>
                                    <p:animEffect transition="in" filter="fade">
                                      <p:cBhvr>
                                        <p:cTn id="24" dur="550"/>
                                        <p:tgtEl>
                                          <p:spTgt spid="6"/>
                                        </p:tgtEl>
                                      </p:cBhvr>
                                    </p:animEffect>
                                  </p:childTnLst>
                                </p:cTn>
                              </p:par>
                              <p:par>
                                <p:cTn id="30" presetID="53" presetClass="entr" presetSubtype="16" fill="hold" grpId="0" nodeType="withEffect">
                                  <p:stCondLst>
                                    <p:cond delay="51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50" fill="hold"/>
                                        <p:tgtEl>
                                          <p:spTgt spid="7"/>
                                        </p:tgtEl>
                                        <p:attrNameLst>
                                          <p:attrName>ppt_w</p:attrName>
                                        </p:attrNameLst>
                                      </p:cBhvr>
                                      <p:tavLst>
                                        <p:tav tm="0">
                                          <p:val>
                                            <p:fltVal val="0"/>
                                          </p:val>
                                        </p:tav>
                                        <p:tav tm="100000">
                                          <p:val>
                                            <p:strVal val="#ppt_w"/>
                                          </p:val>
                                        </p:tav>
                                      </p:tavLst>
                                    </p:anim>
                                    <p:anim calcmode="lin" valueType="num">
                                      <p:cBhvr additive="base">
                                        <p:cTn id="28" dur="550" fill="hold"/>
                                        <p:tgtEl>
                                          <p:spTgt spid="7"/>
                                        </p:tgtEl>
                                        <p:attrNameLst>
                                          <p:attrName>ppt_h</p:attrName>
                                        </p:attrNameLst>
                                      </p:cBhvr>
                                      <p:tavLst>
                                        <p:tav tm="0">
                                          <p:val>
                                            <p:fltVal val="0"/>
                                          </p:val>
                                        </p:tav>
                                        <p:tav tm="100000">
                                          <p:val>
                                            <p:strVal val="#ppt_h"/>
                                          </p:val>
                                        </p:tav>
                                      </p:tavLst>
                                    </p:anim>
                                    <p:animEffect transition="in" filter="fade">
                                      <p:cBhvr>
                                        <p:cTn id="29" dur="550"/>
                                        <p:tgtEl>
                                          <p:spTgt spid="7"/>
                                        </p:tgtEl>
                                      </p:cBhvr>
                                    </p:animEffect>
                                  </p:childTnLst>
                                </p:cTn>
                              </p:par>
                              <p:par>
                                <p:cTn id="33" presetID="10" presetClass="entr" presetSubtype="0" fill="hold" grpId="0" nodeType="withEffect">
                                  <p:stCondLst>
                                    <p:cond delay="51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theme/theme1.xml><?xml version="1.0" encoding="utf-8"?>
<a:theme xmlns:a="http://schemas.openxmlformats.org/drawingml/2006/main" name="EcoCampus Blue">
  <a:themeElements>
    <a:clrScheme name="EcoCampus Blue">
      <a:dk1>
        <a:srgbClr val="0B1220"/>
      </a:dk1>
      <a:lt1>
        <a:srgbClr val="FFFFFF"/>
      </a:lt1>
      <a:dk2>
        <a:srgbClr val="15233F"/>
      </a:dk2>
      <a:lt2>
        <a:srgbClr val="EAF2FF"/>
      </a:lt2>
      <a:accent1>
        <a:srgbClr val="2563EB"/>
      </a:accent1>
      <a:accent2>
        <a:srgbClr val="38BDF8"/>
      </a:accent2>
      <a:accent3>
        <a:srgbClr val="22C55E"/>
      </a:accent3>
      <a:accent4>
        <a:srgbClr val="F59E0B"/>
      </a:accent4>
      <a:accent5>
        <a:srgbClr val="A9B8D0"/>
      </a:accent5>
      <a:accent6>
        <a:srgbClr val="55657F"/>
      </a:accent6>
      <a:hlink>
        <a:srgbClr val="38BDF8"/>
      </a:hlink>
      <a:folHlink>
        <a:srgbClr val="A9B8D0"/>
      </a:folHlink>
    </a:clrScheme>
    <a:fontScheme name="EcoCampus Blu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2355</Words>
  <Application>Microsoft Office PowerPoint</Application>
  <PresentationFormat>Widescreen</PresentationFormat>
  <Paragraphs>208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EcoCampus Blue</vt:lpstr>
      <vt:lpstr>EcoCampus AI</vt:lpstr>
      <vt:lpstr>The problem: campuses waste energy</vt:lpstr>
      <vt:lpstr>Existing solutions leave gaps</vt:lpstr>
      <vt:lpstr>Our solution: EcoCampus AI</vt:lpstr>
      <vt:lpstr>Key features</vt:lpstr>
      <vt:lpstr>How it works</vt:lpstr>
      <vt:lpstr>Tech stack</vt:lpstr>
      <vt:lpstr>Demo preview</vt:lpstr>
      <vt:lpstr>Impact &amp; future scope</vt:lpstr>
      <vt:lpstr>Who we build for</vt:lpstr>
      <vt:lpstr>A day on an EcoCampus</vt:lpstr>
      <vt:lpstr>System architecture</vt:lpstr>
      <vt:lpstr>Business model &amp; rollout</vt:lpstr>
      <vt:lpstr>Risks &amp; how we handle them</vt:lpstr>
      <vt:lpstr>Team Luna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EcoCampus AI - Hackathon Pitch</dc:title>
  <dc:subject>PptxGenJS Presentation</dc:subject>
  <dc:creator>Team Luna</dc:creator>
  <cp:lastModifiedBy>DELL</cp:lastModifiedBy>
  <cp:revision>2</cp:revision>
  <dcterms:created xsi:type="dcterms:W3CDTF">2026-10-15T05:58:13Z</dcterms:created>
  <dcterms:modified xsi:type="dcterms:W3CDTF">2026-10-15T06:08:17Z</dcterms:modified>
</cp:coreProperties>
</file>